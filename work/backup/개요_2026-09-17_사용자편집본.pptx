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2" r:id="rId43"/>
    <p:sldId id="293" r:id="rId44"/>
    <p:sldId id="290" r:id="rId36"/>
    <p:sldId id="291" r:id="rId3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3501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마디: 근무표는 누가 나오는지까지만 말합니다. 그 다음 고리가 비어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정의 한 문장을 그대로 읽고, '하지 않은 것'으로 범위를 먼저 닫는다.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20초 쓰면 나머지 4분이 다 들린다. 차지와 액팅의 차이가 인계 권한의 근거.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'없다'고 말하지 않는다. '조사 범위에서 찾지 못했다'.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범위를 좁힌 걸 근거와 같이 말한다. 채점 기준이 정합성이라 감점이 아니다.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'기록이 없다'가 아니라 '받았다는 기록이 없다'. 내용은 남는다.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전제가 무너진 걸 숨기지 않고 기록으로 남겼다고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로그인 자체는 범위 밖. 병원 인증 시스템이 있다고 가정.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3이 없으면 옆에서 같이 듣는 액팅이 인계를 못 읽는다. 권한이 기능을 막은 실수를 두 번 했고 두 번 다 이 표에서 잡았다.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Actor 가 다른 동작을 한 기능에 묶으면 권한 정의가 안 돼서 F-06 을 분리했다.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[필수] UI 흐름도는 반드시 PDF 안에 있어야 한다. 점선 4개가 두 Actor 를 잇는 지점.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점선 3개가 간호사 화면으로 넘어간다.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인계 전달만 서로 다른 사람 사이에서 일어난다. 그래서 '고리'.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범례를 화면 파트 맨 앞에 두면 이후 6장이 다 읽힌다.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방향이 한 화면에 보이는 게 '고리'의 그림.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필수 항목 검사는 칸이 비었는지만 본다. 내용의 성의는 안 본다. 한계 슬라이드에서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단순 '읽음' 체크와 receiver_summary 를 가르는 지점. 첫 번째 불편의 해결.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이관하지 않는 게 정상인 경우가 있다(그 사이 퇴원 등). 그래서 API 로 막지 않고 사람이 보고 판단.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숫자를 보여주면 그 근거로 내려갈 수 있어야 한다. 결원만 예외인 이유를 꼭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이름을 바꾼 이유는 데이터 파트에서 이어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6개만 따라가면 인계 한 건의 일생이 설명된다. 나머지 6개는 병동, 팀, 사용자, 역할, 양식, 이력.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권장 6~9개보다 많다. 팀, 인계 담당, 양식 항목이 각각 이유를 갖는다. 이유를 말할 수 있으면 개수는 문제가 아니다.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'FK 이름만 바꾸는 1시간 작업'으로 계산하면 안 된다는 걸 11라운드에서 배웠다.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남기는 설계의 비용을 같이 적는 게 설계 고민의 증거.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컬럼으로 여러 테이블을 가리키는 방식을 안 쓴 이유: 외래키 제약을 걸 수 없다.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11개에서 일어나는 동작 25가지를 먼저 세고, 겹치는 것을 빼 24개가 됐다.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배점 20점 파트. '화면에서 세어서 만들었다'는 순서를 꼭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서버가 정하는 건 편의가 아니라 규칙을 한 곳에 두는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409 는 '지금 상태에서 그 전이는 안 된다', 422 는 '보낸 내용이 모자라다'. 섞으면 화면이 뭘 고쳐야 할지 모른다.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버린 안과 그 이유를 적는 게 채택안만 적는 것보다 강하다.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한계를 먼저 말하면 질문이 줄어든다.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문장을 표지의 문장과 이어 닫는다.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48640" y="18745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너와</a:t>
            </a:r>
            <a:r>
              <a:rPr lang="ko-KR" altLang="en-US" sz="360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sz="3600" b="1" dirty="0" err="1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나의</a:t>
            </a:r>
            <a:r>
              <a:rPr lang="ko-KR" altLang="en-US" sz="360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sz="3600" b="1" dirty="0" err="1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인계고리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33467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간호사 교대근무 인계·배정 웹서비스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60273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SKALA 4기 </a:t>
            </a:r>
            <a:r>
              <a:rPr lang="en-US" sz="1000" dirty="0" err="1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웹서비스</a:t>
            </a:r>
            <a:r>
              <a:rPr lang="en-US" sz="10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sz="1000" dirty="0" err="1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미니프로젝트</a:t>
            </a:r>
            <a:r>
              <a:rPr lang="en-US" sz="10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</a:t>
            </a:r>
            <a:r>
              <a:rPr lang="ko-KR" altLang="en-US" sz="10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판교캠퍼스</a:t>
            </a:r>
            <a:r>
              <a:rPr lang="en-US" sz="10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10반 P345 황재원   2026. 9.</a:t>
            </a:r>
            <a:r>
              <a:rPr lang="ko-KR" altLang="en-US" sz="10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altLang="ko-KR" sz="10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17.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143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목차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8A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188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무엇을 만들었나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700784"/>
            <a:ext cx="365760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75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8A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97510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무엇이 불편했고 어떻게 풀었나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365760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8A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7614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누가 쓰고, 어디까지 보나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273552"/>
            <a:ext cx="365760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547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8A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5478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화면 흐름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059936"/>
            <a:ext cx="365760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8A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303520" y="1188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화면마다 도는 API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846320" y="1700784"/>
            <a:ext cx="365760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46320" y="1975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8A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303520" y="197510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데이터를 나눈 방법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846320" y="2487168"/>
            <a:ext cx="365760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4632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8A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303520" y="27614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API 24개와 막는 규칙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846320" y="3273552"/>
            <a:ext cx="365760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46320" y="3547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8A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303520" y="35478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고민한 것, 못 한 것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4846320" y="4059936"/>
            <a:ext cx="365760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143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852160" y="274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  무엇을 만들었나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무엇을 만들었나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249936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097280"/>
            <a:ext cx="249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8A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누가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53312"/>
            <a:ext cx="249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교대로 일하는 병동의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간호사와 수간호사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22320" y="1024128"/>
            <a:ext cx="249936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22320" y="1097280"/>
            <a:ext cx="249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8A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언제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322320" y="1353312"/>
            <a:ext cx="249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교대할 때 인계를 주고받을 때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누가 빠져서 배정을 다시 짤 때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96000" y="1024128"/>
            <a:ext cx="249936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96000" y="1097280"/>
            <a:ext cx="249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8A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무엇이 불편했나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096000" y="1353312"/>
            <a:ext cx="249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인계를 누가 받았는지 남는 기록이 없다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배정이 바뀌면 여기저기 다시 알려야 한다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286000"/>
            <a:ext cx="45720" cy="932688"/>
          </a:xfrm>
          <a:prstGeom prst="rect">
            <a:avLst/>
          </a:prstGeom>
          <a:solidFill>
            <a:srgbClr val="1F8A7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68096" y="228600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누가 무엇을 맡았고, 무엇을 주고받았는지가 남는다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68096" y="263347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근무표는 오늘 누가 나오는지까지만 말합니다. 그 다음 칸, 누가 인계를 맡았고 누가 받아서 확인했는지는 비어 있습니다. 그 한 칸을 붙였습니다.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4564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977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하지 않은 것   </a:t>
            </a:r>
            <a:r>
              <a:rPr lang="en-US" sz="105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근무표 자동 생성, 병원 전산(EMR) 연동, 실제 환자정보, 의학적 판단이나 추천, 교육·급여·알람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143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852160" y="274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  무엇을 만들었나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20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알아야 할 단어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1280160" cy="71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8A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듀티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024128"/>
            <a:ext cx="6675120" cy="71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하루를 셋으로 나눈 근무. 데이(D), 이브닝(E), 나이트(N).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734617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734617"/>
            <a:ext cx="1280160" cy="71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8A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차지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1734617"/>
            <a:ext cx="6675120" cy="71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 근무조의 책임 간호사. 팀마다 한 명. 인계를 쓰고 받는 사람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445106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445106"/>
            <a:ext cx="1280160" cy="71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8A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액팅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2445106"/>
            <a:ext cx="6675120" cy="71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같이 일하는 간호사. 인계를 옆에서 같이 듣지만 공식 작성자는 아니다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155594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155594"/>
            <a:ext cx="1280160" cy="71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8A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인계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920240" y="3155594"/>
            <a:ext cx="6675120" cy="71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교대할 때 다음 근무자에게 넘기는 환자 상태와 주의사항. 이 서비스의 주인공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866083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866083"/>
            <a:ext cx="1280160" cy="71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8A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결원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920240" y="3866083"/>
            <a:ext cx="6675120" cy="71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근무하기로 한 사람이 못 나오는 것. 누가 대신 설지, 인계는 누가 받을지 다시 정해야 한다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722876"/>
            <a:ext cx="749808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77774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병동 기준. 병원마다, 병동마다 다르다는 것도 같은 인터뷰에서 들었다 [C]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143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852160" y="274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  무엇을 만들었나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비슷한 서비스는 없었나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32918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찾아본 것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결과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근거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국내 비슷한 서비스 13건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(국내 12, 일본 1)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근무 확정부터 그날 역할, 인계 작성, 결원 재배정까지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하나로 이어 놓은 서비스는 찾지 못했다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[B] 제품 공식 페이지, 앱스토어 설명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해외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Epic "Art": 미국 병원 전산에 내장, 국내 병동은 선택 불가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ShiftSBAR: 개인이 혼자 쓰는 도구, 병동 단위 배정과 확인이 없다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[B] Epic 공식 포스트, 제품 페이지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법으로 막혀 있나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아니다. 건강정보는 민감정보라 조건이 붙지만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동의와 법령 근거가 있으면 다룰 수 있다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[A] 개인정보보호법 제23조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국내 병원 전산에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인계 전용 화면이 있나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B9772E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확인하지 못했다. "없다"는 뜻이 아니다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[D] 미검증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548640" y="4722876"/>
            <a:ext cx="749808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477774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비어 있는 이유는 법이 아니라 비용(동의 설계, 접근 통제, 병원 승인)이라고 본다. </a:t>
            </a:r>
            <a:r>
              <a:rPr lang="ko-KR" altLang="en-US" sz="9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개인</a:t>
            </a:r>
            <a:r>
              <a:rPr lang="en-US" sz="9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해석이라 등급을 안 붙였다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143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852160" y="274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  무엇을 만들었나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설계의 범위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8638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병동 한 곳, 간호사 한 분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52144"/>
            <a:ext cx="365760" cy="90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8A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1152144"/>
            <a:ext cx="7589520" cy="90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병동 한 곳  </a:t>
            </a:r>
            <a:r>
              <a:rPr lang="en-US" sz="105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국내 종합병원 병동 한 곳의 운영 방식이 기준 [C]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058543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058543"/>
            <a:ext cx="365760" cy="90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8A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2058543"/>
            <a:ext cx="7589520" cy="90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현직 간호사 한 분  </a:t>
            </a:r>
            <a:r>
              <a:rPr lang="en-US" sz="105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"간호사들이 다 그렇다"가 아니라 한 분께 확인한 내용 [C]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964942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964942"/>
            <a:ext cx="365760" cy="90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77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32688" y="2964942"/>
            <a:ext cx="7589520" cy="90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병동마다 다르다  </a:t>
            </a:r>
            <a:r>
              <a:rPr lang="en-US" sz="105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차지만 하는 간호사를 따로 두는 병원도 있다고 한다. 그 차이는 이번 범위 밖 [C]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871341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871341"/>
            <a:ext cx="365760" cy="90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8A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" y="3871341"/>
            <a:ext cx="7589520" cy="90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주장마다 출처 등급  </a:t>
            </a:r>
            <a:r>
              <a:rPr lang="en-US" sz="105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[A] 원문 확인, [B] 2차 출처, [C] 인터뷰로 확인, [D] 아직 검증 못 함. 등급이 </a:t>
            </a:r>
            <a:r>
              <a:rPr lang="en-US" sz="1050" dirty="0" err="1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없으면</a:t>
            </a:r>
            <a:r>
              <a:rPr lang="en-US" sz="105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ko-KR" altLang="en-US" sz="105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내</a:t>
            </a:r>
            <a:r>
              <a:rPr lang="en-US" sz="105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판단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143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852160" y="274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  불편과 해결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불편했던 것, 푼 방법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274320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누가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불편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이 서비스에서는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기능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간호사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(차지)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인계를 넘기긴 하는데 받은 사람이 제대로 들었는지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남는 기록이 없다 [C]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내용은 전산에 남는다. 없는 건 "받았다"는 기록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들은 말: "그날 차지가 듣는 게 당연한 구조"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받은 사람이 핵심을 자기 말로 다시 적어야 확인 처리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눈으로 읽은 것만으로는 확인이 아니다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누가 언제 받았는지 남는다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8A7E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F-04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수간호사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누가 못 나오면 바뀐 내용을 여기저기 다시 알려야 하고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지금 배정이 뭔지, 왜 바뀌었는지도 안 남는다 [C]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엑셀을 고치고 메신저로 다시 공지한다 [D]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화면에서 바로 다시 배정하면 당사자 화면에 그대로 뜬다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다시 공지할 필요가 없다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바꾼 이유가 같이 남는다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B9772E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F-05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143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852160" y="274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  불편과 해결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인터뷰 뒤에 뺀 것 네 가지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329184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처음에 적었던 것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실제로는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그래서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9772E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"출근해서야 자기 역할을 안다"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월말 전에 팀장이 미리 정하고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그 뒤에 간호사끼리 서로 바꾼다 [C]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불편 항목에서 뺌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관련 기능은 기반 기능으로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9772E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"인계 내용이 기록되지 않는다"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내용은 남는다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안 남는 건 "받았다"는 기록 [C]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해결 대상을 '받은 기록'으로 좁힘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9772E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"역할마다 인계 항목이 달라야 한다"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아니다. 인계는 차지가 받고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액팅은 옆에서 같은 인계를 듣는다 [C]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항목을 병동 공통 한 벌로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9772E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"전산 기록 하나가 인계와 공식 기록을 겸한다"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우리가 잘못 옮긴 말이었다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인계장과 공식 기록은 따로 [C]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"우리가 이중 입력을 만든다"는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전제가 사라짐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143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852160" y="274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  누가 쓰나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누가 쓰나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8638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두 사람. 다른 병동 사람은 못 들어온다</a:t>
            </a:r>
            <a:endParaRPr lang="en-US" sz="11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33856"/>
          <a:ext cx="8046720" cy="25603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쓰는 사람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볼 수 있는 것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하는 일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B9772E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수간호사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자기가 맡은 병동 전체 [C]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근무표 등록, 그날 역할과 인계 담당 정하기, 인계 항목 정하기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결원 생기면 다시 배정, 바뀐 내역 보기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F8A7E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간호사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내 근무와 역할, 우리 팀 환자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내가 맡은 인계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내 근무 확인. 차지면 인계 쓰기, 받고 확인하기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액팅이면 우리 팀 인계 읽기. 내가 주고받은 인계 보기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8A86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다른 병동 사람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아무것도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막는다. "없는 것처럼"이 아니라 "권한이 없다"고 답한다(403)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143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852160" y="274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  누가 쓰나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볼 수 있는 범위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8638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세 갈래. 권한이 자기 일을 막지 않게</a:t>
            </a:r>
            <a:endParaRPr lang="en-US" sz="11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33856"/>
          <a:ext cx="8046720" cy="256032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볼 수 있는 것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판단 기준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F8A7E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수간호사는 병동 전체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내 소속 병동이면 전부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F8A7E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내가 인계를 맡은 환자와 그 인계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그 근무에서 나에게 배정된 입원 건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F8A7E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3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같은 팀, 같은 시간에 일하는 사람의 인계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같은 병동·같은 날·같은 근무조, 같은 팀, 이미 넘어간 인계만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작성 중인 것은 쓴 사람만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722876"/>
            <a:ext cx="749808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477774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쓰는 건 더 좁다. 인계를 쓰는 건 맡은 사람만, 확인은 받을 사람만. 결원으로 등록된 사람은 받을 수 없다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143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11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852160" y="274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  누가 쓰나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기능</a:t>
            </a:r>
            <a:endParaRPr lang="en-US" sz="2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33856"/>
          <a:ext cx="8046720" cy="3524250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ID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하는 일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누가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화면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막힐 때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F-01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확정된 근무표 등록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수간호사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3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권한 없음 403, 같은 사람 중복 409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F-02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그날 역할과 인계 담당 정하기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수간호사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403, 409, 입력 모자람 422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F-03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내 근무·역할·바뀐 내용 확인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간호사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8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남의 배정 조회는 403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F8A7E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F-04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인계 쓰기, 받은 사람이 요약해 확인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차지가 쓰고, 다음 차지가 확인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액팅은 읽기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9, 10, 11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당사자 아님 403, 필수·요약 미입력 422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재확인·퇴원 409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B9772E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F-05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결원 등록, 다시 배정, 완료 확인과 이력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수간호사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6, 7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대체자 없이 완료 422, 재확인 409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F-06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병동 인계 항목 정하기 (F-04 가 쓰는 양식)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수간호사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5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간호사가 고치려 하면 403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722876"/>
            <a:ext cx="749808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477774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F-04 가 첫 번째 불편, F-05 가 두 번째 불편. 나머지 넷은 그 둘이 서려면 있어야 하는 기반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143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12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852160" y="274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  화면 흐름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화면 흐름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8638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로그인에서 두 갈래. 실선은 화면 이동, 점선은 데이터가 넘어가는 길</a:t>
            </a:r>
            <a:endParaRPr lang="en-US" sz="1150" dirty="0"/>
          </a:p>
        </p:txBody>
      </p:sp>
      <p:pic>
        <p:nvPicPr>
          <p:cNvPr id="6" name="Image 0" descr="/Users/hwangjaewon/skala-workspace/skala-webservice-mini/assets/ui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466" y="1097280"/>
            <a:ext cx="5129068" cy="35341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4722876"/>
            <a:ext cx="749808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477774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화면 11개가 전부 이 그림 안에 있다. 점선 네 개가 수간호사와 간호사를 잇는다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143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13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852160" y="274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  화면 흐름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수간호사 쪽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8638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근무표 등록 → 역할·담당 정하기 → 결원 재배정 → 바뀐 내역</a:t>
            </a:r>
            <a:endParaRPr lang="en-US" sz="1150" dirty="0"/>
          </a:p>
        </p:txBody>
      </p:sp>
      <p:pic>
        <p:nvPicPr>
          <p:cNvPr id="6" name="Image 0" descr="/Users/hwangjaewon/skala-workspace/skala-webservice-mini/assets/ui_flow_1_manag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8396" y="1097280"/>
            <a:ext cx="4527207" cy="35341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4722876"/>
            <a:ext cx="749808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477774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배정은 누르는 즉시 반영된다. 따로 게시하거나 승인받는 단계가 없다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143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14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852160" y="274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  화면 흐름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간호사 쪽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8638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내 근무 → 인계 쓰기 → 인계 받고 요약해서 확인</a:t>
            </a:r>
            <a:endParaRPr lang="en-US" sz="1150" dirty="0"/>
          </a:p>
        </p:txBody>
      </p:sp>
      <p:pic>
        <p:nvPicPr>
          <p:cNvPr id="6" name="Image 0" descr="/Users/hwangjaewon/skala-workspace/skala-webservice-mini/assets/ui_flow_2_nur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3178" y="1097280"/>
            <a:ext cx="5277644" cy="35341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4722876"/>
            <a:ext cx="749808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477774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인계는 앞 근무 차지에서 다음 근무 차지로 흐른다. 같은 팀 액팅은 읽기만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143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15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852160" y="274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  화면과 API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화면들을</a:t>
            </a:r>
            <a:r>
              <a:rPr lang="en-US" sz="220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읽는 법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10896" cy="310896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33856" y="1280160"/>
            <a:ext cx="731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26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빨강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1280160"/>
            <a:ext cx="65836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API 가 호출되는 곳. 어떤 주소로 무엇을 하는지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176272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450592"/>
            <a:ext cx="310896" cy="310896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450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133856" y="2176272"/>
            <a:ext cx="731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초록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920240" y="2176272"/>
            <a:ext cx="65836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화면이 이동하는 곳. 이 버튼을 누르면 어디로 가는지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072384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346704"/>
            <a:ext cx="310896" cy="310896"/>
          </a:xfrm>
          <a:prstGeom prst="ellipse">
            <a:avLst/>
          </a:prstGeom>
          <a:solidFill>
            <a:srgbClr val="2F5F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346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33856" y="3072384"/>
            <a:ext cx="731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FA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파랑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920240" y="3072384"/>
            <a:ext cx="65836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막히는 곳. 오류와 예외. 왜 막는지가 이 설계의 핵심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722876"/>
            <a:ext cx="749808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77774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캡처는 전부 실제로 도는 데모에서 찍었다. 가상 데이터이고, 화면에 보이는 주소가 그대로 API 명세의 주소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143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16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852160" y="274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  화면과 API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간호사 첫 화면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8638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내 근무, 우리 팀 환자, 받은 인계와 보낼 인계</a:t>
            </a:r>
            <a:endParaRPr lang="en-US" sz="1150" dirty="0"/>
          </a:p>
        </p:txBody>
      </p:sp>
      <p:pic>
        <p:nvPicPr>
          <p:cNvPr id="6" name="Image 0" descr="/Users/hwangjaewon/skala-workspace/skala-webservice-mini/assets/8_myshift_nur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15568"/>
            <a:ext cx="4828032" cy="3017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115568"/>
            <a:ext cx="4828032" cy="3017520"/>
          </a:xfrm>
          <a:prstGeom prst="rect">
            <a:avLst/>
          </a:prstGeom>
          <a:ln w="9525">
            <a:solidFill>
              <a:srgbClr val="E6E0D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23058" y="1485595"/>
            <a:ext cx="192024" cy="192024"/>
          </a:xfrm>
          <a:prstGeom prst="ellipse">
            <a:avLst/>
          </a:prstGeom>
          <a:solidFill>
            <a:srgbClr val="B326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823058" y="1485595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064459" y="1817522"/>
            <a:ext cx="192024" cy="192024"/>
          </a:xfrm>
          <a:prstGeom prst="ellipse">
            <a:avLst/>
          </a:prstGeom>
          <a:solidFill>
            <a:srgbClr val="2E7D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064459" y="1817522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597554" y="1817522"/>
            <a:ext cx="192024" cy="192024"/>
          </a:xfrm>
          <a:prstGeom prst="ellipse">
            <a:avLst/>
          </a:prstGeom>
          <a:solidFill>
            <a:srgbClr val="2E7D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97554" y="1817522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16806" y="2290267"/>
            <a:ext cx="192024" cy="192024"/>
          </a:xfrm>
          <a:prstGeom prst="ellipse">
            <a:avLst/>
          </a:prstGeom>
          <a:solidFill>
            <a:srgbClr val="2E7D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616806" y="2290267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577840" y="1207008"/>
            <a:ext cx="192024" cy="192024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577840" y="1207008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5870448" y="1152144"/>
            <a:ext cx="2706624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B3261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GET /me/shifts
</a:t>
            </a:r>
            <a:r>
              <a:rPr lang="en-US" sz="950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내 근무와 역할, 우리 팀 환자를 한 번에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인계 담당이 없어도 근무와 역할은 보인다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577840" y="1994535"/>
            <a:ext cx="30175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577840" y="2085975"/>
            <a:ext cx="192024" cy="192024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577840" y="2085975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5870448" y="2031111"/>
            <a:ext cx="2706624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왼쪽은 앞 근무에서 나에게 온 인계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'확인' 버튼은 내가 받을 사람일 때만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577840" y="2873502"/>
            <a:ext cx="30175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577840" y="2964942"/>
            <a:ext cx="192024" cy="192024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577840" y="2964942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5870448" y="2910078"/>
            <a:ext cx="2706624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오른쪽은 내가 다음 근무로 넘길 인계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두 방향이 한 화면에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577840" y="3752469"/>
            <a:ext cx="30175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577840" y="3843909"/>
            <a:ext cx="192024" cy="192024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577840" y="3843909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850" dirty="0"/>
          </a:p>
        </p:txBody>
      </p:sp>
      <p:sp>
        <p:nvSpPr>
          <p:cNvPr id="30" name="Text 27"/>
          <p:cNvSpPr txBox="1"/>
          <p:nvPr/>
        </p:nvSpPr>
        <p:spPr>
          <a:xfrm>
            <a:off x="5870448" y="3789045"/>
            <a:ext cx="2706624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인계 작성 화면으로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액팅에게는 이 버튼이 없다. 읽기만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48640" y="4722876"/>
            <a:ext cx="749808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48640" y="477774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같은 팀, 같은 시간에 일하면 인계를 읽을 수 있다. '확인'은 그 환자를 맡은 차지만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143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17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852160" y="274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  화면과 API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인계 쓰기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8638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필수 항목이 비면 넘길 수 없다</a:t>
            </a:r>
            <a:endParaRPr lang="en-US" sz="1150" dirty="0"/>
          </a:p>
        </p:txBody>
      </p:sp>
      <p:pic>
        <p:nvPicPr>
          <p:cNvPr id="6" name="Image 0" descr="/Users/hwangjaewon/skala-workspace/skala-webservice-mini/assets/9_handover_write_nur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681" y="1115568"/>
            <a:ext cx="3623951" cy="35158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150681" y="1115568"/>
            <a:ext cx="3623951" cy="3515868"/>
          </a:xfrm>
          <a:prstGeom prst="rect">
            <a:avLst/>
          </a:prstGeom>
          <a:ln w="9525">
            <a:solidFill>
              <a:srgbClr val="E6E0D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064289" y="1973572"/>
            <a:ext cx="192024" cy="192024"/>
          </a:xfrm>
          <a:prstGeom prst="ellipse">
            <a:avLst/>
          </a:prstGeom>
          <a:solidFill>
            <a:srgbClr val="B326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064289" y="1973572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756571" y="1523277"/>
            <a:ext cx="192024" cy="192024"/>
          </a:xfrm>
          <a:prstGeom prst="ellipse">
            <a:avLst/>
          </a:prstGeom>
          <a:solidFill>
            <a:srgbClr val="2F5F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756571" y="1523277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363825" y="4342077"/>
            <a:ext cx="192024" cy="192024"/>
          </a:xfrm>
          <a:prstGeom prst="ellipse">
            <a:avLst/>
          </a:prstGeom>
          <a:solidFill>
            <a:srgbClr val="B326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63825" y="4342077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820149" y="2047350"/>
            <a:ext cx="192024" cy="192024"/>
          </a:xfrm>
          <a:prstGeom prst="ellipse">
            <a:avLst/>
          </a:prstGeom>
          <a:solidFill>
            <a:srgbClr val="B326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820149" y="2047350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577840" y="1207008"/>
            <a:ext cx="192024" cy="192024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577840" y="1207008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5870448" y="1152144"/>
            <a:ext cx="2706624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B3261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POST /handovers
</a:t>
            </a:r>
            <a:r>
              <a:rPr lang="en-US" sz="950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작성을 시작하면 병동 양식을 그대로 복사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나중에 양식이 바뀌어도 이미 쓴 인계는 안 바뀐다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577840" y="1994535"/>
            <a:ext cx="30175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577840" y="2085975"/>
            <a:ext cx="192024" cy="192024"/>
          </a:xfrm>
          <a:prstGeom prst="ellipse">
            <a:avLst/>
          </a:prstGeom>
          <a:solidFill>
            <a:srgbClr val="2F5FA8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577840" y="2085975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5870448" y="2031111"/>
            <a:ext cx="2706624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2F5F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422 보낸 내용이 모자람
</a:t>
            </a:r>
            <a:r>
              <a:rPr lang="en-US" sz="950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필수 항목이 비어 있으면 넘길 수 없다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어떤 항목이 비었는지 이름까지 알려준다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577840" y="2873502"/>
            <a:ext cx="30175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577840" y="2964942"/>
            <a:ext cx="192024" cy="192024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577840" y="2964942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5870448" y="2910078"/>
            <a:ext cx="2706624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B3261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POST /handovers/{id}/send
</a:t>
            </a:r>
            <a:r>
              <a:rPr lang="en-US" sz="950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넘기면 '작성 중'에서 '전달됨'으로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받을 사람은 서버가 고른다. 같은 환자의 다음 근무 담당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577840" y="3752469"/>
            <a:ext cx="30175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577840" y="3843909"/>
            <a:ext cx="192024" cy="192024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577840" y="3843909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850" dirty="0"/>
          </a:p>
        </p:txBody>
      </p:sp>
      <p:sp>
        <p:nvSpPr>
          <p:cNvPr id="30" name="Text 27"/>
          <p:cNvSpPr txBox="1"/>
          <p:nvPr/>
        </p:nvSpPr>
        <p:spPr>
          <a:xfrm>
            <a:off x="5870448" y="3789045"/>
            <a:ext cx="2706624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B3261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PATCH /handovers/{id}/items
</a:t>
            </a:r>
            <a:r>
              <a:rPr lang="en-US" sz="950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입력한 내용은 임시저장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번 넘긴 뒤에는 못 고친다(409)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48640" y="4722876"/>
            <a:ext cx="749808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48640" y="477774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받을 사람을 요청에서 안 받는 이유: 받으면 아무 근무로나 인계를 보낼 수 있게 된다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143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18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852160" y="274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  화면과 API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인계 받기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8638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요약을 써야 확인이 된다</a:t>
            </a:r>
            <a:endParaRPr lang="en-US" sz="1150" dirty="0"/>
          </a:p>
        </p:txBody>
      </p:sp>
      <p:pic>
        <p:nvPicPr>
          <p:cNvPr id="6" name="Image 0" descr="/Users/hwangjaewon/skala-workspace/skala-webservice-mini/assets/10_handover_receive_nur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144" y="1115568"/>
            <a:ext cx="3661024" cy="35158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132144" y="1115568"/>
            <a:ext cx="3661024" cy="3515868"/>
          </a:xfrm>
          <a:prstGeom prst="rect">
            <a:avLst/>
          </a:prstGeom>
          <a:ln w="9525">
            <a:solidFill>
              <a:srgbClr val="E6E0D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35316" y="1587543"/>
            <a:ext cx="192024" cy="192024"/>
          </a:xfrm>
          <a:prstGeom prst="ellipse">
            <a:avLst/>
          </a:prstGeom>
          <a:solidFill>
            <a:srgbClr val="2E7D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235316" y="1587543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809443" y="3792671"/>
            <a:ext cx="192024" cy="192024"/>
          </a:xfrm>
          <a:prstGeom prst="ellipse">
            <a:avLst/>
          </a:prstGeom>
          <a:solidFill>
            <a:srgbClr val="B326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809443" y="3792671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399741" y="4329818"/>
            <a:ext cx="192024" cy="192024"/>
          </a:xfrm>
          <a:prstGeom prst="ellipse">
            <a:avLst/>
          </a:prstGeom>
          <a:solidFill>
            <a:srgbClr val="B326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99741" y="4329818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745214" y="4155052"/>
            <a:ext cx="192024" cy="192024"/>
          </a:xfrm>
          <a:prstGeom prst="ellipse">
            <a:avLst/>
          </a:prstGeom>
          <a:solidFill>
            <a:srgbClr val="2F5F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745214" y="4155052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577840" y="1207008"/>
            <a:ext cx="192024" cy="192024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577840" y="1207008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5870448" y="1152144"/>
            <a:ext cx="2706624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지금 상태는 '확인 대기'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작성 중, 전달됨, 확인됨 순서로만 간다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577840" y="1994535"/>
            <a:ext cx="30175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577840" y="2085975"/>
            <a:ext cx="192024" cy="192024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577840" y="2085975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5870448" y="2031111"/>
            <a:ext cx="2706624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B3261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PATCH /handovers/{id}/receipt
</a:t>
            </a:r>
            <a:r>
              <a:rPr lang="en-US" sz="950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받은 사람이 자기 말로 쓴 요약이 여기 저장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칸이 이 서비스의 핵심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577840" y="2873502"/>
            <a:ext cx="30175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577840" y="2964942"/>
            <a:ext cx="192024" cy="192024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577840" y="2964942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5870448" y="2910078"/>
            <a:ext cx="2706624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B3261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POST /…/receipt/confirmation
</a:t>
            </a:r>
            <a:r>
              <a:rPr lang="en-US" sz="950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확인 처리. 이때 '확인됨'이 된다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보낸 사람 화면에 이 요약이 되돌아간다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577840" y="3752469"/>
            <a:ext cx="30175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577840" y="3843909"/>
            <a:ext cx="192024" cy="192024"/>
          </a:xfrm>
          <a:prstGeom prst="ellipse">
            <a:avLst/>
          </a:prstGeom>
          <a:solidFill>
            <a:srgbClr val="2F5FA8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577840" y="3843909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850" dirty="0"/>
          </a:p>
        </p:txBody>
      </p:sp>
      <p:sp>
        <p:nvSpPr>
          <p:cNvPr id="30" name="Text 27"/>
          <p:cNvSpPr txBox="1"/>
          <p:nvPr/>
        </p:nvSpPr>
        <p:spPr>
          <a:xfrm>
            <a:off x="5870448" y="3789045"/>
            <a:ext cx="2706624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2F5F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422 · 403
</a:t>
            </a:r>
            <a:r>
              <a:rPr lang="en-US" sz="950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요약이 없으면 확인되지 않는다(422)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 환자를 맡은 사람이 아니면 403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48640" y="4722876"/>
            <a:ext cx="749808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48640" y="477774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화면에 들어오는 순간 '열어봤다'는 시각이 따로 남는다. 조회와 분리했다. 수간호사가 봐도 수신 기록이 되면 안 되니까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143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19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852160" y="274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  화면과 API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결원 재배정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8638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사람이 판단하는 자리와 시스템이 막는 자리를 나눴다</a:t>
            </a:r>
            <a:endParaRPr lang="en-US" sz="1150" dirty="0"/>
          </a:p>
        </p:txBody>
      </p:sp>
      <p:pic>
        <p:nvPicPr>
          <p:cNvPr id="6" name="Image 0" descr="/Users/hwangjaewon/skala-workspace/skala-webservice-mini/assets/6_reassign_manag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757" y="1115568"/>
            <a:ext cx="3789797" cy="35158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67757" y="1115568"/>
            <a:ext cx="3789797" cy="3515868"/>
          </a:xfrm>
          <a:prstGeom prst="rect">
            <a:avLst/>
          </a:prstGeom>
          <a:ln w="9525">
            <a:solidFill>
              <a:srgbClr val="E6E0D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705769" y="1721666"/>
            <a:ext cx="192024" cy="192024"/>
          </a:xfrm>
          <a:prstGeom prst="ellipse">
            <a:avLst/>
          </a:prstGeom>
          <a:solidFill>
            <a:srgbClr val="B326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705769" y="1721666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466388" y="1721666"/>
            <a:ext cx="192024" cy="192024"/>
          </a:xfrm>
          <a:prstGeom prst="ellipse">
            <a:avLst/>
          </a:prstGeom>
          <a:solidFill>
            <a:srgbClr val="B326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466388" y="1721666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24348" y="1721666"/>
            <a:ext cx="192024" cy="192024"/>
          </a:xfrm>
          <a:prstGeom prst="ellipse">
            <a:avLst/>
          </a:prstGeom>
          <a:solidFill>
            <a:srgbClr val="B326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224348" y="1721666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035497" y="2285481"/>
            <a:ext cx="192024" cy="192024"/>
          </a:xfrm>
          <a:prstGeom prst="ellipse">
            <a:avLst/>
          </a:prstGeom>
          <a:solidFill>
            <a:srgbClr val="2F5F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035497" y="2285481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577840" y="1207008"/>
            <a:ext cx="192024" cy="192024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577840" y="1207008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5870448" y="1152144"/>
            <a:ext cx="2706624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B3261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POST /…/absence
</a:t>
            </a:r>
            <a:r>
              <a:rPr lang="en-US" sz="950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결원 등록. 사유를 사람이 쓰는 유일한 자리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나머지 세 기록은 이 사유를 그대로 복사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577840" y="1994535"/>
            <a:ext cx="30175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577840" y="2085975"/>
            <a:ext cx="192024" cy="192024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577840" y="2085975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5870448" y="2031111"/>
            <a:ext cx="2706624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B3261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POST /…/substitute
</a:t>
            </a:r>
            <a:r>
              <a:rPr lang="en-US" sz="950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누가 대신 설지 정한다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체크해 두면 결원자의 역할(차지)도 같이 넘어간다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577840" y="2873502"/>
            <a:ext cx="30175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577840" y="2964942"/>
            <a:ext cx="192024" cy="192024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577840" y="2964942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5870448" y="2910078"/>
            <a:ext cx="2706624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B3261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POST /…/handover-transfer
</a:t>
            </a:r>
            <a:r>
              <a:rPr lang="en-US" sz="950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맡고 있던 인계를 넘긴다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원래 인계는 안 지운다. '대체됨'으로 두고 새 인계를 발행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577840" y="3752469"/>
            <a:ext cx="30175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577840" y="3843909"/>
            <a:ext cx="192024" cy="192024"/>
          </a:xfrm>
          <a:prstGeom prst="ellipse">
            <a:avLst/>
          </a:prstGeom>
          <a:solidFill>
            <a:srgbClr val="2F5FA8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577840" y="3843909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850" dirty="0"/>
          </a:p>
        </p:txBody>
      </p:sp>
      <p:sp>
        <p:nvSpPr>
          <p:cNvPr id="30" name="Text 27"/>
          <p:cNvSpPr txBox="1"/>
          <p:nvPr/>
        </p:nvSpPr>
        <p:spPr>
          <a:xfrm>
            <a:off x="5870448" y="3789045"/>
            <a:ext cx="2706624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2F5F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422 보낸 내용이 모자람
</a:t>
            </a:r>
            <a:r>
              <a:rPr lang="en-US" sz="950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대체자 없이 '완료'라고 적을 수 없다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완료는 자동 판정이 아니라 사람의 확인 기록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48640" y="4722876"/>
            <a:ext cx="749808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48640" y="477774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아래 목록은 "이 사람 이름으로 남은 인계 N건". 시스템이 막지 않기로 한 것을 화면이 대신 보여준다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143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852160" y="274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  화면과 API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수간호사 첫 화면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8638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숫자를 누르면 그 숫자의 근거로 내려간다</a:t>
            </a:r>
            <a:endParaRPr lang="en-US" sz="1150" dirty="0"/>
          </a:p>
        </p:txBody>
      </p:sp>
      <p:pic>
        <p:nvPicPr>
          <p:cNvPr id="6" name="Image 0" descr="/Users/hwangjaewon/skala-workspace/skala-webservice-mini/assets/2_dashboard_manag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326" y="1115568"/>
            <a:ext cx="4796661" cy="35158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4326" y="1115568"/>
            <a:ext cx="4796661" cy="3515868"/>
          </a:xfrm>
          <a:prstGeom prst="rect">
            <a:avLst/>
          </a:prstGeom>
          <a:ln w="9525">
            <a:solidFill>
              <a:srgbClr val="E6E0D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97351" y="1605534"/>
            <a:ext cx="192024" cy="192024"/>
          </a:xfrm>
          <a:prstGeom prst="ellipse">
            <a:avLst/>
          </a:prstGeom>
          <a:solidFill>
            <a:srgbClr val="2E7D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397351" y="1605534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360049" y="1605534"/>
            <a:ext cx="192024" cy="192024"/>
          </a:xfrm>
          <a:prstGeom prst="ellipse">
            <a:avLst/>
          </a:prstGeom>
          <a:solidFill>
            <a:srgbClr val="2E7D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360049" y="1605534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319381" y="1602166"/>
            <a:ext cx="192024" cy="192024"/>
          </a:xfrm>
          <a:prstGeom prst="ellipse">
            <a:avLst/>
          </a:prstGeom>
          <a:solidFill>
            <a:srgbClr val="B326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19381" y="1602166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282080" y="1605534"/>
            <a:ext cx="192024" cy="192024"/>
          </a:xfrm>
          <a:prstGeom prst="ellipse">
            <a:avLst/>
          </a:prstGeom>
          <a:solidFill>
            <a:srgbClr val="2F5F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282080" y="1605534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577840" y="1207008"/>
            <a:ext cx="192024" cy="192024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577840" y="1207008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5870448" y="1152144"/>
            <a:ext cx="2706624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2E7D4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GET /wards/{id}/shift-assignments
</a:t>
            </a:r>
            <a:r>
              <a:rPr lang="en-US" sz="950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오늘 누가 나오는지. 누르면 명단이 펼쳐진다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근무 등록 화면과 같은 API 를 다시 쓴다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577840" y="1994535"/>
            <a:ext cx="30175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577840" y="2085975"/>
            <a:ext cx="192024" cy="192024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577840" y="2085975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5870448" y="2031111"/>
            <a:ext cx="2706624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2E7D4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같은 응답을 역할별로 묶음
</a:t>
            </a:r>
            <a:r>
              <a:rPr lang="en-US" sz="950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누가 무엇을 맡았는지, 역할별로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이걸 위해 새 API 를 만들지 않았다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577840" y="2873502"/>
            <a:ext cx="30175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577840" y="2964942"/>
            <a:ext cx="192024" cy="192024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577840" y="2964942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5870448" y="2910078"/>
            <a:ext cx="2706624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B3261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GET /wards/{id}/handovers?status=SENT
</a:t>
            </a:r>
            <a:r>
              <a:rPr lang="en-US" sz="950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아직 확인 안 된 인계. 누르면 어느 건인지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숫자와 목록이 같은 조건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577840" y="3752469"/>
            <a:ext cx="30175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577840" y="3843909"/>
            <a:ext cx="192024" cy="192024"/>
          </a:xfrm>
          <a:prstGeom prst="ellipse">
            <a:avLst/>
          </a:prstGeom>
          <a:solidFill>
            <a:srgbClr val="2F5FA8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577840" y="3843909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850" dirty="0"/>
          </a:p>
        </p:txBody>
      </p:sp>
      <p:sp>
        <p:nvSpPr>
          <p:cNvPr id="30" name="Text 27"/>
          <p:cNvSpPr txBox="1"/>
          <p:nvPr/>
        </p:nvSpPr>
        <p:spPr>
          <a:xfrm>
            <a:off x="5870448" y="3789045"/>
            <a:ext cx="2706624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결원 목록은 접지 않고 항상 보인다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접히면 '재배정 필요'를 놓친다. 타일을 누르면 그 자리로 내려간다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48640" y="4722876"/>
            <a:ext cx="749808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48640" y="477774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"인계 미작성 N건"은 안 넣었다. 병원 전산과 연결이 없어서 "썼어야 했는데 안 쓴 건"을 셀 방법이 없다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143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21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852160" y="274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  화면과 API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역할과 인계 담당 정하기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8638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환자는 팀이 같이 본다. 여기서 정하는 건 인계를 맡을 사람</a:t>
            </a:r>
            <a:endParaRPr lang="en-US" sz="1150" dirty="0"/>
          </a:p>
        </p:txBody>
      </p:sp>
      <p:pic>
        <p:nvPicPr>
          <p:cNvPr id="6" name="Image 0" descr="/Users/hwangjaewon/skala-workspace/skala-webservice-mini/assets/4_assignment_board_manag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15568"/>
            <a:ext cx="4828032" cy="3017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115568"/>
            <a:ext cx="4828032" cy="3017520"/>
          </a:xfrm>
          <a:prstGeom prst="rect">
            <a:avLst/>
          </a:prstGeom>
          <a:ln w="9525">
            <a:solidFill>
              <a:srgbClr val="E6E0D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78001" y="1696822"/>
            <a:ext cx="192024" cy="192024"/>
          </a:xfrm>
          <a:prstGeom prst="ellipse">
            <a:avLst/>
          </a:prstGeom>
          <a:solidFill>
            <a:srgbClr val="B326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378001" y="1696822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896819" y="2095805"/>
            <a:ext cx="192024" cy="192024"/>
          </a:xfrm>
          <a:prstGeom prst="ellipse">
            <a:avLst/>
          </a:prstGeom>
          <a:solidFill>
            <a:srgbClr val="B326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896819" y="2095805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735019" y="2092452"/>
            <a:ext cx="192024" cy="192024"/>
          </a:xfrm>
          <a:prstGeom prst="ellipse">
            <a:avLst/>
          </a:prstGeom>
          <a:solidFill>
            <a:srgbClr val="2E7D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35019" y="2092452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577840" y="1207008"/>
            <a:ext cx="192024" cy="192024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577840" y="1207008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5870448" y="1152144"/>
            <a:ext cx="2706624" cy="1098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B3261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PATCH /shift-assignments/{id}
</a:t>
            </a:r>
            <a:r>
              <a:rPr lang="en-US" sz="950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역할은 고르는 즉시 저장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저장 버튼이 따로 없다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577840" y="2287524"/>
            <a:ext cx="30175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577840" y="2378964"/>
            <a:ext cx="192024" cy="192024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577840" y="2378964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5870448" y="2324100"/>
            <a:ext cx="2706624" cy="1098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B3261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POST /…/handover-assignments
</a:t>
            </a:r>
            <a:r>
              <a:rPr lang="en-US" sz="950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근무에서 누가 어느 입원 건의 인계를 맡을지</a:t>
            </a:r>
            <a:endParaRPr lang="en-US" sz="8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기본값은 그 팀의 차지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577840" y="3459480"/>
            <a:ext cx="30175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577840" y="3550920"/>
            <a:ext cx="192024" cy="192024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577840" y="3550920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5870448" y="3496056"/>
            <a:ext cx="2706624" cy="1098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담당을 더한다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역할로 강제하지 않는다. 차지가 빠지면 누가 올라가는지 확인 못 해서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48640" y="4722876"/>
            <a:ext cx="749808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8640" y="477774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'담당 환자 배정'이 아니라 '인계 담당 지정'. 환자는 팀이 같이 본다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143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22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852160" y="274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  화면과 API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나머지 화면 1</a:t>
            </a:r>
            <a:endParaRPr lang="en-US" sz="2200" dirty="0"/>
          </a:p>
        </p:txBody>
      </p:sp>
      <p:pic>
        <p:nvPicPr>
          <p:cNvPr id="5" name="Image 0" descr="/Users/hwangjaewon/skala-workspace/skala-webservice-mini/assets/1_login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33550"/>
            <a:ext cx="2535936" cy="1584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33550"/>
            <a:ext cx="2535936" cy="1584960"/>
          </a:xfrm>
          <a:prstGeom prst="rect">
            <a:avLst/>
          </a:prstGeom>
          <a:ln w="9525">
            <a:solidFill>
              <a:srgbClr val="E6E0D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4137660"/>
            <a:ext cx="2535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로그인
</a:t>
            </a:r>
            <a:r>
              <a:rPr lang="en-US" sz="90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누구로 들어갈지 고르는 데모용 화면. 실제 인증은 병원 시스템 몫</a:t>
            </a:r>
            <a:endParaRPr lang="en-US" sz="1050" dirty="0"/>
          </a:p>
        </p:txBody>
      </p:sp>
      <p:pic>
        <p:nvPicPr>
          <p:cNvPr id="8" name="Image 1" descr="/Users/hwangjaewon/skala-workspace/skala-webservice-mini/assets/3_shift_register_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4032" y="1733550"/>
            <a:ext cx="2535936" cy="15849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304032" y="1733550"/>
            <a:ext cx="2535936" cy="1584960"/>
          </a:xfrm>
          <a:prstGeom prst="rect">
            <a:avLst/>
          </a:prstGeom>
          <a:ln w="9525">
            <a:solidFill>
              <a:srgbClr val="E6E0D4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304032" y="4137660"/>
            <a:ext cx="2535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근무표 등록
</a:t>
            </a:r>
            <a:r>
              <a:rPr lang="en-US" sz="90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역할은 여기서 안 정한다. 다른 병동 지원 근무도 등록된다</a:t>
            </a:r>
            <a:endParaRPr lang="en-US" sz="1050" dirty="0"/>
          </a:p>
        </p:txBody>
      </p:sp>
      <p:pic>
        <p:nvPicPr>
          <p:cNvPr id="11" name="Image 2" descr="/Users/hwangjaewon/skala-workspace/skala-webservice-mini/assets/5_handover_template_manag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9424" y="1709192"/>
            <a:ext cx="2535936" cy="1633677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059424" y="1709192"/>
            <a:ext cx="2535936" cy="1633677"/>
          </a:xfrm>
          <a:prstGeom prst="rect">
            <a:avLst/>
          </a:prstGeom>
          <a:ln w="9525">
            <a:solidFill>
              <a:srgbClr val="E6E0D4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059424" y="4137660"/>
            <a:ext cx="2535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인계 항목 정하기
</a:t>
            </a:r>
            <a:r>
              <a:rPr lang="en-US" sz="90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역할 선택이 없다. 고쳐도 이미 쓴 인계는 안 바뀐다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548640" y="4722876"/>
            <a:ext cx="749808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548640" y="477774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인계 항목을 병동 하나로 통일한 건 인터뷰 결과. 받는 사람이 늘 차지라서 역할별로 나눌 이유가 없었다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143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23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852160" y="274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  화면과 API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나머지 화면 2</a:t>
            </a:r>
            <a:endParaRPr lang="en-US" sz="2200" dirty="0"/>
          </a:p>
        </p:txBody>
      </p:sp>
      <p:pic>
        <p:nvPicPr>
          <p:cNvPr id="5" name="Image 0" descr="/Users/hwangjaewon/skala-workspace/skala-webservice-mini/assets/7_change_history_manag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35714"/>
            <a:ext cx="2535936" cy="27806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135714"/>
            <a:ext cx="2535936" cy="2780632"/>
          </a:xfrm>
          <a:prstGeom prst="rect">
            <a:avLst/>
          </a:prstGeom>
          <a:ln w="9525">
            <a:solidFill>
              <a:srgbClr val="E6E0D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4137660"/>
            <a:ext cx="2535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바뀐 내역
</a:t>
            </a:r>
            <a:r>
              <a:rPr lang="en-US" sz="90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사유는 한 번만 쓰고 나머지는 서버가 복사한다</a:t>
            </a:r>
            <a:endParaRPr lang="en-US" sz="1050" dirty="0"/>
          </a:p>
        </p:txBody>
      </p:sp>
      <p:pic>
        <p:nvPicPr>
          <p:cNvPr id="8" name="Image 1" descr="/Users/hwangjaewon/skala-workspace/skala-webservice-mini/assets/11_handover_history_nur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4032" y="1733550"/>
            <a:ext cx="2535936" cy="15849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304032" y="1733550"/>
            <a:ext cx="2535936" cy="1584960"/>
          </a:xfrm>
          <a:prstGeom prst="rect">
            <a:avLst/>
          </a:prstGeom>
          <a:ln w="9525">
            <a:solidFill>
              <a:srgbClr val="E6E0D4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304032" y="4137660"/>
            <a:ext cx="2535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내 인계 이력
</a:t>
            </a:r>
            <a:r>
              <a:rPr lang="en-US" sz="90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'대체됨'은 읽기 전용, 미확인 수에서 빠진다</a:t>
            </a:r>
            <a:endParaRPr lang="en-US" sz="1050" dirty="0"/>
          </a:p>
        </p:txBody>
      </p:sp>
      <p:pic>
        <p:nvPicPr>
          <p:cNvPr id="11" name="Image 2" descr="/Users/hwangjaewon/skala-workspace/skala-webservice-mini/assets/8_myshift_nurse_stat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9424" y="1646016"/>
            <a:ext cx="2535936" cy="1760029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059424" y="1646016"/>
            <a:ext cx="2535936" cy="1760029"/>
          </a:xfrm>
          <a:prstGeom prst="rect">
            <a:avLst/>
          </a:prstGeom>
          <a:ln w="9525">
            <a:solidFill>
              <a:srgbClr val="E6E0D4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059424" y="4137660"/>
            <a:ext cx="2535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비어 있을 때
</a:t>
            </a:r>
            <a:r>
              <a:rPr lang="en-US" sz="90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빈 화면 대신 다음에 할 일을 적는다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548640" y="4722876"/>
            <a:ext cx="749808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548640" y="477774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빈 화면을 설계했다는 것 자체가 권한을 세 갈래로 나눈 이유다. 인계 담당이 없어도 근무는 보여야 한다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143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24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852160" y="274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06  데이터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20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핵심 </a:t>
            </a:r>
            <a:r>
              <a:rPr lang="en-US" sz="2200" b="1" dirty="0" err="1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8638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인계 한 건이 만들어져 확인되기까지 거치는 표</a:t>
            </a:r>
            <a:endParaRPr lang="en-US" sz="1150" dirty="0"/>
          </a:p>
        </p:txBody>
      </p:sp>
      <p:pic>
        <p:nvPicPr>
          <p:cNvPr id="6" name="Image 0" descr="/Users/hwangjaewon/skala-workspace/skala-webservice-mini/assets/erd_c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15568"/>
            <a:ext cx="2774757" cy="351586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616005" y="1152144"/>
            <a:ext cx="4979355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근무, 담당, 인계
</a:t>
            </a:r>
            <a:r>
              <a:rPr lang="en-US" sz="95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"그 근무에서 이 환자의 인계를 맡는다"를 한 줄로. 사람이 아니라 근무에 붙는다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616005" y="1994535"/>
            <a:ext cx="4979355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16005" y="2031111"/>
            <a:ext cx="4979355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받았다는 기록을 따로
</a:t>
            </a:r>
            <a:r>
              <a:rPr lang="en-US" sz="95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열어본 시각, 자기 말로 쓴 요약, 확인한 시각. 이 셋이 첫 번째 불편의 답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616005" y="2873502"/>
            <a:ext cx="4979355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6005" y="2910078"/>
            <a:ext cx="4979355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항목은 복사본
</a:t>
            </a:r>
            <a:r>
              <a:rPr lang="en-US" sz="95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병동 양식을 고쳐도 이미 쓴 인계는 그대로. 지난 기록이 나중에 바뀌면 안 된다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616005" y="3752469"/>
            <a:ext cx="4979355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616005" y="3789045"/>
            <a:ext cx="4979355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지우지 않는다
</a:t>
            </a:r>
            <a:r>
              <a:rPr lang="en-US" sz="95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담당이 바뀌면 옛 줄을 '이관됨'으로 남기고 새 줄을 만든다. 누가 언제 맡았는지가 기록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143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25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852160" y="274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06  데이터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전체 12개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8638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자세히 읽는 그림이 아니라 얼마나 나뉘어 있는지 보는 지도</a:t>
            </a:r>
            <a:endParaRPr lang="en-US" sz="1150" dirty="0"/>
          </a:p>
        </p:txBody>
      </p:sp>
      <p:pic>
        <p:nvPicPr>
          <p:cNvPr id="6" name="Image 0" descr="/Users/hwangjaewon/skala-workspace/skala-webservice-mini/assets/erd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49141"/>
            <a:ext cx="8046720" cy="183043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4722876"/>
            <a:ext cx="749808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477774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12 테이블, 7 Enum, 외래키 23. 여러 대 여러로 얽히는 관계는 '인계 담당' 하나로 풀었다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143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26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852160" y="274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06  데이터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표 이름을 바꾼 이야기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8638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"환자의 담당 간호사"라는 표가 있었다. 지금은 없다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52144"/>
            <a:ext cx="365760" cy="692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1152144"/>
            <a:ext cx="7589520" cy="692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처음엔  </a:t>
            </a:r>
            <a:r>
              <a:rPr lang="en-US" sz="105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환자 한 명에 담당 간호사 한 명을 붙이는 표를 만들었다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1844345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844345"/>
            <a:ext cx="365760" cy="692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77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1844345"/>
            <a:ext cx="7589520" cy="692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인터뷰에서 뒤집혔다 [C]  </a:t>
            </a:r>
            <a:r>
              <a:rPr lang="en-US" sz="105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환자는 팀이 같이 본다. "이 환자는 이 간호사 담당"이라고 정하는 행위 자체가 현장에 없었다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536546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536546"/>
            <a:ext cx="365760" cy="692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8A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32688" y="2536546"/>
            <a:ext cx="7589520" cy="692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뜻을 바꿨다  </a:t>
            </a:r>
            <a:r>
              <a:rPr lang="en-US" sz="105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지금 이 표는 "그 근무에서 이 입원 건의 인계를 맡을 사람". 줄 수가 (팀 인원 × 환자 수)에서 (환자 수)로 줄었다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228746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228746"/>
            <a:ext cx="365760" cy="692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8A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" y="3228746"/>
            <a:ext cx="7589520" cy="692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팀이 보는 환자 범위는 다른 곳에  </a:t>
            </a:r>
            <a:r>
              <a:rPr lang="en-US" sz="105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입원 건에 팀을 붙였다. 그래야 옆에서 같이 듣는 액팅도 우리 팀 인계를 읽을 수 있다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920947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920947"/>
            <a:ext cx="365760" cy="692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8A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32688" y="3920947"/>
            <a:ext cx="7589520" cy="692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역할로 강제하지 않았다  </a:t>
            </a:r>
            <a:r>
              <a:rPr lang="en-US" sz="105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차지가 빠지면 누가 올라가는지 확인 못 했다. 확인 못 한 운영 방식을 DB 가 금지하면 안 된다고 봤다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722876"/>
            <a:ext cx="749808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77774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이름만 바꾼 게 아니다. 데이터 모델, 기능표, 화면 문구, API 응답 필드 일곱 곳이 같이 움직였다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143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27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852160" y="274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06  데이터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지우지 않고 남긴다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365760" cy="7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8A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1024128"/>
            <a:ext cx="7589520" cy="7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담당이 바뀌어도 옛 줄을 안 지운다  </a:t>
            </a:r>
            <a:r>
              <a:rPr lang="en-US" sz="105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'이관됨'으로 표시하고 새 줄을 만든다. 그날 누가 맡았는지가 기록이라서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774850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774850"/>
            <a:ext cx="365760" cy="7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8A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1774850"/>
            <a:ext cx="7589520" cy="7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인계 항목은 복사본  </a:t>
            </a:r>
            <a:r>
              <a:rPr lang="en-US" sz="105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수간호사가 병동 양식을 고쳐도 이미 쓴 인계의 항목은 그대로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525573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525573"/>
            <a:ext cx="365760" cy="7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77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2525573"/>
            <a:ext cx="7589520" cy="7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받을 사람이 못 나오게 되면  </a:t>
            </a:r>
            <a:r>
              <a:rPr lang="en-US" sz="105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 인계를 '대체됨'으로 두고 새 담당에게 후속 인계를 같은 순간에 발행. 후속이 안 만들어지면 아예 실패시킨다. 인계가 끊긴 채 끝나면 안 된다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76295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276295"/>
            <a:ext cx="365760" cy="7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8A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3276295"/>
            <a:ext cx="7589520" cy="7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확인까지 끝난 인계는 안 건드린다  </a:t>
            </a:r>
            <a:r>
              <a:rPr lang="en-US" sz="105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확인된 인계를 뒤늦게 '대체됨'으로 바꾸려 하면 막는다(409). 그 뒤의 담당 변경은 사고가 아니라 정상 교대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027018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027018"/>
            <a:ext cx="365760" cy="7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8A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4027018"/>
            <a:ext cx="7589520" cy="7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대가도 같이 적었다  </a:t>
            </a:r>
            <a:r>
              <a:rPr lang="en-US" sz="105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남긴 줄도 여전히 유효한 번호라서, 읽을 때·쓸 때·고를 때 "이게 지금 것인가"를 매번 확인해야 한다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143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28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852160" y="274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06  데이터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결원 기록은 두 층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8638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근무 자리가 빈 것과, 맡고 있던 인계가 넘어간 것은 다른 일</a:t>
            </a:r>
            <a:endParaRPr lang="en-US" sz="11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33856"/>
          <a:ext cx="8046720" cy="32918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기록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빠진 사람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대신 선 사람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넘긴 인계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받은 인계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언제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결원 등록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필수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못 나온다고 등록할 때. 사유를 쓰는 유일한 자리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대체자 배정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필수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필수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누가 대신 설지 정할 때 (사유는 서버가 복사)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인계 담당 이관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필수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필수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필수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필수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맡고 있던 인계를 넘길 때. 입원 건마다 한 줄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대체 완료 확인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필수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수간호사가 "메워졌다"고 확인할 때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722876"/>
            <a:ext cx="749808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477774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액팅이 빠지면 넘길 인계가 없다(환자는 팀이 같이 보니까). 세 줄만 남는다. 기록 종류 하나가 나머지 네 칸의 유효 조합을 정한다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143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29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852160" y="274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07  API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API 명세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8638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24개, 주소 21개, 명세 오류 0</a:t>
            </a:r>
            <a:endParaRPr lang="en-US" sz="1150" dirty="0"/>
          </a:p>
        </p:txBody>
      </p:sp>
      <p:pic>
        <p:nvPicPr>
          <p:cNvPr id="6" name="Image 0" descr="/Users/hwangjaewon/skala-workspace/skala-webservice-mini/assets/swagger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2727" y="1097280"/>
            <a:ext cx="3298546" cy="35341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4722876"/>
            <a:ext cx="749808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477774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먼저 공통 응답 형태를 정하고 주소를 붙였다. 로그인·인증은 병원 시스템 몫이라 명세에 없다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143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30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852160" y="274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07  API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API 24개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8638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화면에서 보이던 주소가 그대로 명세의 주소</a:t>
            </a:r>
            <a:endParaRPr lang="en-US" sz="115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15568"/>
          <a:ext cx="3913632" cy="2827020"/>
        </p:xfrm>
        <a:graphic>
          <a:graphicData uri="http://schemas.openxmlformats.org/drawingml/2006/table">
            <a:tbl>
              <a:tblPr/>
              <a:tblGrid>
                <a:gridCol w="384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8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화면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메서드와 주소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무엇을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3</a:t>
                      </a:r>
                      <a:endParaRPr lang="en-US" sz="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GET  /wards/{id}/shift-assignments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근무 목록</a:t>
                      </a:r>
                      <a:endParaRPr lang="en-US" sz="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3</a:t>
                      </a:r>
                      <a:endParaRPr lang="en-US" sz="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POST /wards/{id}/shift-assignments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근무 등록</a:t>
                      </a:r>
                      <a:endParaRPr lang="en-US" sz="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</a:t>
                      </a:r>
                      <a:endParaRPr lang="en-US" sz="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GET  /wards/{id}/assignment-board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배정 보드</a:t>
                      </a:r>
                      <a:endParaRPr lang="en-US" sz="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</a:t>
                      </a:r>
                      <a:endParaRPr lang="en-US" sz="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PATCH /shift-assignments/{id}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역할 지정</a:t>
                      </a:r>
                      <a:endParaRPr lang="en-US" sz="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</a:t>
                      </a:r>
                      <a:endParaRPr lang="en-US" sz="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POST /…/handover-assignments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인계 담당 지정</a:t>
                      </a:r>
                      <a:endParaRPr lang="en-US" sz="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5</a:t>
                      </a:r>
                      <a:endParaRPr lang="en-US" sz="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GET  /wards/{id}/handover-template-items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항목 조회</a:t>
                      </a:r>
                      <a:endParaRPr lang="en-US" sz="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5</a:t>
                      </a:r>
                      <a:endParaRPr lang="en-US" sz="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PUT  /wards/{id}/handover-template-items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항목 교체</a:t>
                      </a:r>
                      <a:endParaRPr lang="en-US" sz="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6</a:t>
                      </a:r>
                      <a:endParaRPr lang="en-US" sz="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GET  /…/reassignment-context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재배정 진입</a:t>
                      </a:r>
                      <a:endParaRPr lang="en-US" sz="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6</a:t>
                      </a:r>
                      <a:endParaRPr lang="en-US" sz="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POST /…/absence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결원 등록</a:t>
                      </a:r>
                      <a:endParaRPr lang="en-US" sz="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6</a:t>
                      </a:r>
                      <a:endParaRPr lang="en-US" sz="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POST /…/substitute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대체자 배정</a:t>
                      </a:r>
                      <a:endParaRPr lang="en-US" sz="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6</a:t>
                      </a:r>
                      <a:endParaRPr lang="en-US" sz="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POST /…/handover-transfer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인계 담당 이관</a:t>
                      </a:r>
                      <a:endParaRPr lang="en-US" sz="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6</a:t>
                      </a:r>
                      <a:endParaRPr lang="en-US" sz="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POST /…/coverage-confirmation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대체 완료 확인</a:t>
                      </a:r>
                      <a:endParaRPr lang="en-US" sz="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6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81728" y="1115568"/>
          <a:ext cx="3913632" cy="2583180"/>
        </p:xfrm>
        <a:graphic>
          <a:graphicData uri="http://schemas.openxmlformats.org/drawingml/2006/table">
            <a:tbl>
              <a:tblPr/>
              <a:tblGrid>
                <a:gridCol w="384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8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화면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메서드와 주소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무엇을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7</a:t>
                      </a:r>
                      <a:endParaRPr lang="en-US" sz="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GET  /wards/{id}/reassignment-logs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바뀐 내역</a:t>
                      </a:r>
                      <a:endParaRPr lang="en-US" sz="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8</a:t>
                      </a:r>
                      <a:endParaRPr lang="en-US" sz="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GET  /me/shifts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내 근무, 우리 팀 환자</a:t>
                      </a:r>
                      <a:endParaRPr lang="en-US" sz="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11</a:t>
                      </a:r>
                      <a:endParaRPr lang="en-US" sz="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GET  /me/handovers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내 인계 이력</a:t>
                      </a:r>
                      <a:endParaRPr lang="en-US" sz="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9</a:t>
                      </a:r>
                      <a:endParaRPr lang="en-US" sz="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POST /handovers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인계 작성 시작</a:t>
                      </a:r>
                      <a:endParaRPr lang="en-US" sz="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9·10</a:t>
                      </a:r>
                      <a:endParaRPr lang="en-US" sz="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GET  /handovers/{id}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인계 상세</a:t>
                      </a:r>
                      <a:endParaRPr lang="en-US" sz="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9</a:t>
                      </a:r>
                      <a:endParaRPr lang="en-US" sz="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PATCH /handovers/{id}/items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임시저장</a:t>
                      </a:r>
                      <a:endParaRPr lang="en-US" sz="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9</a:t>
                      </a:r>
                      <a:endParaRPr lang="en-US" sz="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POST /handovers/{id}/send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인계 넘기기</a:t>
                      </a:r>
                      <a:endParaRPr lang="en-US" sz="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10</a:t>
                      </a:r>
                      <a:endParaRPr lang="en-US" sz="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POST /handovers/{id}/receipt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열람 기록</a:t>
                      </a:r>
                      <a:endParaRPr lang="en-US" sz="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10</a:t>
                      </a:r>
                      <a:endParaRPr lang="en-US" sz="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PATCH /handovers/{id}/receipt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요약 저장</a:t>
                      </a:r>
                      <a:endParaRPr lang="en-US" sz="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10</a:t>
                      </a:r>
                      <a:endParaRPr lang="en-US" sz="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POST /…/receipt/confirmation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확인 처리</a:t>
                      </a:r>
                      <a:endParaRPr lang="en-US" sz="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</a:t>
                      </a:r>
                      <a:endParaRPr lang="en-US" sz="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GET  /wards/{id}/handovers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미확인 목록</a:t>
                      </a:r>
                      <a:endParaRPr lang="en-US" sz="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8A867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</a:t>
                      </a:r>
                      <a:endParaRPr lang="en-US" sz="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A2926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GET  /wards/{id}/dashboard</a:t>
                      </a:r>
                      <a:endParaRPr lang="en-US" sz="8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대시보드 집계</a:t>
                      </a:r>
                      <a:endParaRPr lang="en-US" sz="8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5080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4722876"/>
            <a:ext cx="749808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477774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화면 11개의 동작 25가지를 먼저 세고, 겹치는 것(역할 지정은 배정 화면과 재배정 화면이 같이 쓴다)을 빼서 24개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143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31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852160" y="274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07  API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일부러 요청에서 안 받는 값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8638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화면이 정하게 두면 깨지는 것들</a:t>
            </a:r>
            <a:endParaRPr lang="en-US" sz="115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15568"/>
          <a:ext cx="5029200" cy="17221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값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왜 서버가 정하나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인계를 받을 사람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화면이 정하게 두면 아무 근무로나 인계를 보낼 수 있다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같은 환자의 다음 근무 담당을 서버가 고른다. 없으면 막는다(422)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결원 사유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사람이 쓰는 자리는 결원 등록 하나뿐. 나머지 기록은 복사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사유가 서로 달라지면 한 사건의 이력을 이어서 읽을 수 없다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화면 버튼 판정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쓰기, 확인, 읽기 중 무엇을 보여줄지를 서버가 정해서 내려준다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화면마다 따로 판단하면 규칙이 흩어진다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Image 0" descr="/Users/hwangjaewon/skala-workspace/skala-webservice-mini/assets/swagger_hand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115568"/>
            <a:ext cx="2743200" cy="26517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852160" y="1115568"/>
            <a:ext cx="2743200" cy="2651760"/>
          </a:xfrm>
          <a:prstGeom prst="rect">
            <a:avLst/>
          </a:prstGeom>
          <a:ln w="9525">
            <a:solidFill>
              <a:srgbClr val="E6E0D4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852160" y="3840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인계 작성 요청. 받을 사람 칸이 없다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548640" y="4722876"/>
            <a:ext cx="749808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48640" y="477774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화면이 요청에 넣는 번호는 반드시 어떤 조회 API 가 돌려준 값이어야 한다. 이 규칙이 없어 생긴 구멍을 검증 단계에서 찾았다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143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32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852160" y="274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07  API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막을 때 주는 답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8638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막는 이유가 다르면 답도 달라야 한다</a:t>
            </a:r>
            <a:endParaRPr lang="en-US" sz="115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33856"/>
          <a:ext cx="8046720" cy="342443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답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뜻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이 서비스에서는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17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401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로그인 안 됨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모든 요청의 기본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8A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17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B9772E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403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있긴 한데 당신은 못 본다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다른 병동, 내 인계가 아님, 액팅이 쓰려고 할 때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결원으로 등록된 사람이 받으려 할 때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17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404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그런 건 없다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없는 번호. 다른 병동을 404 로 숨기지 않았다. 둘을 섞지 않는다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17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8A7E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409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지금 상태에서는 그 일을 할 수 없다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이미 확인된 인계를 또 확인, 대체된 인계를 고치기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퇴원한 환자에게 새 인계, 같은 사람을 같은 근무에 두 번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17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8A7E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422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A292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보낸 내용이 모자라다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필수 항목이 비었음, 요약을 안 썼음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55524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대체자 없이 완료 확인, 다음 근무 담당이 아직 없음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101600" marR="1016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722876"/>
            <a:ext cx="749808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477774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인계 상태는 작성 중, 전달됨, 확인됨 순서로만 간다. 되돌아가지 않는다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143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33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852160" y="274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08  고민과 한계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고민했던 것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365760" cy="7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8A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1024128"/>
            <a:ext cx="7589520" cy="7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대시보드만 화면 전용 API  </a:t>
            </a:r>
            <a:r>
              <a:rPr lang="en-US" sz="105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네 군데 데이터를 합친다. 나누면 화면이 네 번 요청하고, 세는 규칙이 화면 쪽으로 흩어진다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774850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774850"/>
            <a:ext cx="365760" cy="7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8A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1774850"/>
            <a:ext cx="7589520" cy="7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펼쳐 보는 목록은 기존 API 를 다시 쓴다  </a:t>
            </a:r>
            <a:r>
              <a:rPr lang="en-US" sz="105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명단은 근무 조회가 이미 돌려주는 값. 또 만들면 같은 데이터가 두 곳에 정의된다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525573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525573"/>
            <a:ext cx="365760" cy="7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8A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2525573"/>
            <a:ext cx="7589520" cy="7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열어본 기록은 조회와 따로  </a:t>
            </a:r>
            <a:r>
              <a:rPr lang="en-US" sz="105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조회에 붙이면 수간호사나 액팅이 봐도 '받았다'가 된다. 그러면 확인의 뜻이 깨진다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76295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276295"/>
            <a:ext cx="365760" cy="7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77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3276295"/>
            <a:ext cx="7589520" cy="7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남은 인계는 시스템이 막지 않는다  </a:t>
            </a:r>
            <a:r>
              <a:rPr lang="en-US" sz="105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안 넘기는 게 정상인 경우가 있다(그 사이 퇴원 등). 대신 화면이 "남은 N건"을 보여주고 사람이 판단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027018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027018"/>
            <a:ext cx="365760" cy="7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77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4027018"/>
            <a:ext cx="7589520" cy="7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다른 병동은 403  </a:t>
            </a:r>
            <a:r>
              <a:rPr lang="en-US" sz="105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404 로 숨기는 게 더 방어적이지만, 권한 경계를 분명히 드러내는 쪽을 골랐다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143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34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852160" y="274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08  고민과 한계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못 한 것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24128"/>
            <a:ext cx="365760" cy="7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77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1024128"/>
            <a:ext cx="7589520" cy="7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병원 전산(EMR)과 연결이 없다  </a:t>
            </a:r>
            <a:r>
              <a:rPr lang="en-US" sz="105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공식 의무기록은 병원 전산이 맡고, 이 설계는 인계 메모만. 실제로 대체되는지는 아직 확인 전이라 같이 쓰면 두 번 입력하게 된다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774850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774850"/>
            <a:ext cx="365760" cy="7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77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1774850"/>
            <a:ext cx="7589520" cy="7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요약을 성의 있게 썼는지는 못 본다  </a:t>
            </a:r>
            <a:r>
              <a:rPr lang="en-US" sz="105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칸이 비었는지만 검사. 한 글자만 적어도 '확인됨'이 된다. 남기는 건 "누가 언제 자기 말로 적었는가"까지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525573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525573"/>
            <a:ext cx="365760" cy="7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77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2525573"/>
            <a:ext cx="7589520" cy="7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차지가 인계를 안 써도 못 막는다  </a:t>
            </a:r>
            <a:r>
              <a:rPr lang="en-US" sz="105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액팅이 "이건 적어 주세요"라고 한 걸 반영했는지 이력으로 남기는 건 범위 밖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76295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276295"/>
            <a:ext cx="365760" cy="7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77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3276295"/>
            <a:ext cx="7589520" cy="7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확인해 준 분이 한 명  </a:t>
            </a:r>
            <a:r>
              <a:rPr lang="en-US" sz="105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간호사 화면은 한 분께 확인받았고, 수간호사 화면은 아직 가설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027018"/>
            <a:ext cx="804672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027018"/>
            <a:ext cx="365760" cy="7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4027018"/>
            <a:ext cx="7589520" cy="75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앞으로  </a:t>
            </a:r>
            <a:r>
              <a:rPr lang="en-US" sz="105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접근 기록, 팀원 명단, 역할 교환 이력. 누가 뭘 열어봤는지 남기는 기록이 없고, 같은 근무 팀원이 "오늘 우리 팀 차지가 누구인지" 보는 화면도 없다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48143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37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852160" y="274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08  고민과 한계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어떻게 확인했나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249936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548640" y="1097280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8A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1명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54480"/>
            <a:ext cx="249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현직 간호사 인터뷰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810512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국내 종합병원 병동 한 곳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병동마다 다르다는 것도 같은 분께 [C]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22320" y="1024128"/>
            <a:ext cx="249936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3322320" y="1097280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8A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28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322320" y="1554480"/>
            <a:ext cx="249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리뷰 라운드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322320" y="1810512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외부 AI 리뷰와 자체 점검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사실이 아닌 걸로 밝혀진 가정 네 개를 기록으로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96000" y="1024128"/>
            <a:ext cx="249936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096000" y="1097280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8A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50/50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554480"/>
            <a:ext cx="249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실제로 돌려봄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096000" y="1810512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가상 데이터 데모로 규칙을 전부 실행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화면이 받는 값과 명세가 어긋나는 곳 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651760"/>
            <a:ext cx="45720" cy="1188720"/>
          </a:xfrm>
          <a:prstGeom prst="rect">
            <a:avLst/>
          </a:prstGeom>
          <a:solidFill>
            <a:srgbClr val="1F8A7E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768096" y="2651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국내 종합병원 병동 한 곳의 운영 방식을 기준으로 설계했습니다. 현직 간호사 한 분께 확인했고, 병동마다 운영이 다르다는 것도 같은 분께 들었습니다.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68096" y="3236976"/>
            <a:ext cx="7772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2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공식 의무기록은 병원 전산이 맡습니다. 인계 메모는 그와 따로 관리됩니다. 이 서비스는 그 인계 메모를 맡아서, 누가 썼고 누가 받아 확인했고 무엇이 바뀌었는지를 남깁니다.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722876"/>
            <a:ext cx="7498080" cy="0"/>
          </a:xfrm>
          <a:prstGeom prst="line">
            <a:avLst/>
          </a:prstGeom>
          <a:noFill/>
          <a:ln w="6350">
            <a:solidFill>
              <a:srgbClr val="E6E0D4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548640" y="477774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67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근무표가 끝나는 지점에서 시작한다. 누가 인계를 맡았고, 누가 받아 확인했는지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48640" y="22860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29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감사합니다</a:t>
            </a:r>
            <a:endParaRPr lang="en-US" sz="3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8160" y="4814316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8A867C"/>
                </a:solidFill>
                <a:latin typeface="Apple SD Gothic Neo"/>
              </a:rPr>
              <a:t>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0" y="27432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867C"/>
                </a:solidFill>
                <a:latin typeface="Apple SD Gothic Neo"/>
              </a:rPr>
              <a:t>08  고민과 한계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52120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2A2926"/>
                </a:solidFill>
                <a:latin typeface="Apple SD Gothic Neo"/>
              </a:rPr>
              <a:t>써 본 사람의 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5524B"/>
                </a:solidFill>
                <a:latin typeface="Apple SD Gothic Neo"/>
              </a:rPr>
              <a:t>현직 간호사 1명이 데모를 직접 써 봤다. 대면, 편의표본, 과제 형식은 아님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365760" cy="11536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8A7E"/>
                </a:solidFill>
                <a:latin typeface="Apple SD Gothic Ne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152144"/>
            <a:ext cx="7589520" cy="11536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A2926"/>
                </a:solidFill>
                <a:latin typeface="Apple SD Gothic Neo"/>
              </a:rPr>
              <a:t>화면은 설명 없이 읽혔다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24B"/>
                </a:solidFill>
                <a:latin typeface="Apple SD Gothic Neo"/>
              </a:rPr>
              <a:t>"한눈에 인계를 확인할 수 있어서 좋았다" [C]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867C"/>
                </a:solidFill>
                <a:latin typeface="Apple SD Gothic Neo"/>
              </a:rPr>
              <a:t>간호사 화면 = 확인 1명. 수간호사 화면은 여전히 가설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2305812"/>
            <a:ext cx="8046720" cy="0"/>
          </a:xfrm>
          <a:prstGeom prst="line">
            <a:avLst/>
          </a:prstGeom>
          <a:ln w="6350">
            <a:solidFill>
              <a:srgbClr val="E6E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2305812"/>
            <a:ext cx="365760" cy="11536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8A7E"/>
                </a:solidFill>
                <a:latin typeface="Apple SD Gothic Ne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05812"/>
            <a:ext cx="7589520" cy="11536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A2926"/>
                </a:solidFill>
                <a:latin typeface="Apple SD Gothic Neo"/>
              </a:rPr>
              <a:t>현장 규칙 두 개가 설계와 맞았다 [C]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24B"/>
                </a:solidFill>
                <a:latin typeface="Apple SD Gothic Neo"/>
              </a:rPr>
              <a:t>인계 내용은 작성한 본인만 고친다. 수간호사도 예외 없음. 우리 설계의 403(작성자 아님)과 같다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24B"/>
                </a:solidFill>
                <a:latin typeface="Apple SD Gothic Neo"/>
              </a:rPr>
              <a:t>EMR 에 적은 걸 카덱스에 또 적는 건 지금도 있고 당연한 일로 여긴다. "카덱스 대신 통합적으로 작용한다면 쓰겠다"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867C"/>
                </a:solidFill>
                <a:latin typeface="Apple SD Gothic Neo"/>
              </a:rPr>
              <a:t>이중 입력 우려는 풀렸다. 대체가 되는지는 "통합"이 조건인 긍정, 아직 조건부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3459480"/>
            <a:ext cx="8046720" cy="0"/>
          </a:xfrm>
          <a:prstGeom prst="line">
            <a:avLst/>
          </a:prstGeom>
          <a:ln w="6350">
            <a:solidFill>
              <a:srgbClr val="E6E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3459480"/>
            <a:ext cx="365760" cy="11536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8A7E"/>
                </a:solidFill>
                <a:latin typeface="Apple SD Gothic Neo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459480"/>
            <a:ext cx="7589520" cy="11536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A2926"/>
                </a:solidFill>
                <a:latin typeface="Apple SD Gothic Neo"/>
              </a:rPr>
              <a:t>가장 먼저 요청한 것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24B"/>
                </a:solidFill>
                <a:latin typeface="Apple SD Gothic Neo"/>
              </a:rPr>
              <a:t>인계해 준 사람에게 질문을 보내고, 알림이 가고, 답이 돌아오는 것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867C"/>
                </a:solidFill>
                <a:latin typeface="Apple SD Gothic Neo"/>
              </a:rPr>
              <a:t>데이터 모델에 "③ closed-loop, 범위 밖"으로 적어 둔 그 자리. 다음 순서 1번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4722876"/>
            <a:ext cx="7498080" cy="0"/>
          </a:xfrm>
          <a:prstGeom prst="line">
            <a:avLst/>
          </a:prstGeom>
          <a:ln w="6350">
            <a:solidFill>
              <a:srgbClr val="E6E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4777740"/>
            <a:ext cx="74980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867C"/>
                </a:solidFill>
                <a:latin typeface="Apple SD Gothic Neo"/>
              </a:rPr>
              <a:t>참여자는 이렇게 말했다. "간호사들은 이렇다"가 아니다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8160" y="4814316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8A867C"/>
                </a:solidFill>
                <a:latin typeface="Apple SD Gothic Neo"/>
              </a:rPr>
              <a:t>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0" y="27432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867C"/>
                </a:solidFill>
                <a:latin typeface="Apple SD Gothic Neo"/>
              </a:rPr>
              <a:t>08  고민과 한계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52120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2A2926"/>
                </a:solidFill>
                <a:latin typeface="Apple SD Gothic Neo"/>
              </a:rPr>
              <a:t>그 다음에 할 수 있는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5524B"/>
                </a:solidFill>
                <a:latin typeface="Apple SD Gothic Neo"/>
              </a:rPr>
              <a:t>요청 14건을 우리 데이터 기준으로 나누면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A2926"/>
                </a:solidFill>
                <a:latin typeface="Apple SD Gothic Neo"/>
              </a:rPr>
              <a:t>묶음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152144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A2926"/>
                </a:solidFill>
                <a:latin typeface="Apple SD Gothic Neo"/>
              </a:rPr>
              <a:t>요청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15214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A2926"/>
                </a:solidFill>
                <a:latin typeface="Apple SD Gothic Neo"/>
              </a:rPr>
              <a:t>왜 이 묶음인가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1444752"/>
            <a:ext cx="8046720" cy="0"/>
          </a:xfrm>
          <a:prstGeom prst="line">
            <a:avLst/>
          </a:prstGeom>
          <a:ln w="12700">
            <a:solidFill>
              <a:srgbClr val="1F8A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1517904"/>
            <a:ext cx="1737360" cy="7738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8A7E"/>
                </a:solidFill>
                <a:latin typeface="Apple SD Gothic Neo"/>
              </a:rPr>
              <a:t>지금 데이터에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8A7E"/>
                </a:solidFill>
                <a:latin typeface="Apple SD Gothic Neo"/>
              </a:rPr>
              <a:t>바로 붙는다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517904"/>
            <a:ext cx="3886200" cy="7738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A2926"/>
                </a:solidFill>
                <a:latin typeface="Apple SD Gothic Neo"/>
              </a:rPr>
              <a:t>질문과 답변 (인계 1건에 스레드로)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2A2926"/>
                </a:solidFill>
                <a:latin typeface="Apple SD Gothic Neo"/>
              </a:rPr>
              <a:t>의사 보고 양식 SBAR (인계 항목과 같은 구조, 양식 한 벌 더)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17904"/>
            <a:ext cx="2194560" cy="7738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24B"/>
                </a:solidFill>
                <a:latin typeface="Apple SD Gothic Neo"/>
              </a:rPr>
              <a:t>테이블 한두 개 추가로 끝난다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2291715"/>
            <a:ext cx="8046720" cy="0"/>
          </a:xfrm>
          <a:prstGeom prst="line">
            <a:avLst/>
          </a:prstGeom>
          <a:ln w="6350">
            <a:solidFill>
              <a:srgbClr val="E6E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2291715"/>
            <a:ext cx="1737360" cy="7738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9772E"/>
                </a:solidFill>
                <a:latin typeface="Apple SD Gothic Neo"/>
              </a:rPr>
              <a:t>병원 전산(EMR)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B9772E"/>
                </a:solidFill>
                <a:latin typeface="Apple SD Gothic Neo"/>
              </a:rPr>
              <a:t>연동이 먼저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291715"/>
            <a:ext cx="3886200" cy="7738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A2926"/>
                </a:solidFill>
                <a:latin typeface="Apple SD Gothic Neo"/>
              </a:rPr>
              <a:t>처방 누락 잡기 · 처치(주사 등) 알람 · 약 소진일과 연고 유효기간 계산 · 식이 신청 연동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91715"/>
            <a:ext cx="2194560" cy="7738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24B"/>
                </a:solidFill>
                <a:latin typeface="Apple SD Gothic Neo"/>
              </a:rPr>
              <a:t>처방과 투약 데이터가 우리에게 없다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3065526"/>
            <a:ext cx="8046720" cy="0"/>
          </a:xfrm>
          <a:prstGeom prst="line">
            <a:avLst/>
          </a:prstGeom>
          <a:ln w="6350">
            <a:solidFill>
              <a:srgbClr val="E6E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640" y="3065526"/>
            <a:ext cx="1737360" cy="7738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9772E"/>
                </a:solidFill>
                <a:latin typeface="Apple SD Gothic Neo"/>
              </a:rPr>
              <a:t>장비 연동이 먼저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3065526"/>
            <a:ext cx="3886200" cy="7738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A2926"/>
                </a:solidFill>
                <a:latin typeface="Apple SD Gothic Neo"/>
              </a:rPr>
              <a:t>호출벨 3회 이상이면 응급 알림 · 활력징후 관제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065526"/>
            <a:ext cx="2194560" cy="7738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24B"/>
                </a:solidFill>
                <a:latin typeface="Apple SD Gothic Neo"/>
              </a:rPr>
              <a:t>디바이스가 있어야 한다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3839337"/>
            <a:ext cx="8046720" cy="0"/>
          </a:xfrm>
          <a:prstGeom prst="line">
            <a:avLst/>
          </a:prstGeom>
          <a:ln w="6350">
            <a:solidFill>
              <a:srgbClr val="E6E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" y="3839337"/>
            <a:ext cx="1737360" cy="7738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A867C"/>
                </a:solidFill>
                <a:latin typeface="Apple SD Gothic Neo"/>
              </a:rPr>
              <a:t>다른 문제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3839337"/>
            <a:ext cx="3886200" cy="7738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A2926"/>
                </a:solidFill>
                <a:latin typeface="Apple SD Gothic Neo"/>
              </a:rPr>
              <a:t>근무표 자동 생성(처음부터 범위 밖) · 원무과 ADL 입력 · AI 신환 리포트 · 퇴원 설문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839337"/>
            <a:ext cx="2194560" cy="7738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24B"/>
                </a:solidFill>
                <a:latin typeface="Apple SD Gothic Neo"/>
              </a:rPr>
              <a:t>우리가 푼 문제(인계와 결원)와 다른 문제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4722876"/>
            <a:ext cx="7498080" cy="0"/>
          </a:xfrm>
          <a:prstGeom prst="line">
            <a:avLst/>
          </a:prstGeom>
          <a:ln w="6350">
            <a:solidFill>
              <a:srgbClr val="E6E0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4777740"/>
            <a:ext cx="74980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867C"/>
                </a:solidFill>
                <a:latin typeface="Apple SD Gothic Neo"/>
              </a:rPr>
              <a:t>14건 중 지금 모델에 바로 붙는 건 2건. 나머지는 연동이 먼저다. 그래서 이번 범위를 안 넓혔다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</TotalTime>
  <Words>3945</Words>
  <Application>Microsoft Macintosh PowerPoint</Application>
  <PresentationFormat>화면 슬라이드 쇼(16:9)</PresentationFormat>
  <Paragraphs>685</Paragraphs>
  <Slides>36</Slides>
  <Notes>36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0" baseType="lpstr">
      <vt:lpstr>Apple SD Gothic Neo</vt:lpstr>
      <vt:lpstr>Arial</vt:lpstr>
      <vt:lpstr>Menlo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SKALA 10반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너와나의인계고리 — 프로젝트 기술서</dc:title>
  <dc:subject>PptxGenJS Presentation</dc:subject>
  <dc:creator>황재원</dc:creator>
  <cp:lastModifiedBy>황재원</cp:lastModifiedBy>
  <cp:revision>4</cp:revision>
  <dcterms:created xsi:type="dcterms:W3CDTF">2026-09-16T09:12:20Z</dcterms:created>
  <dcterms:modified xsi:type="dcterms:W3CDTF">2026-09-16T15:22:06Z</dcterms:modified>
</cp:coreProperties>
</file>