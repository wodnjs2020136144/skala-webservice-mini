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6.xml" ContentType="application/vnd.openxmlformats-officedocument.presentationml.slide+xml"/>
  <Override PartName="/ppt/slides/slide3.xml" ContentType="application/vnd.openxmlformats-officedocument.presentationml.slide+xml"/>
  <Override PartName="/ppt/slides/slide34.xml" ContentType="application/vnd.openxmlformats-officedocument.presentationml.slide+xml"/>
  <Override PartName="/ppt/slides/slide37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8" r:id="rId14"/>
    <p:sldId id="269" r:id="rId15"/>
    <p:sldId id="274" r:id="rId20"/>
    <p:sldId id="275" r:id="rId21"/>
    <p:sldId id="276" r:id="rId22"/>
    <p:sldId id="281" r:id="rId27"/>
    <p:sldId id="289" r:id="rId35"/>
    <p:sldId id="292" r:id="rId38"/>
    <p:sldId id="294" r:id="rId40"/>
    <p:sldId id="295" r:id="rId41"/>
  </p:sldIdLst>
  <p:notesMasterIdLst>
    <p:notesMasterId r:id="rId4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5" Type="http://schemas.openxmlformats.org/officeDocument/2006/relationships/slide" Target="slides/slide34.xml"/><Relationship Id="rId38" Type="http://schemas.openxmlformats.org/officeDocument/2006/relationships/slide" Target="slides/slide37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notesMaster" Target="notesMasters/notesMaster1.xml"/><Relationship Id="rId43" Type="http://schemas.openxmlformats.org/officeDocument/2006/relationships/presProps" Target="presProps.xml"/><Relationship Id="rId44" Type="http://schemas.openxmlformats.org/officeDocument/2006/relationships/viewProps" Target="viewProps.xml"/><Relationship Id="rId45" Type="http://schemas.openxmlformats.org/officeDocument/2006/relationships/theme" Target="theme/theme1.xml"/><Relationship Id="rId4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첫 마디: 근무표는 누가 나오는지까지만 말합니다. 그 다음 고리가 비어 있습니다.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도메인 모르는 사람 기준 첫 장. 교대·인계·차지 세 단어만 소개한다.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세 동사만 기억시키면 뒤 화면이 전부 이 셋 중 하나로 보인다.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정의 한 문장을 그대로 읽고, '하지 않은 것'으로 범위를 먼저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Actor 가 다른 동작을 한 기능에 묶으면 권한 정의가 안 돼서 F-06 을 분리했다.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[필수] UI 흐름도는 반드시 PDF 안에 있어야 한다. 점선 4개가 두 Actor 를 잇는 지점.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필수 항목 검사는 칸이 비었는지만 본다. 내용의 성의는 안 본다. 한계 슬라이드에서 말한다.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단순 '읽음' 체크와 receiver_summary 를 가르는 지점. 첫 번째 불편의 해결.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이관하지 않는 게 정상인 경우가 있다(그 사이 퇴원 등). 그래서 API 로 막지 않고 사람이 보고 판단.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이 6개만 따라가면 인계 한 건의 일생이 설명된다. 나머지 6개는 병동, 팀, 사용자, 역할, 양식, 이력.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409 는 '지금 상태에서 그 전이는 안 된다', 422 는 '보낸 내용이 모자라다'. 섞으면 화면이 뭘 고쳐야 할지 모른다.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과제 형식은 안 했고 자유롭게 써 보게 했다. 정량 기록은 없다. V1 답과 인계 기록 규칙 3개가 여기서 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마지막 문장을 표지의 문장과 이어 닫는다.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image" Target="../media/image-1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image" Target="../media/image-2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41732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7474" y="141732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2286000"/>
            <a:ext cx="8046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600" spc="-1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너와 나의 인계고리</a:t>
            </a:r>
            <a:endParaRPr lang="en-US" sz="46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324612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 교대근무 인계·배정 웹서비스</a:t>
            </a:r>
            <a:endParaRPr lang="en-US" sz="1400" dirty="0"/>
          </a:p>
        </p:txBody>
      </p:sp>
      <p:sp>
        <p:nvSpPr>
          <p:cNvPr id="6" name="Text 4"/>
          <p:cNvSpPr txBox="1"/>
          <p:nvPr/>
        </p:nvSpPr>
        <p:spPr>
          <a:xfrm>
            <a:off x="548640" y="448513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SKALA 4기 웹서비스 미니프로젝트  판교캠퍼스 10반 P345 황재원   2026. 9. 17.</a:t>
            </a:r>
            <a:endParaRPr lang="en-US" sz="9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교대할 때 무슨 일이 일어나나</a:t>
            </a:r>
            <a:endParaRPr lang="en-US" sz="25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간호사는 하루 세 번 교대한다. 나가는 사람이 들어오는 사람에게 환자 상태를 넘긴다. 이걸 "인계"라고 한다</a:t>
            </a:r>
            <a:endParaRPr lang="en-US" sz="1200" dirty="0"/>
          </a:p>
        </p:txBody>
      </p:sp>
      <p:sp>
        <p:nvSpPr>
          <p:cNvPr id="5" name="Shape 3"/>
          <p:cNvSpPr/>
          <p:nvPr/>
        </p:nvSpPr>
        <p:spPr>
          <a:xfrm>
            <a:off x="5486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6400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밤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환자를 밤새 봤다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2880360" y="1728216"/>
            <a:ext cx="3383280" cy="292608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8" name="Text 6"/>
          <p:cNvSpPr txBox="1"/>
          <p:nvPr/>
        </p:nvSpPr>
        <p:spPr>
          <a:xfrm>
            <a:off x="2880360" y="1380744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1F8A7E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인계</a:t>
            </a:r>
            <a:endParaRPr lang="en-US" sz="1300" dirty="0"/>
          </a:p>
        </p:txBody>
      </p:sp>
      <p:sp>
        <p:nvSpPr>
          <p:cNvPr id="9" name="Text 7"/>
          <p:cNvSpPr txBox="1"/>
          <p:nvPr/>
        </p:nvSpPr>
        <p:spPr>
          <a:xfrm>
            <a:off x="2880360" y="2057400"/>
            <a:ext cx="3383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환자 상태와 주의사항을 말로, 글로 넘긴다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492240" y="1417320"/>
            <a:ext cx="2103120" cy="9144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6583680" y="1417320"/>
            <a:ext cx="19202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lnSpc>
                <a:spcPct val="115000"/>
              </a:lnSpc>
              <a:buNone/>
            </a:pPr>
            <a:r>
              <a:rPr lang="en-US" sz="13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아침 근무 간호사
</a:t>
            </a:r>
            <a:pPr algn="ctr"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이제부터 이 환자를 본다</a:t>
            </a:r>
            <a:endParaRPr lang="en-US" sz="1300" dirty="0"/>
          </a:p>
        </p:txBody>
      </p:sp>
      <p:sp>
        <p:nvSpPr>
          <p:cNvPr id="12" name="Shape 10"/>
          <p:cNvSpPr/>
          <p:nvPr/>
        </p:nvSpPr>
        <p:spPr>
          <a:xfrm>
            <a:off x="548640" y="2651760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11"/>
          <p:cNvSpPr txBox="1"/>
          <p:nvPr/>
        </p:nvSpPr>
        <p:spPr>
          <a:xfrm>
            <a:off x="548640" y="2743200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14" name="Text 12"/>
          <p:cNvSpPr txBox="1"/>
          <p:nvPr/>
        </p:nvSpPr>
        <p:spPr>
          <a:xfrm>
            <a:off x="1051560" y="2743200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넘겼다는 기록은 남는다. 받았다는 기록은 없다.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"들었다 / 못 들었다"가 갈려도 확인할 데가 없다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548640" y="3493008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6" name="Text 14"/>
          <p:cNvSpPr txBox="1"/>
          <p:nvPr/>
        </p:nvSpPr>
        <p:spPr>
          <a:xfrm>
            <a:off x="548640" y="3584448"/>
            <a:ext cx="4572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7" name="Text 15"/>
          <p:cNvSpPr txBox="1"/>
          <p:nvPr/>
        </p:nvSpPr>
        <p:spPr>
          <a:xfrm>
            <a:off x="1051560" y="3584448"/>
            <a:ext cx="7498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나오면, 수간호사가 표를 고치고 메신저로 다시 알린다.
</a:t>
            </a:r>
            <a:pPr indent="0" marL="0">
              <a:lnSpc>
                <a:spcPct val="115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지금 배정이 무엇인지, 왜 바뀌었는지가 남지 않는다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9" name="Text 17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팀의 책임 간호사를 "차지"라고 부른다. 인계는 차지가 쓰고 다음 근무의 차지가 받는다. 이 발표에 필요한 말은 이게 전부다 [C]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그래서 이 서비스는 세 가지를 한다</a:t>
            </a:r>
            <a:endParaRPr lang="en-US" sz="2500" dirty="0"/>
          </a:p>
        </p:txBody>
      </p:sp>
      <p:sp>
        <p:nvSpPr>
          <p:cNvPr id="4" name="Shape 2"/>
          <p:cNvSpPr/>
          <p:nvPr/>
        </p:nvSpPr>
        <p:spPr>
          <a:xfrm>
            <a:off x="54864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5" name="Text 3"/>
          <p:cNvSpPr txBox="1"/>
          <p:nvPr/>
        </p:nvSpPr>
        <p:spPr>
          <a:xfrm>
            <a:off x="73152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3400" dirty="0"/>
          </a:p>
        </p:txBody>
      </p:sp>
      <p:sp>
        <p:nvSpPr>
          <p:cNvPr id="6" name="Text 4"/>
          <p:cNvSpPr txBox="1"/>
          <p:nvPr/>
        </p:nvSpPr>
        <p:spPr>
          <a:xfrm>
            <a:off x="73152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정한다</a:t>
            </a:r>
            <a:endParaRPr lang="en-US" sz="1600" dirty="0"/>
          </a:p>
        </p:txBody>
      </p:sp>
      <p:sp>
        <p:nvSpPr>
          <p:cNvPr id="7" name="Text 5"/>
          <p:cNvSpPr txBox="1"/>
          <p:nvPr/>
        </p:nvSpPr>
        <p:spPr>
          <a:xfrm>
            <a:off x="73152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그날 누가 어느 환자의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맡는지</a:t>
            </a:r>
            <a:endParaRPr lang="en-US" sz="1050" dirty="0"/>
          </a:p>
        </p:txBody>
      </p:sp>
      <p:sp>
        <p:nvSpPr>
          <p:cNvPr id="8" name="Text 6"/>
          <p:cNvSpPr txBox="1"/>
          <p:nvPr/>
        </p:nvSpPr>
        <p:spPr>
          <a:xfrm>
            <a:off x="73152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수간호사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08457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0" name="Shape 8"/>
          <p:cNvSpPr/>
          <p:nvPr/>
        </p:nvSpPr>
        <p:spPr>
          <a:xfrm>
            <a:off x="332232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9"/>
          <p:cNvSpPr txBox="1"/>
          <p:nvPr/>
        </p:nvSpPr>
        <p:spPr>
          <a:xfrm>
            <a:off x="350520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3400" dirty="0"/>
          </a:p>
        </p:txBody>
      </p:sp>
      <p:sp>
        <p:nvSpPr>
          <p:cNvPr id="12" name="Text 10"/>
          <p:cNvSpPr txBox="1"/>
          <p:nvPr/>
        </p:nvSpPr>
        <p:spPr>
          <a:xfrm>
            <a:off x="350520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넘긴다</a:t>
            </a:r>
            <a:endParaRPr lang="en-US" sz="1600" dirty="0"/>
          </a:p>
        </p:txBody>
      </p:sp>
      <p:sp>
        <p:nvSpPr>
          <p:cNvPr id="13" name="Text 11"/>
          <p:cNvSpPr txBox="1"/>
          <p:nvPr/>
        </p:nvSpPr>
        <p:spPr>
          <a:xfrm>
            <a:off x="350520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병동이 정한 필수 항목이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비면 넘길 수 없다</a:t>
            </a:r>
            <a:endParaRPr lang="en-US" sz="1050" dirty="0"/>
          </a:p>
        </p:txBody>
      </p:sp>
      <p:sp>
        <p:nvSpPr>
          <p:cNvPr id="14" name="Text 12"/>
          <p:cNvSpPr txBox="1"/>
          <p:nvPr/>
        </p:nvSpPr>
        <p:spPr>
          <a:xfrm>
            <a:off x="350520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차지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5858256" y="1920240"/>
            <a:ext cx="201168" cy="182880"/>
          </a:xfrm>
          <a:prstGeom prst="rightArrow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6" name="Shape 14"/>
          <p:cNvSpPr/>
          <p:nvPr/>
        </p:nvSpPr>
        <p:spPr>
          <a:xfrm>
            <a:off x="6096000" y="1097280"/>
            <a:ext cx="2499360" cy="18288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7" name="Text 15"/>
          <p:cNvSpPr txBox="1"/>
          <p:nvPr/>
        </p:nvSpPr>
        <p:spPr>
          <a:xfrm>
            <a:off x="6278880" y="1188720"/>
            <a:ext cx="914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3400" dirty="0"/>
          </a:p>
        </p:txBody>
      </p:sp>
      <p:sp>
        <p:nvSpPr>
          <p:cNvPr id="18" name="Text 16"/>
          <p:cNvSpPr txBox="1"/>
          <p:nvPr/>
        </p:nvSpPr>
        <p:spPr>
          <a:xfrm>
            <a:off x="6278880" y="1737360"/>
            <a:ext cx="21336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확인한다</a:t>
            </a:r>
            <a:endParaRPr lang="en-US" sz="1600" dirty="0"/>
          </a:p>
        </p:txBody>
      </p:sp>
      <p:sp>
        <p:nvSpPr>
          <p:cNvPr id="19" name="Text 17"/>
          <p:cNvSpPr txBox="1"/>
          <p:nvPr/>
        </p:nvSpPr>
        <p:spPr>
          <a:xfrm>
            <a:off x="6278880" y="2084832"/>
            <a:ext cx="213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받은 사람이 핵심을 자기 말로</a:t>
            </a:r>
            <a:endParaRPr lang="en-US" sz="105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요약해야 '확인'이 된다</a:t>
            </a:r>
            <a:endParaRPr lang="en-US" sz="1050" dirty="0"/>
          </a:p>
        </p:txBody>
      </p:sp>
      <p:sp>
        <p:nvSpPr>
          <p:cNvPr id="20" name="Text 18"/>
          <p:cNvSpPr txBox="1"/>
          <p:nvPr/>
        </p:nvSpPr>
        <p:spPr>
          <a:xfrm>
            <a:off x="6278880" y="2615184"/>
            <a:ext cx="2133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다음 근무 차지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548640" y="3200400"/>
            <a:ext cx="8046720" cy="658368"/>
          </a:xfrm>
          <a:prstGeom prst="rect">
            <a:avLst/>
          </a:prstGeom>
          <a:solidFill>
            <a:srgbClr val="F8EEDD"/>
          </a:solidFill>
          <a:ln/>
        </p:spPr>
        <p:txBody>
          <a:bodyPr/>
          <a:p/>
        </p:txBody>
      </p:sp>
      <p:sp>
        <p:nvSpPr>
          <p:cNvPr id="22" name="Text 20"/>
          <p:cNvSpPr txBox="1"/>
          <p:nvPr/>
        </p:nvSpPr>
        <p:spPr>
          <a:xfrm>
            <a:off x="768096" y="3200400"/>
            <a:ext cx="760780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누가 못 나오면 1로 돌아가 다시 정한다.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바뀐 내용은 당사자 화면에 바로 뜨고, 왜 바꿨는지가 같이 남는다</a:t>
            </a:r>
            <a:endParaRPr lang="en-US" sz="1200" dirty="0"/>
          </a:p>
        </p:txBody>
      </p:sp>
      <p:sp>
        <p:nvSpPr>
          <p:cNvPr id="23" name="Shape 2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Text 2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하지 않는 것: 근무표 만들기 · 병원 전산(EMR) 연동 · 실제 환자정보 · 의학적 판단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4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01  무엇을 만들었나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무엇을 만들었나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</a:t>
            </a:r>
            <a:endParaRPr lang="en-US" sz="95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교대로 일하는 병동의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간호사와 수간호사</a:t>
            </a:r>
            <a:endParaRPr lang="en-US" sz="1150" dirty="0"/>
          </a:p>
        </p:txBody>
      </p:sp>
      <p:sp>
        <p:nvSpPr>
          <p:cNvPr id="8" name="Shape 6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32232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언제</a:t>
            </a:r>
            <a:endParaRPr lang="en-US" sz="950" dirty="0"/>
          </a:p>
        </p:txBody>
      </p:sp>
      <p:sp>
        <p:nvSpPr>
          <p:cNvPr id="10" name="Text 8"/>
          <p:cNvSpPr txBox="1"/>
          <p:nvPr/>
        </p:nvSpPr>
        <p:spPr>
          <a:xfrm>
            <a:off x="332232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교대할 때 인계를 주고받을 때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누가 빠져서 배정을 다시 짤 때</a:t>
            </a:r>
            <a:endParaRPr lang="en-US" sz="1150" dirty="0"/>
          </a:p>
        </p:txBody>
      </p:sp>
      <p:sp>
        <p:nvSpPr>
          <p:cNvPr id="11" name="Shape 9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6096000" y="1115568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1F8A7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무엇이 불편했나</a:t>
            </a:r>
            <a:endParaRPr lang="en-US" sz="950" dirty="0"/>
          </a:p>
        </p:txBody>
      </p:sp>
      <p:sp>
        <p:nvSpPr>
          <p:cNvPr id="13" name="Text 11"/>
          <p:cNvSpPr txBox="1"/>
          <p:nvPr/>
        </p:nvSpPr>
        <p:spPr>
          <a:xfrm>
            <a:off x="6096000" y="1371600"/>
            <a:ext cx="249936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인계를 누가 받았는지 남는 기록이 없다</a:t>
            </a:r>
            <a:endParaRPr lang="en-US" sz="1150" dirty="0"/>
          </a:p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배정이 바뀌면 여기저기 다시 알려야 한다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48640" y="2331720"/>
            <a:ext cx="45720" cy="932688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768096" y="2331720"/>
            <a:ext cx="777240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spc="-3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누가 무엇을 맡았고, 무엇을 주고받았는지가 남는다</a:t>
            </a:r>
            <a:endParaRPr lang="en-US" sz="1500" dirty="0"/>
          </a:p>
        </p:txBody>
      </p:sp>
      <p:sp>
        <p:nvSpPr>
          <p:cNvPr id="16" name="Text 14"/>
          <p:cNvSpPr txBox="1"/>
          <p:nvPr/>
        </p:nvSpPr>
        <p:spPr>
          <a:xfrm>
            <a:off x="768096" y="2679192"/>
            <a:ext cx="77724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0000"/>
              </a:lnSpc>
              <a:buNone/>
            </a:pPr>
            <a:r>
              <a:rPr lang="en-US" sz="11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근무표는 오늘 누가 나오는지까지만 말합니다. 그 다음 칸, 누가 인계를 맡았고 누가 받아서 확인했는지는 비어 있습니다. 그 한 칸을 붙였습니다.</a:t>
            </a:r>
            <a:endParaRPr lang="en-US" sz="11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3520440"/>
            <a:ext cx="80467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B9772E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하지 않은 것   </a:t>
            </a:r>
            <a:pPr indent="0" marL="0">
              <a:buNone/>
            </a:pPr>
            <a:r>
              <a:rPr lang="en-US" sz="10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 자동 생성, 병원 전산(EMR) 연동, 실제 환자정보, 의학적 판단이나 추천, 교육·급여·알람</a:t>
            </a:r>
            <a:endParaRPr lang="en-US" sz="10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5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03  누가 쓰고, 어디까지 보나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기능</a:t>
            </a:r>
            <a:endParaRPr lang="en-US" sz="250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024128"/>
          <a:ext cx="8046720" cy="914400"/>
        </p:xfrm>
        <a:graphic>
          <a:graphicData uri="http://schemas.openxmlformats.org/drawingml/2006/table">
            <a:tbl>
              <a:tblPr/>
              <a:tblGrid>
                <a:gridCol w="594360"/>
                <a:gridCol w="3017520"/>
                <a:gridCol w="2103120"/>
                <a:gridCol w="777240"/>
                <a:gridCol w="155448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ID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하는 일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누가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화면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막힐 때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확정된 근무표 등록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권한 없음 403, 같은 사람 중복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그날 역할과 인계 담당 정하기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403, 409, 입력 모자람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내 근무·역할·바뀐 내용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8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남의 배정 조회는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1F8A7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F-04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인계 쓰기, 받은 사람이 요약해 확인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차지가 쓰고, 다음 차지가 확인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액팅은 읽기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9, 10, 11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당사자 아님 403, 필수·요약 미입력 422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재확인·퇴원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B9772E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F-05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결원 등록, 다시 배정, 완료 확인과 이력</a:t>
                      </a:r>
                      <a:endParaRPr lang="en-US" sz="100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6, 7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422, 재확인 409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09778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F-06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병동 인계 항목 정하기 (F-04 가 쓰는 양식)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수간호사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5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0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간호사가 고치려 하면 403</a:t>
                      </a:r>
                      <a:endParaRPr lang="en-US" sz="100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6" name="Shape 3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7" name="Text 4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F-04 가 첫 번째 불편, F-05 가 두 번째 불편. 나머지 넷은 그 둘이 서려면 있어야 하는 기반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6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04  화면 흐름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화면 흐름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로그인에서 두 갈래. 실선은 화면 이동, 점선은 데이터가 넘어가는 길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ui_flo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66713" y="1152144"/>
            <a:ext cx="4810575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 11개가 전부 이 그림 안에 있다. 점선 네 개가 수간호사와 간호사를 잇는다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7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쓰기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필수 항목이 비면 넘길 수 없다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9_handover_writ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54357" y="1152144"/>
            <a:ext cx="3416599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54357" y="1152144"/>
            <a:ext cx="3416599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2110197" y="1955562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2110197" y="1955562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20086" y="1531031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820086" y="153103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35377" y="418854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35377" y="418854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80026" y="2025118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880026" y="2025118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작성을 시작하면 병동 양식을 그대로 복사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나중에 양식이 바뀌어도 이미 쓴 인계는 안 바뀐다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필수 항목이 비어 있으면 넘길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어떤 항목이 비었는지 이름까지 알려준다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/handovers/{id}/send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넘기면 '작성 중'에서 '전달됨'으로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사람은 서버가 고른다. 같은 환자의 다음 근무 담당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/handovers/{id}/items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입력한 내용은 임시저장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한 번 넘긴 뒤에는 못 고친다(409)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받을 사람을 요청에서 안 받는 이유: 받으면 아무 근무로나 인계를 보낼 수 있게 된다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8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인계 받기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요약을 써야 확인이 된다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10_handover_receive_nur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6881" y="1152144"/>
            <a:ext cx="3451551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236881" y="1152144"/>
            <a:ext cx="3451551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3214221" y="1591621"/>
            <a:ext cx="192024" cy="192024"/>
          </a:xfrm>
          <a:prstGeom prst="ellipse">
            <a:avLst/>
          </a:prstGeom>
          <a:solidFill>
            <a:srgbClr val="2E7D4F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214221" y="1591621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1869933" y="3670577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1869933" y="3670577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369238" y="4176990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369238" y="4176990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1809379" y="4012224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1809379" y="401222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2E7D4F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지금 상태는 '확인 대기'</a:t>
            </a:r>
            <a:pPr indent="0" marL="0">
              <a:lnSpc>
                <a:spcPct val="110000"/>
              </a:lnSpc>
              <a:buNone/>
            </a:pPr>
            <a:endParaRPr lang="en-US" sz="9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작성 중, 전달됨, 확인됨 순서로만 간다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PATCH /handovers/{id}/receipt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받은 사람이 자기 말로 쓴 요약이 여기 저장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이 칸이 이 서비스의 핵심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/…/receipt/confirmation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확인 처리. 이때 '확인됨'이 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보낸 사람 화면에 이 요약이 되돌아간다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· 403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요약이 없으면 확인되지 않는다(422)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그 환자를 맡은 사람이 아니면 403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화면에 들어오는 순간 '열어봤다'는 시각이 따로 남는다. 조회와 분리했다. 수간호사가 봐도 수신 기록이 되면 안 되니까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9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05  화면마다 도는 API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결원 재배정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사람이 판단하는 자리와 시스템이 막는 자리를 나눴다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6_reassign_mana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76178" y="1152144"/>
            <a:ext cx="3572956" cy="3314700"/>
          </a:xfrm>
          <a:prstGeom prst="rect">
            <a:avLst/>
          </a:prstGeom>
        </p:spPr>
      </p:pic>
      <p:sp>
        <p:nvSpPr>
          <p:cNvPr id="7" name="Shape 4"/>
          <p:cNvSpPr/>
          <p:nvPr/>
        </p:nvSpPr>
        <p:spPr>
          <a:xfrm>
            <a:off x="1176178" y="1152144"/>
            <a:ext cx="3572956" cy="3314700"/>
          </a:xfrm>
          <a:prstGeom prst="rect">
            <a:avLst/>
          </a:prstGeom>
          <a:ln w="9525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Shape 5"/>
          <p:cNvSpPr/>
          <p:nvPr/>
        </p:nvSpPr>
        <p:spPr>
          <a:xfrm>
            <a:off x="177219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177219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489290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2489290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900" dirty="0"/>
          </a:p>
        </p:txBody>
      </p:sp>
      <p:sp>
        <p:nvSpPr>
          <p:cNvPr id="12" name="Shape 9"/>
          <p:cNvSpPr/>
          <p:nvPr/>
        </p:nvSpPr>
        <p:spPr>
          <a:xfrm>
            <a:off x="3203881" y="1718069"/>
            <a:ext cx="192024" cy="192024"/>
          </a:xfrm>
          <a:prstGeom prst="ellipse">
            <a:avLst/>
          </a:prstGeom>
          <a:solidFill>
            <a:srgbClr val="B3261E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203881" y="171806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900" dirty="0"/>
          </a:p>
        </p:txBody>
      </p:sp>
      <p:sp>
        <p:nvSpPr>
          <p:cNvPr id="14" name="Shape 11"/>
          <p:cNvSpPr/>
          <p:nvPr/>
        </p:nvSpPr>
        <p:spPr>
          <a:xfrm>
            <a:off x="3968619" y="2249625"/>
            <a:ext cx="192024" cy="192024"/>
          </a:xfrm>
          <a:prstGeom prst="ellipse">
            <a:avLst/>
          </a:prstGeom>
          <a:solidFill>
            <a:srgbClr val="2F5FA8"/>
          </a:solidFill>
          <a:ln w="12700">
            <a:solidFill>
              <a:srgbClr val="FFFFFF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3968619" y="2249625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900" dirty="0"/>
          </a:p>
        </p:txBody>
      </p:sp>
      <p:sp>
        <p:nvSpPr>
          <p:cNvPr id="16" name="Shape 13"/>
          <p:cNvSpPr/>
          <p:nvPr/>
        </p:nvSpPr>
        <p:spPr>
          <a:xfrm>
            <a:off x="5577840" y="124358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17" name="Text 14"/>
          <p:cNvSpPr txBox="1"/>
          <p:nvPr/>
        </p:nvSpPr>
        <p:spPr>
          <a:xfrm>
            <a:off x="5577840" y="124358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1</a:t>
            </a:r>
            <a:endParaRPr lang="en-US" sz="850" dirty="0"/>
          </a:p>
        </p:txBody>
      </p:sp>
      <p:sp>
        <p:nvSpPr>
          <p:cNvPr id="18" name="Text 15"/>
          <p:cNvSpPr txBox="1"/>
          <p:nvPr/>
        </p:nvSpPr>
        <p:spPr>
          <a:xfrm>
            <a:off x="5870448" y="118872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/…/absence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결원 등록. 사유를 사람이 쓰는 유일한 자리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나머지 세 기록은 이 사유를 그대로 복사</a:t>
            </a:r>
            <a:endParaRPr lang="en-US" sz="850" dirty="0"/>
          </a:p>
        </p:txBody>
      </p:sp>
      <p:sp>
        <p:nvSpPr>
          <p:cNvPr id="19" name="Shape 16"/>
          <p:cNvSpPr/>
          <p:nvPr/>
        </p:nvSpPr>
        <p:spPr>
          <a:xfrm>
            <a:off x="5577840" y="198081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0" name="Shape 17"/>
          <p:cNvSpPr/>
          <p:nvPr/>
        </p:nvSpPr>
        <p:spPr>
          <a:xfrm>
            <a:off x="5577840" y="2072259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1" name="Text 18"/>
          <p:cNvSpPr txBox="1"/>
          <p:nvPr/>
        </p:nvSpPr>
        <p:spPr>
          <a:xfrm>
            <a:off x="5577840" y="207225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2</a:t>
            </a:r>
            <a:endParaRPr lang="en-US" sz="850" dirty="0"/>
          </a:p>
        </p:txBody>
      </p:sp>
      <p:sp>
        <p:nvSpPr>
          <p:cNvPr id="22" name="Text 19"/>
          <p:cNvSpPr txBox="1"/>
          <p:nvPr/>
        </p:nvSpPr>
        <p:spPr>
          <a:xfrm>
            <a:off x="5870448" y="201739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/…/substitute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누가 대신 설지 정한다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체크해 두면 결원자의 역할(차지)도 같이 넘어간다</a:t>
            </a:r>
            <a:endParaRPr lang="en-US" sz="850" dirty="0"/>
          </a:p>
        </p:txBody>
      </p:sp>
      <p:sp>
        <p:nvSpPr>
          <p:cNvPr id="23" name="Shape 20"/>
          <p:cNvSpPr/>
          <p:nvPr/>
        </p:nvSpPr>
        <p:spPr>
          <a:xfrm>
            <a:off x="5577840" y="2809494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4" name="Shape 21"/>
          <p:cNvSpPr/>
          <p:nvPr/>
        </p:nvSpPr>
        <p:spPr>
          <a:xfrm>
            <a:off x="5577840" y="2900934"/>
            <a:ext cx="192024" cy="192024"/>
          </a:xfrm>
          <a:prstGeom prst="ellipse">
            <a:avLst/>
          </a:prstGeom>
          <a:solidFill>
            <a:srgbClr val="B3261E"/>
          </a:solidFill>
          <a:ln/>
        </p:spPr>
        <p:txBody>
          <a:bodyPr/>
          <a:p/>
        </p:txBody>
      </p:sp>
      <p:sp>
        <p:nvSpPr>
          <p:cNvPr id="25" name="Text 22"/>
          <p:cNvSpPr txBox="1"/>
          <p:nvPr/>
        </p:nvSpPr>
        <p:spPr>
          <a:xfrm>
            <a:off x="5577840" y="2900934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3</a:t>
            </a:r>
            <a:endParaRPr lang="en-US" sz="850" dirty="0"/>
          </a:p>
        </p:txBody>
      </p:sp>
      <p:sp>
        <p:nvSpPr>
          <p:cNvPr id="26" name="Text 23"/>
          <p:cNvSpPr txBox="1"/>
          <p:nvPr/>
        </p:nvSpPr>
        <p:spPr>
          <a:xfrm>
            <a:off x="5870448" y="2846070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B3261E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POST /…/handover-transfer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맡고 있던 인계를 넘긴다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원래 인계는 안 지운다. '대체됨'으로 두고 새 인계를 발행</a:t>
            </a:r>
            <a:endParaRPr lang="en-US" sz="850" dirty="0"/>
          </a:p>
        </p:txBody>
      </p:sp>
      <p:sp>
        <p:nvSpPr>
          <p:cNvPr id="27" name="Shape 24"/>
          <p:cNvSpPr/>
          <p:nvPr/>
        </p:nvSpPr>
        <p:spPr>
          <a:xfrm>
            <a:off x="5577840" y="3638169"/>
            <a:ext cx="30175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8" name="Shape 25"/>
          <p:cNvSpPr/>
          <p:nvPr/>
        </p:nvSpPr>
        <p:spPr>
          <a:xfrm>
            <a:off x="5577840" y="3729609"/>
            <a:ext cx="192024" cy="192024"/>
          </a:xfrm>
          <a:prstGeom prst="ellipse">
            <a:avLst/>
          </a:prstGeom>
          <a:solidFill>
            <a:srgbClr val="2F5FA8"/>
          </a:solidFill>
          <a:ln/>
        </p:spPr>
        <p:txBody>
          <a:bodyPr/>
          <a:p/>
        </p:txBody>
      </p:sp>
      <p:sp>
        <p:nvSpPr>
          <p:cNvPr id="29" name="Text 26"/>
          <p:cNvSpPr txBox="1"/>
          <p:nvPr/>
        </p:nvSpPr>
        <p:spPr>
          <a:xfrm>
            <a:off x="5577840" y="3729609"/>
            <a:ext cx="192024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850" dirty="0">
                <a:solidFill>
                  <a:srgbClr val="FFFFFF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4</a:t>
            </a:r>
            <a:endParaRPr lang="en-US" sz="850" dirty="0"/>
          </a:p>
        </p:txBody>
      </p:sp>
      <p:sp>
        <p:nvSpPr>
          <p:cNvPr id="30" name="Text 27"/>
          <p:cNvSpPr txBox="1"/>
          <p:nvPr/>
        </p:nvSpPr>
        <p:spPr>
          <a:xfrm>
            <a:off x="5870448" y="3674745"/>
            <a:ext cx="2706624" cy="755523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850" b="1" dirty="0">
                <a:solidFill>
                  <a:srgbClr val="2F5FA8"/>
                </a:solidFill>
                <a:latin typeface="Menlo" pitchFamily="34" charset="0"/>
                <a:ea typeface="Menlo" pitchFamily="34" charset="-122"/>
                <a:cs typeface="Menlo" pitchFamily="34" charset="-120"/>
              </a:rPr>
              <a:t>422 보낸 내용이 모자람
</a:t>
            </a:r>
            <a:pPr indent="0" marL="0">
              <a:lnSpc>
                <a:spcPct val="110000"/>
              </a:lnSpc>
              <a:buNone/>
            </a:pPr>
            <a:r>
              <a:rPr lang="en-US" sz="950" dirty="0">
                <a:solidFill>
                  <a:srgbClr val="2A2926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대체자 없이 '완료'라고 적을 수 없다</a:t>
            </a:r>
            <a:pPr indent="0" marL="0">
              <a:lnSpc>
                <a:spcPct val="110000"/>
              </a:lnSpc>
              <a:buNone/>
            </a:pPr>
            <a:endParaRPr lang="en-US" sz="85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85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완료는 자동 판정이 아니라 사람의 확인 기록</a:t>
            </a:r>
            <a:endParaRPr lang="en-US" sz="850" dirty="0"/>
          </a:p>
        </p:txBody>
      </p:sp>
      <p:sp>
        <p:nvSpPr>
          <p:cNvPr id="31" name="Shape 2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32" name="Text 2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아래 목록은 "이 사람 이름으로 남은 인계 N건". 시스템이 막지 않기로 한 것을 화면이 대신 보여준다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10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06  데이터를 나눈 방법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핵심 데이터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인계 한 건이 만들어져 확인되기까지 거치는 표</a:t>
            </a:r>
            <a:endParaRPr lang="en-US" sz="1200" dirty="0"/>
          </a:p>
        </p:txBody>
      </p:sp>
      <p:pic>
        <p:nvPicPr>
          <p:cNvPr id="6" name="Image 0" descr="/Users/hwangjaewon/skala-workspace/skala-webservice-mini/assets/erd_cor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48640" y="1152144"/>
            <a:ext cx="2789190" cy="3534156"/>
          </a:xfrm>
          <a:prstGeom prst="rect">
            <a:avLst/>
          </a:prstGeom>
        </p:spPr>
      </p:pic>
      <p:sp>
        <p:nvSpPr>
          <p:cNvPr id="7" name="Text 4"/>
          <p:cNvSpPr txBox="1"/>
          <p:nvPr/>
        </p:nvSpPr>
        <p:spPr>
          <a:xfrm>
            <a:off x="3630438" y="1188720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근무, 담당, 인계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"그 근무에서 이 환자의 인계를 맡는다"를 한 줄로. 사람이 아니라 근무에 붙는다</a:t>
            </a:r>
            <a:endParaRPr lang="en-US" sz="1150" dirty="0"/>
          </a:p>
        </p:txBody>
      </p:sp>
      <p:sp>
        <p:nvSpPr>
          <p:cNvPr id="8" name="Shape 5"/>
          <p:cNvSpPr/>
          <p:nvPr/>
        </p:nvSpPr>
        <p:spPr>
          <a:xfrm>
            <a:off x="3630438" y="2035683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6"/>
          <p:cNvSpPr txBox="1"/>
          <p:nvPr/>
        </p:nvSpPr>
        <p:spPr>
          <a:xfrm>
            <a:off x="3630438" y="2072259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받았다는 기록을 따로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열어본 시각, 자기 말로 쓴 요약, 확인한 시각. 이 셋이 첫 번째 불편의 답</a:t>
            </a:r>
            <a:endParaRPr lang="en-US" sz="1150" dirty="0"/>
          </a:p>
        </p:txBody>
      </p:sp>
      <p:sp>
        <p:nvSpPr>
          <p:cNvPr id="10" name="Shape 7"/>
          <p:cNvSpPr/>
          <p:nvPr/>
        </p:nvSpPr>
        <p:spPr>
          <a:xfrm>
            <a:off x="3630438" y="2919222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1" name="Text 8"/>
          <p:cNvSpPr txBox="1"/>
          <p:nvPr/>
        </p:nvSpPr>
        <p:spPr>
          <a:xfrm>
            <a:off x="3630438" y="2955798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항목은 복사본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병동 양식을 고쳐도 이미 쓴 인계는 그대로. 지난 기록이 나중에 바뀌면 안 된다</a:t>
            </a:r>
            <a:endParaRPr lang="en-US" sz="1150" dirty="0"/>
          </a:p>
        </p:txBody>
      </p:sp>
      <p:sp>
        <p:nvSpPr>
          <p:cNvPr id="12" name="Shape 9"/>
          <p:cNvSpPr/>
          <p:nvPr/>
        </p:nvSpPr>
        <p:spPr>
          <a:xfrm>
            <a:off x="3630438" y="3802761"/>
            <a:ext cx="4964922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3" name="Text 10"/>
          <p:cNvSpPr txBox="1"/>
          <p:nvPr/>
        </p:nvSpPr>
        <p:spPr>
          <a:xfrm>
            <a:off x="3630438" y="3839337"/>
            <a:ext cx="4964922" cy="810387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2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지우지 않는다
</a:t>
            </a:r>
            <a:pPr indent="0" marL="0">
              <a:lnSpc>
                <a:spcPct val="112000"/>
              </a:lnSpc>
              <a:buNone/>
            </a:pPr>
            <a:r>
              <a:rPr lang="en-US" sz="9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담당이 바뀌면 옛 줄을 '이관됨'으로 남기고 새 줄을 만든다. 누가 언제 맡았는지가 기록</a:t>
            </a:r>
            <a:endParaRPr lang="en-US" sz="1150" dirty="0"/>
          </a:p>
        </p:txBody>
      </p:sp>
      <p:sp>
        <p:nvSpPr>
          <p:cNvPr id="14" name="Shape 11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5" name="Text 12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PK·FK 와 관계(1:N, 1:1)는 그림에, 속성 타입·unique·not null 같은 제약조건은 DBML 에. 수신 기록은 인계당 1건(unique)</a:t>
            </a:r>
            <a:endParaRPr lang="en-US" sz="900" dirty="0"/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11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07  API 24개와 막는 규칙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막을 때 주는 답</a:t>
            </a:r>
            <a:endParaRPr lang="en-US" sz="25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804672"/>
            <a:ext cx="804672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막는 이유가 다르면 답도 달라야 한다</a:t>
            </a:r>
            <a:endParaRPr lang="en-US" sz="1200" dirty="0"/>
          </a:p>
        </p:txBody>
      </p:sp>
      <p:graphicFrame>
        <p:nvGraphicFramePr>
          <p:cNvPr id="35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88720"/>
          <a:ext cx="804672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2286000"/>
                <a:gridCol w="5029200"/>
              </a:tblGrid>
              <a:tr h="347472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답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뜻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950" dirty="0">
                          <a:solidFill>
                            <a:srgbClr val="2A2926"/>
                          </a:solidFill>
                          <a:latin typeface="Pretendard Medium" pitchFamily="34" charset="0"/>
                          <a:ea typeface="Pretendard Medium" pitchFamily="34" charset="-122"/>
                          <a:cs typeface="Pretendard Medium" pitchFamily="34" charset="-120"/>
                        </a:rPr>
                        <a:t>이 서비스에서는</a:t>
                      </a:r>
                      <a:endParaRPr lang="en-US" sz="950" dirty="0">
                        <a:latin typeface="Pretendard Medium" charset="0"/>
                        <a:ea typeface="Pretendard Medium" charset="0"/>
                        <a:cs typeface="Pretendard Medium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12700" cap="flat" cmpd="sng" algn="ctr">
                      <a:solidFill>
                        <a:srgbClr val="1F8A7E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401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로그인 안 됨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모든 요청의 기본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B9772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403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있긴 한데 당신은 못 본다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다른 병동, 내 인계가 아님, 액팅이 쓰려고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결원으로 등록된 사람이 받으려 할 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2A2926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404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그런 건 없다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없는 번호. 다른 병동을 404 로 숨기지 않았다. 둘을 섞지 않는다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409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지금 상태에서는 그 일을 할 수 없다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이미 확인된 인계를 또 확인, 대체된 인계를 고치기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퇴원한 환자에게 새 인계, 같은 사람을 같은 근무에 두 번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578815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800" dirty="0">
                          <a:solidFill>
                            <a:srgbClr val="1F8A7E"/>
                          </a:solidFill>
                          <a:latin typeface="Pretendard Light" pitchFamily="34" charset="0"/>
                          <a:ea typeface="Pretendard Light" pitchFamily="34" charset="-122"/>
                          <a:cs typeface="Pretendard Light" pitchFamily="34" charset="-120"/>
                        </a:rPr>
                        <a:t>422</a:t>
                      </a:r>
                      <a:endParaRPr lang="en-US" sz="1800" dirty="0">
                        <a:latin typeface="Pretendard Light" charset="0"/>
                        <a:ea typeface="Pretendard Light" charset="0"/>
                        <a:cs typeface="Pretendard Light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2A2926"/>
                          </a:solidFill>
                          <a:latin typeface="Pretendard SemiBold" pitchFamily="34" charset="0"/>
                          <a:ea typeface="Pretendard SemiBold" pitchFamily="34" charset="-122"/>
                          <a:cs typeface="Pretendard SemiBold" pitchFamily="34" charset="-120"/>
                        </a:rPr>
                        <a:t>보낸 내용이 모자라다</a:t>
                      </a:r>
                      <a:endParaRPr lang="en-US" sz="1050" dirty="0">
                        <a:latin typeface="Pretendard SemiBold" charset="0"/>
                        <a:ea typeface="Pretendard SemiBold" charset="0"/>
                        <a:cs typeface="Pretendard SemiBol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필수 항목이 비었음, 요약을 안 썼음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  <a:p>
                      <a:pPr algn="l" indent="0" marL="0">
                        <a:buNone/>
                      </a:pPr>
                      <a:r>
                        <a:rPr lang="en-US" sz="1050" dirty="0">
                          <a:solidFill>
                            <a:srgbClr val="55524B"/>
                          </a:solidFill>
                          <a:latin typeface="Pretendard" pitchFamily="34" charset="0"/>
                          <a:ea typeface="Pretendard" pitchFamily="34" charset="-122"/>
                          <a:cs typeface="Pretendard" pitchFamily="34" charset="-120"/>
                        </a:rPr>
                        <a:t>대체자 없이 완료 확인, 다음 근무 담당이 아직 없음</a:t>
                      </a:r>
                      <a:endParaRPr lang="en-US" sz="1050" dirty="0">
                        <a:latin typeface="Pretendard" charset="0"/>
                        <a:ea typeface="Pretendard" charset="0"/>
                        <a:cs typeface="Pretendard" charset="0"/>
                      </a:endParaRPr>
                    </a:p>
                  </a:txBody>
                  <a:tcPr marL="101600" marR="101600" marT="76200" marB="76200" anchor="ctr">
                    <a:lnL w="0" cap="flat" cmpd="sng" algn="ctr">
                      <a:noFill/>
                    </a:lnL>
                    <a:lnR w="0" cap="flat" cmpd="sng" algn="ctr">
                      <a:noFill/>
                    </a:lnR>
                    <a:lnT w="0" cap="flat" cmpd="sng" algn="ctr">
                      <a:noFill/>
                    </a:lnT>
                    <a:lnB w="6350" cap="flat" cmpd="sng" algn="ctr">
                      <a:solidFill>
                        <a:srgbClr val="E6E0D4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7" name="Shape 4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8" name="Text 5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형식이 깨진 요청(400)은 프레임워크 기본 처리이고, 명세는 뜻이 모자란 요청을 422 로 통일했다. 인계 상태는 작성 중, 전달됨, 확인됨 순서로만 간다</a:t>
            </a:r>
            <a:endParaRPr lang="en-US" sz="900" dirty="0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12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23317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05000"/>
              </a:lnSpc>
              <a:buNone/>
            </a:pPr>
            <a:r>
              <a:rPr lang="en-US" sz="22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써 본 사람의 말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1554480"/>
            <a:ext cx="2331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lnSpc>
                <a:spcPct val="125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현직 간호사 1명이 데모를 직접 써 봤다. 대면, 편의표본, 과제 형식은 아님</a:t>
            </a:r>
            <a:endParaRPr lang="en-US" sz="1150" dirty="0"/>
          </a:p>
        </p:txBody>
      </p:sp>
      <p:sp>
        <p:nvSpPr>
          <p:cNvPr id="6" name="Text 4"/>
          <p:cNvSpPr txBox="1"/>
          <p:nvPr/>
        </p:nvSpPr>
        <p:spPr>
          <a:xfrm>
            <a:off x="3200400" y="365760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</a:t>
            </a:r>
            <a:endParaRPr lang="en-US" sz="2400" dirty="0"/>
          </a:p>
        </p:txBody>
      </p:sp>
      <p:sp>
        <p:nvSpPr>
          <p:cNvPr id="7" name="Text 5"/>
          <p:cNvSpPr txBox="1"/>
          <p:nvPr/>
        </p:nvSpPr>
        <p:spPr>
          <a:xfrm>
            <a:off x="3703320" y="365760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화면은 설명 없이 읽혔다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"한눈에 인계를 확인할 수 있어서 좋았다" [C]. 간호사 화면 = 확인 1명. 수간호사 화면은 여전히 가설</a:t>
            </a:r>
            <a:endParaRPr lang="en-US" sz="1200" dirty="0"/>
          </a:p>
        </p:txBody>
      </p:sp>
      <p:sp>
        <p:nvSpPr>
          <p:cNvPr id="8" name="Shape 6"/>
          <p:cNvSpPr/>
          <p:nvPr/>
        </p:nvSpPr>
        <p:spPr>
          <a:xfrm>
            <a:off x="3200400" y="1178662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9" name="Text 7"/>
          <p:cNvSpPr txBox="1"/>
          <p:nvPr/>
        </p:nvSpPr>
        <p:spPr>
          <a:xfrm>
            <a:off x="3200400" y="1178662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2</a:t>
            </a:r>
            <a:endParaRPr lang="en-US" sz="2400" dirty="0"/>
          </a:p>
        </p:txBody>
      </p:sp>
      <p:sp>
        <p:nvSpPr>
          <p:cNvPr id="10" name="Text 8"/>
          <p:cNvSpPr txBox="1"/>
          <p:nvPr/>
        </p:nvSpPr>
        <p:spPr>
          <a:xfrm>
            <a:off x="3703320" y="1178662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현장 규칙 세 개가 설계와 맞았다 [C]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인계는 차지가 쓰고 액팅은 건드리지 않는다. 작성한 본인만, 넘기기 전까지만 고친다, 수간호사도 예외 없음 → 우리 403·409 그대로. 지운 기록이 문제 된 적이 있다(차지가 "필요 없겠다" 싶어 지운 기록이 나중에 중요했다) → 우리 설계엔 지우는 동작이 없고 지난 인계는 남는다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3200400" y="1991563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2" name="Text 10"/>
          <p:cNvSpPr txBox="1"/>
          <p:nvPr/>
        </p:nvSpPr>
        <p:spPr>
          <a:xfrm>
            <a:off x="3200400" y="1991563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B9772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</a:t>
            </a:r>
            <a:endParaRPr lang="en-US" sz="2400" dirty="0"/>
          </a:p>
        </p:txBody>
      </p:sp>
      <p:sp>
        <p:nvSpPr>
          <p:cNvPr id="13" name="Text 11"/>
          <p:cNvSpPr txBox="1"/>
          <p:nvPr/>
        </p:nvSpPr>
        <p:spPr>
          <a:xfrm>
            <a:off x="3703320" y="1991563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설계와 다른 점 하나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현장은 같은 병동이면 인계 열람에 권한이 없다. 우리는 같은 팀·같은 근무로 좁혔다. 넓히는 건 판정 조건 한 줄이고 데이터 구조는 그대로. 보완으로 둔다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3200400" y="2804465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5" name="Text 13"/>
          <p:cNvSpPr txBox="1"/>
          <p:nvPr/>
        </p:nvSpPr>
        <p:spPr>
          <a:xfrm>
            <a:off x="3200400" y="2804465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4</a:t>
            </a:r>
            <a:endParaRPr lang="en-US" sz="2400" dirty="0"/>
          </a:p>
        </p:txBody>
      </p:sp>
      <p:sp>
        <p:nvSpPr>
          <p:cNvPr id="16" name="Text 14"/>
          <p:cNvSpPr txBox="1"/>
          <p:nvPr/>
        </p:nvSpPr>
        <p:spPr>
          <a:xfrm>
            <a:off x="3703320" y="2804465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이중 작성은 지금도 있다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EMR 에 적은 걸 카덱스에 또 적는 건 당연한 일로 여긴다. "카덱스 대신 통합적으로 작용한다면 쓰겠다". 이중 입력 우려는 풀렸고, 대체는 "통합"이 조건인 긍정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3200400" y="3617366"/>
            <a:ext cx="53949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3200400" y="3617366"/>
            <a:ext cx="45720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</a:t>
            </a:r>
            <a:endParaRPr lang="en-US" sz="2400" dirty="0"/>
          </a:p>
        </p:txBody>
      </p:sp>
      <p:sp>
        <p:nvSpPr>
          <p:cNvPr id="19" name="Text 17"/>
          <p:cNvSpPr txBox="1"/>
          <p:nvPr/>
        </p:nvSpPr>
        <p:spPr>
          <a:xfrm>
            <a:off x="3703320" y="3617366"/>
            <a:ext cx="4892040" cy="81290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15000"/>
              </a:lnSpc>
              <a:buNone/>
            </a:pPr>
            <a:r>
              <a:rPr lang="en-US" sz="120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가장 먼저 요청한 것
</a:t>
            </a:r>
            <a:pPr indent="0" marL="0">
              <a:lnSpc>
                <a:spcPct val="115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인계해 준 사람에게 질문을 보내고, 알림이 가고, 답이 돌아오는 것. 데이터 모델에 "③ closed-loop, 범위 밖"으로 적어 둔 그 자리. 다음 순서 1번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참여자는 이렇게 말했다. "간호사들은 이렇다"가 아니다</a:t>
            </a:r>
            <a:endParaRPr lang="en-US" sz="900" dirty="0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8138160" y="4832604"/>
            <a:ext cx="4572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13</a:t>
            </a:r>
            <a:endParaRPr lang="en-US" sz="8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4832604"/>
            <a:ext cx="457200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A867C"/>
                </a:solidFill>
                <a:latin typeface="Pretendard Medium" pitchFamily="34" charset="0"/>
                <a:ea typeface="Pretendard Medium" pitchFamily="34" charset="-122"/>
                <a:cs typeface="Pretendard Medium" pitchFamily="34" charset="-120"/>
              </a:rPr>
              <a:t>08  고민한 것, 못 한 것</a:t>
            </a:r>
            <a:endParaRPr lang="en-US" sz="800" dirty="0"/>
          </a:p>
        </p:txBody>
      </p:sp>
      <p:sp>
        <p:nvSpPr>
          <p:cNvPr id="4" name="Text 2"/>
          <p:cNvSpPr txBox="1"/>
          <p:nvPr/>
        </p:nvSpPr>
        <p:spPr>
          <a:xfrm>
            <a:off x="548640" y="292608"/>
            <a:ext cx="8046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500" spc="-6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어떻게 확인했나</a:t>
            </a:r>
            <a:endParaRPr lang="en-US" sz="2500" dirty="0"/>
          </a:p>
        </p:txBody>
      </p:sp>
      <p:sp>
        <p:nvSpPr>
          <p:cNvPr id="5" name="Shape 3"/>
          <p:cNvSpPr/>
          <p:nvPr/>
        </p:nvSpPr>
        <p:spPr>
          <a:xfrm>
            <a:off x="54864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6" name="Text 4"/>
          <p:cNvSpPr txBox="1"/>
          <p:nvPr/>
        </p:nvSpPr>
        <p:spPr>
          <a:xfrm>
            <a:off x="54864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1명</a:t>
            </a:r>
            <a:endParaRPr lang="en-US" sz="34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인터뷰 1회 + 대면 세션 1회</a:t>
            </a:r>
            <a:endParaRPr lang="en-US" sz="115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국내 종합병원 병동 한 곳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데모를 직접 써 보게 했다 [C]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332232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0" name="Text 8"/>
          <p:cNvSpPr txBox="1"/>
          <p:nvPr/>
        </p:nvSpPr>
        <p:spPr>
          <a:xfrm>
            <a:off x="332232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31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332232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리뷰 라운드</a:t>
            </a:r>
            <a:endParaRPr lang="en-US" sz="1150" dirty="0"/>
          </a:p>
        </p:txBody>
      </p:sp>
      <p:sp>
        <p:nvSpPr>
          <p:cNvPr id="12" name="Text 10"/>
          <p:cNvSpPr txBox="1"/>
          <p:nvPr/>
        </p:nvSpPr>
        <p:spPr>
          <a:xfrm>
            <a:off x="332232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외부 AI 리뷰와 자체 점검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사실이 아닌 걸로 밝혀진 가정 네 개를 기록으로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6096000" y="1042416"/>
            <a:ext cx="249936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14" name="Text 12"/>
          <p:cNvSpPr txBox="1"/>
          <p:nvPr/>
        </p:nvSpPr>
        <p:spPr>
          <a:xfrm>
            <a:off x="6096000" y="1097280"/>
            <a:ext cx="249936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dirty="0">
                <a:solidFill>
                  <a:srgbClr val="1F8A7E"/>
                </a:solidFill>
                <a:latin typeface="Pretendard Light" pitchFamily="34" charset="0"/>
                <a:ea typeface="Pretendard Light" pitchFamily="34" charset="-122"/>
                <a:cs typeface="Pretendard Light" pitchFamily="34" charset="-120"/>
              </a:rPr>
              <a:t>50/50</a:t>
            </a:r>
            <a:endParaRPr lang="en-US" sz="3400" dirty="0"/>
          </a:p>
        </p:txBody>
      </p:sp>
      <p:sp>
        <p:nvSpPr>
          <p:cNvPr id="15" name="Text 13"/>
          <p:cNvSpPr txBox="1"/>
          <p:nvPr/>
        </p:nvSpPr>
        <p:spPr>
          <a:xfrm>
            <a:off x="6096000" y="1627632"/>
            <a:ext cx="249936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실제로 돌려봄</a:t>
            </a:r>
            <a:endParaRPr lang="en-US" sz="1150" dirty="0"/>
          </a:p>
        </p:txBody>
      </p:sp>
      <p:sp>
        <p:nvSpPr>
          <p:cNvPr id="16" name="Text 14"/>
          <p:cNvSpPr txBox="1"/>
          <p:nvPr/>
        </p:nvSpPr>
        <p:spPr>
          <a:xfrm>
            <a:off x="6096000" y="1883664"/>
            <a:ext cx="24993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가상 데이터 데모로 규칙을 전부 실행</a:t>
            </a:r>
            <a:endParaRPr lang="en-US" sz="1000" dirty="0"/>
          </a:p>
          <a:p>
            <a:pPr indent="0" marL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화면이 받는 값과 명세가 어긋나는 곳 0</a:t>
            </a:r>
            <a:endParaRPr lang="en-US" sz="1000" dirty="0"/>
          </a:p>
        </p:txBody>
      </p:sp>
      <p:sp>
        <p:nvSpPr>
          <p:cNvPr id="17" name="Shape 15"/>
          <p:cNvSpPr/>
          <p:nvPr/>
        </p:nvSpPr>
        <p:spPr>
          <a:xfrm>
            <a:off x="548640" y="2697480"/>
            <a:ext cx="45720" cy="1188720"/>
          </a:xfrm>
          <a:prstGeom prst="rect">
            <a:avLst/>
          </a:prstGeom>
          <a:solidFill>
            <a:srgbClr val="1F8A7E"/>
          </a:solidFill>
          <a:ln/>
        </p:spPr>
        <p:txBody>
          <a:bodyPr/>
          <a:p/>
        </p:txBody>
      </p:sp>
      <p:sp>
        <p:nvSpPr>
          <p:cNvPr id="18" name="Text 16"/>
          <p:cNvSpPr txBox="1"/>
          <p:nvPr/>
        </p:nvSpPr>
        <p:spPr>
          <a:xfrm>
            <a:off x="768096" y="2697480"/>
            <a:ext cx="77724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2A2926"/>
                </a:solidFill>
                <a:latin typeface="Pretendard SemiBold" pitchFamily="34" charset="0"/>
                <a:ea typeface="Pretendard SemiBold" pitchFamily="34" charset="-122"/>
                <a:cs typeface="Pretendard SemiBold" pitchFamily="34" charset="-120"/>
              </a:rPr>
              <a:t>국내 종합병원 병동 한 곳의 운영 방식을 기준으로 설계했습니다. 현직 간호사 한 분께 확인했고, 병동마다 운영이 다르다는 것도 같은 분께 들었습니다.</a:t>
            </a:r>
            <a:endParaRPr lang="en-US" sz="1150" dirty="0"/>
          </a:p>
        </p:txBody>
      </p:sp>
      <p:sp>
        <p:nvSpPr>
          <p:cNvPr id="19" name="Text 17"/>
          <p:cNvSpPr txBox="1"/>
          <p:nvPr/>
        </p:nvSpPr>
        <p:spPr>
          <a:xfrm>
            <a:off x="768096" y="3282696"/>
            <a:ext cx="7772400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55524B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공식 의무기록은 병원 전산이 맡습니다. 인계 메모는 그와 따로 관리됩니다. 이 서비스는 그 인계 메모를 맡아서, 누가 썼고 누가 받아 확인했고 무엇이 바뀌었는지를 남깁니다.</a:t>
            </a:r>
            <a:endParaRPr lang="en-US" sz="1150" dirty="0"/>
          </a:p>
        </p:txBody>
      </p:sp>
      <p:sp>
        <p:nvSpPr>
          <p:cNvPr id="20" name="Shape 18"/>
          <p:cNvSpPr/>
          <p:nvPr/>
        </p:nvSpPr>
        <p:spPr>
          <a:xfrm>
            <a:off x="548640" y="4576572"/>
            <a:ext cx="8046720" cy="0"/>
          </a:xfrm>
          <a:prstGeom prst="line">
            <a:avLst/>
          </a:prstGeom>
          <a:noFill/>
          <a:ln w="6350">
            <a:solidFill>
              <a:srgbClr val="E6E0D4"/>
            </a:solidFill>
            <a:prstDash val="solid"/>
          </a:ln>
        </p:spPr>
        <p:txBody>
          <a:bodyPr/>
          <a:p/>
        </p:txBody>
      </p:sp>
      <p:sp>
        <p:nvSpPr>
          <p:cNvPr id="21" name="Text 19"/>
          <p:cNvSpPr txBox="1"/>
          <p:nvPr/>
        </p:nvSpPr>
        <p:spPr>
          <a:xfrm>
            <a:off x="548640" y="4613148"/>
            <a:ext cx="804672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8A867C"/>
                </a:solidFill>
                <a:latin typeface="Pretendard" pitchFamily="34" charset="0"/>
                <a:ea typeface="Pretendard" pitchFamily="34" charset="-122"/>
                <a:cs typeface="Pretendard" pitchFamily="34" charset="-120"/>
              </a:rPr>
              <a:t>근무표가 끝나는 지점에서 시작한다. 누가 인계를 맡았고, 누가 받아 확인했는지</a:t>
            </a:r>
            <a:endParaRPr lang="en-US" sz="900" dirty="0"/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bg>
      <p:bgPr>
        <a:solidFill>
          <a:srgbClr val="FBF8F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1737360"/>
            <a:ext cx="640080" cy="640080"/>
          </a:xfrm>
          <a:prstGeom prst="ellipse">
            <a:avLst/>
          </a:prstGeom>
          <a:ln w="31750">
            <a:solidFill>
              <a:srgbClr val="1F8A7E"/>
            </a:solidFill>
            <a:prstDash val="solid"/>
          </a:ln>
        </p:spPr>
        <p:txBody>
          <a:bodyPr/>
          <a:p/>
        </p:txBody>
      </p:sp>
      <p:sp>
        <p:nvSpPr>
          <p:cNvPr id="3" name="Shape 1"/>
          <p:cNvSpPr/>
          <p:nvPr/>
        </p:nvSpPr>
        <p:spPr>
          <a:xfrm>
            <a:off x="817474" y="1737360"/>
            <a:ext cx="640080" cy="640080"/>
          </a:xfrm>
          <a:prstGeom prst="ellipse">
            <a:avLst/>
          </a:prstGeom>
          <a:ln w="31750">
            <a:solidFill>
              <a:srgbClr val="B9772E"/>
            </a:solidFill>
            <a:prstDash val="solid"/>
          </a:ln>
        </p:spPr>
        <p:txBody>
          <a:bodyPr/>
          <a:p/>
        </p:txBody>
      </p:sp>
      <p:sp>
        <p:nvSpPr>
          <p:cNvPr id="4" name="Text 2"/>
          <p:cNvSpPr txBox="1"/>
          <p:nvPr/>
        </p:nvSpPr>
        <p:spPr>
          <a:xfrm>
            <a:off x="548640" y="2560320"/>
            <a:ext cx="804672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spc="-100" kern="0" dirty="0">
                <a:solidFill>
                  <a:srgbClr val="2A2926"/>
                </a:solidFill>
                <a:latin typeface="Pretendard ExtraBold" pitchFamily="34" charset="0"/>
                <a:ea typeface="Pretendard ExtraBold" pitchFamily="34" charset="-122"/>
                <a:cs typeface="Pretendard ExtraBold" pitchFamily="34" charset="-120"/>
              </a:rPr>
              <a:t>감사합니다</a:t>
            </a:r>
            <a:endParaRPr lang="en-US" sz="3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40</Slides>
  <Notes>40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40</vt:i4>
      </vt:variant>
    </vt:vector>
  </HeadingPairs>
  <TitlesOfParts>
    <vt:vector size="4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</vt:vector>
  </TitlesOfParts>
  <Company>SKALA 10반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너와 나의 인계고리 — 프로젝트 기술서</dc:title>
  <dc:subject>PptxGenJS Presentation</dc:subject>
  <dc:creator>황재원</dc:creator>
  <cp:lastModifiedBy>황재원</cp:lastModifiedBy>
  <cp:revision>1</cp:revision>
  <dcterms:created xsi:type="dcterms:W3CDTF">2026-09-16T23:54:37Z</dcterms:created>
  <dcterms:modified xsi:type="dcterms:W3CDTF">2026-09-16T23:54:37Z</dcterms:modified>
</cp:coreProperties>
</file>