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82"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83" r:id="rId25"/>
    <p:sldId id="278" r:id="rId26"/>
    <p:sldId id="279" r:id="rId27"/>
    <p:sldId id="280" r:id="rId28"/>
    <p:sldId id="281" r:id="rId2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608"/>
    <p:restoredTop sz="94602"/>
  </p:normalViewPr>
  <p:slideViewPr>
    <p:cSldViewPr snapToGrid="0" snapToObjects="1">
      <p:cViewPr varScale="1">
        <p:scale>
          <a:sx n="195" d="100"/>
          <a:sy n="195" d="100"/>
        </p:scale>
        <p:origin x="28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944157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제목은 너와 나의 인계고리입니다.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간호사는 하루에 세 번 교대를 합니다. 나가는 사람이 들어오는 사람에게 환자 상태를 넘기는 걸 인계라고 하고, 차지 간호사가 다음 차지에게 전달합니다. 현직 간호사 한 분께 들은 문제는 둘입니다. 넘겼다는 기록은 전산에 남지만 받았다는 기록은 안 남습니다. 한밤중에 메신저로 인계에서 오해한 부분을 다시 물어보는 걸 많이 봤습니다. 그리고 결원이 생기면 수간호사가 일일이 표를 고치고 메신저로 알립니다. 지금 배정이 뭔지, 왜 바뀐 건지는 안 남습니다.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수간호사가 누가 어느 환자의 인계를 맡을지 정합니다. 차지는 병동이 정한 항목을 작성하고 넘깁니다. 다음 차지는 자기만의 언어로 정리하고, 확인했다는 기록이 남습니다. 결원이 생기면 다시 1로 돌아갑니다.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줄로 하면 누가 뭘 맡았고 뭘 주고받았는지 기록이 남는 서비스입니다. 근무표의 그 다음 칸을 붙였습니다.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단어 다섯 개만 짚고 가겠습니다. 듀티는 데이, 이브닝, 나이트 세 근무. 차지는 그 근무조의 책임 간호사로 인계를 쓰고 받는 사람. 액팅은 같이 일하지만 공식 작성자는 아닙니다. 인계는 다음 근무자에게 넘기는 환자 상태와 주의사항. 결원은 나오기로 한 사람이 못 나오는 것입니다.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액터는 둘입니다. 수간호사는 병동 전체를 보고 근무표, 역할, 인계 담당을 정하고 결원이면 재배정합니다. 간호사는 내 근무와 우리 팀 환자, 내가 맡은 인계만 봅니다. 다른 병동 사람은 아무것도 못 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기능은 6개인데 핵심은 둘입니다. F-04가 첫 번째 불편, F-05가 두 번째 불편에 대한 답입니다.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로그인에서 두 갈래, 왼쪽이 수간호사, 오른쪽이 간호사입니다. 실선은 화면 이동, 점선은 데이터가 넘어가는 길입니다.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 화면들은 실제로 도는 데모를 찍은 캡처입니다. 가상 데이터입니다.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하나로 내 근무와 역할, 우리 팀 환자를 한 번에 가져옵니다. 나에게 온 인계와 내가 넘길 인계가 한 화면에 있습니다.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병동 양식이 그대로 복사됩니다. 필수 항목이 비면 넘길 수 없고, 넘기면 전달됨이 되고 고칠 수 없습니다. 받을 사람은 요청에 없습니다. 서버가 다음 근무 담당을 고릅니다.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들어오는 순간 열어봤다는 시점이 기록됩니다. 받은 사람은 자기 말로 요약을 쓰고 확인 처리합니다. 요약이 없으면 확인이 안 됩니다. 이게 받았다는 기록입니다.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4단계입니다. 결원 등록, 대체자 배정, 인계 담당 이관, 대체 완료 확인. 사유는 한 번만 쓰고 나머지는 서버가 복사합니다.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수간호사 첫 화면에선 병동의 현 상황을 파악할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간호사마다 차지, 서브차지, 액팅을 고르고 어느 입원 건의 인계를 맡을지 정합니다.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나머지 화면들입니다.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뭘 바꾸고 썼는지 모든 기록이 남습니다.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인계 한 건은 이 여섯 개만 따라가면 됩니다. 인계 담당은 사람이 아니라 근무에 붙습니다. 인계도 사람 사이가 아니라 담당 사이에서 흐릅니다. 받았다는 기록은 따로 뒀습니다. 인계 항목은 복사본이라 양식을 고쳐도 지난 기록이 안 바뀝니다. 담당이 바뀌어도 이전 기록을 지우지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12개 테이블, 7개 enum 전체입니다. 조직과 사람, 근무·환자·담당, 인계 세 묶음이라는 것만 알고 넘기겠습니다.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OpenAPI로 24개입니다. 화면 11개의 동작을 먼저 세고 겹치는 걸 빼서 24개. 공통 스키마는 components에 두고 $ref로 재사용했습니다.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DELETE가 없습니다. 지울 사건이 없어서입니다. 결원, 이관, 대체, 퇴원 전부 상태로 남깁니다.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화면이 정하게 두면 깨지는 값들은 body에서 일부러 뺐습니다. 규칙을 한 곳에 두기 위해서입니다.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막는 이유가 다르면 답도 달라야 합니다. 403은 권한, 409는 지금 상태에선 안 된다, 422는 보낸 내용이 모자라다. 섞지 않았습니다.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설계하면서 고민한 다섯 가지입니다. 대시보드만 화면 전용 API로 뒀고, 펼쳐 보는 목록은 기존 API를 다시 씁니다. 열어본 기록은 조회와 분리했습니다. 남은 인계는 시스템이 막지 않고 사람이 판단합니다. 다른 병동은 404로 숨기지 않고 403으로 답합니다.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공식 의무기록은 병원 전산 EMR이 맡고, 제 설계는 인계 메모만 맡습니다. 현장의 카덱스와 통합된다면 쓰겠다는 조건부 의견을 들었습니다.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현직 간호사 한 분이 데모를 직접 썼습니다. 한눈에 확인돼서 좋았다, 가장 먼저 원한 건 질문 기능. 작성자만 고친다는 현장 규칙은 설계와 맞았습니다.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국내 종합병원 한 병동 기준. 인터뷰 한 번, 세션 한 번, 리뷰 32라운드. 데모로 돌려 어긋난 곳 0.</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근무표가 끝나는 지점에서 시작한다.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548640" y="2571750"/>
            <a:ext cx="8046720" cy="914400"/>
          </a:xfrm>
          <a:prstGeom prst="rect">
            <a:avLst/>
          </a:prstGeom>
          <a:noFill/>
          <a:ln/>
        </p:spPr>
        <p:txBody>
          <a:bodyPr wrap="square" lIns="0" tIns="0" rIns="0" bIns="0" rtlCol="0" anchor="ctr"/>
          <a:lstStyle/>
          <a:p>
            <a:pPr marL="0" indent="0">
              <a:buNone/>
            </a:pPr>
            <a:r>
              <a:rPr lang="en-US" sz="4600" kern="0" spc="-160" dirty="0">
                <a:solidFill>
                  <a:srgbClr val="2B333C"/>
                </a:solidFill>
                <a:latin typeface="Nanum Pen" pitchFamily="34" charset="0"/>
                <a:ea typeface="Nanum Pen" pitchFamily="34" charset="-122"/>
                <a:cs typeface="Nanum Pen" pitchFamily="34" charset="-120"/>
              </a:rPr>
              <a:t>너와 나의 인계고리</a:t>
            </a:r>
            <a:endParaRPr lang="en-US" sz="4600" dirty="0"/>
          </a:p>
        </p:txBody>
      </p:sp>
      <p:sp>
        <p:nvSpPr>
          <p:cNvPr id="20" name="Text 18"/>
          <p:cNvSpPr txBox="1"/>
          <p:nvPr/>
        </p:nvSpPr>
        <p:spPr>
          <a:xfrm>
            <a:off x="548640" y="3533242"/>
            <a:ext cx="8046720" cy="274320"/>
          </a:xfrm>
          <a:prstGeom prst="rect">
            <a:avLst/>
          </a:prstGeom>
          <a:noFill/>
          <a:ln/>
        </p:spPr>
        <p:txBody>
          <a:bodyPr wrap="square" lIns="0" tIns="0" rIns="0" bIns="0" rtlCol="0" anchor="ctr"/>
          <a:lstStyle/>
          <a:p>
            <a:pPr marL="0" indent="0">
              <a:buNone/>
            </a:pPr>
            <a:r>
              <a:rPr lang="en-US" sz="1800" dirty="0">
                <a:solidFill>
                  <a:srgbClr val="5A6069"/>
                </a:solidFill>
                <a:latin typeface="Nanum Pen" pitchFamily="34" charset="0"/>
                <a:ea typeface="Nanum Pen" pitchFamily="34" charset="-122"/>
                <a:cs typeface="Nanum Pen" pitchFamily="34" charset="-120"/>
              </a:rPr>
              <a:t>간호사 교대근무 인계·배정 웹서비스</a:t>
            </a:r>
            <a:endParaRPr lang="en-US" sz="1800" dirty="0"/>
          </a:p>
        </p:txBody>
      </p:sp>
      <p:sp>
        <p:nvSpPr>
          <p:cNvPr id="21" name="Text 19"/>
          <p:cNvSpPr txBox="1"/>
          <p:nvPr/>
        </p:nvSpPr>
        <p:spPr>
          <a:xfrm>
            <a:off x="548640" y="4485132"/>
            <a:ext cx="8046720" cy="237744"/>
          </a:xfrm>
          <a:prstGeom prst="rect">
            <a:avLst/>
          </a:prstGeom>
          <a:noFill/>
          <a:ln/>
        </p:spPr>
        <p:txBody>
          <a:bodyPr wrap="square" lIns="0" tIns="0" rIns="0" bIns="0" rtlCol="0" anchor="ctr"/>
          <a:lstStyle/>
          <a:p>
            <a:pPr marL="0" indent="0">
              <a:buNone/>
            </a:pPr>
            <a:r>
              <a:rPr lang="en-US" sz="950" dirty="0">
                <a:solidFill>
                  <a:srgbClr val="8C9199"/>
                </a:solidFill>
                <a:latin typeface="Pretendard Medium" pitchFamily="34" charset="0"/>
                <a:ea typeface="Pretendard Medium" pitchFamily="34" charset="-122"/>
                <a:cs typeface="Pretendard Medium" pitchFamily="34" charset="-120"/>
              </a:rPr>
              <a:t>SKALA 4기 웹서비스 미니프로젝트  판교캠퍼스 10반 P345 황재원   2026. 9. 17.</a:t>
            </a:r>
            <a:endParaRPr lang="en-US" sz="950" dirty="0"/>
          </a:p>
        </p:txBody>
      </p:sp>
      <p:pic>
        <p:nvPicPr>
          <p:cNvPr id="22" name="그림 21">
            <a:extLst>
              <a:ext uri="{FF2B5EF4-FFF2-40B4-BE49-F238E27FC236}">
                <a16:creationId xmlns:a16="http://schemas.microsoft.com/office/drawing/2014/main" id="{0364CE56-A7FD-76C6-2E8B-0C3F3CA762E6}"/>
              </a:ext>
            </a:extLst>
          </p:cNvPr>
          <p:cNvPicPr>
            <a:picLocks noChangeAspect="1"/>
          </p:cNvPicPr>
          <p:nvPr/>
        </p:nvPicPr>
        <p:blipFill>
          <a:blip r:embed="rId3"/>
          <a:stretch>
            <a:fillRect/>
          </a:stretch>
        </p:blipFill>
        <p:spPr>
          <a:xfrm>
            <a:off x="0" y="1267359"/>
            <a:ext cx="2624309" cy="174953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2</a:t>
            </a:r>
            <a:endParaRPr lang="en-US" sz="800" dirty="0"/>
          </a:p>
        </p:txBody>
      </p:sp>
      <p:sp>
        <p:nvSpPr>
          <p:cNvPr id="20" name="Text 18"/>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교대할 때 무슨 일이 일어나나</a:t>
            </a:r>
            <a:endParaRPr lang="en-US" sz="2500" dirty="0"/>
          </a:p>
        </p:txBody>
      </p:sp>
      <p:sp>
        <p:nvSpPr>
          <p:cNvPr id="21" name="Text 19"/>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간호사는 하루 세 번 교대한다. 나가는 사람이 들어오는 사람에게 환자 상태를 넘긴다. 이걸 "인계"라고 한다</a:t>
            </a:r>
            <a:endParaRPr lang="en-US" sz="1200" dirty="0"/>
          </a:p>
        </p:txBody>
      </p:sp>
      <p:sp>
        <p:nvSpPr>
          <p:cNvPr id="22" name="Shape 20"/>
          <p:cNvSpPr/>
          <p:nvPr/>
        </p:nvSpPr>
        <p:spPr>
          <a:xfrm>
            <a:off x="548640" y="1417320"/>
            <a:ext cx="2103120" cy="914400"/>
          </a:xfrm>
          <a:prstGeom prst="rect">
            <a:avLst/>
          </a:prstGeom>
          <a:ln w="9525">
            <a:solidFill>
              <a:srgbClr val="E4E2DB"/>
            </a:solidFill>
            <a:prstDash val="solid"/>
          </a:ln>
        </p:spPr>
        <p:txBody>
          <a:bodyPr/>
          <a:lstStyle/>
          <a:p>
            <a:endParaRPr/>
          </a:p>
        </p:txBody>
      </p:sp>
      <p:sp>
        <p:nvSpPr>
          <p:cNvPr id="23" name="Text 21"/>
          <p:cNvSpPr txBox="1"/>
          <p:nvPr/>
        </p:nvSpPr>
        <p:spPr>
          <a:xfrm>
            <a:off x="640080" y="1417320"/>
            <a:ext cx="1920240" cy="914400"/>
          </a:xfrm>
          <a:prstGeom prst="rect">
            <a:avLst/>
          </a:prstGeom>
          <a:noFill/>
          <a:ln/>
        </p:spPr>
        <p:txBody>
          <a:bodyPr wrap="square" lIns="0" tIns="0" rIns="0" bIns="0" rtlCol="0" anchor="ctr"/>
          <a:lstStyle/>
          <a:p>
            <a:pPr marL="0" indent="0" algn="ctr">
              <a:lnSpc>
                <a:spcPct val="115000"/>
              </a:lnSpc>
              <a:buNone/>
            </a:pPr>
            <a:r>
              <a:rPr lang="ko-KR" altLang="en-US" sz="1300" dirty="0">
                <a:solidFill>
                  <a:srgbClr val="2B333C"/>
                </a:solidFill>
                <a:latin typeface="Pretendard SemiBold" pitchFamily="34" charset="0"/>
                <a:ea typeface="Pretendard SemiBold" pitchFamily="34" charset="-122"/>
                <a:cs typeface="Pretendard SemiBold" pitchFamily="34" charset="-120"/>
              </a:rPr>
              <a:t>야간</a:t>
            </a:r>
            <a:r>
              <a:rPr lang="en-US" sz="1300" dirty="0">
                <a:solidFill>
                  <a:srgbClr val="2B333C"/>
                </a:solidFill>
                <a:latin typeface="Pretendard SemiBold" pitchFamily="34" charset="0"/>
                <a:ea typeface="Pretendard SemiBold" pitchFamily="34" charset="-122"/>
                <a:cs typeface="Pretendard SemiBold" pitchFamily="34" charset="-120"/>
              </a:rPr>
              <a:t> 근무 간호사
</a:t>
            </a:r>
            <a:r>
              <a:rPr lang="en-US" sz="1000" dirty="0">
                <a:solidFill>
                  <a:srgbClr val="5A6069"/>
                </a:solidFill>
                <a:latin typeface="Pretendard" pitchFamily="34" charset="0"/>
                <a:ea typeface="Pretendard" pitchFamily="34" charset="-122"/>
                <a:cs typeface="Pretendard" pitchFamily="34" charset="-120"/>
              </a:rPr>
              <a:t>환자를 밤새 봤다</a:t>
            </a:r>
            <a:endParaRPr lang="en-US" sz="1300" dirty="0"/>
          </a:p>
        </p:txBody>
      </p:sp>
      <p:sp>
        <p:nvSpPr>
          <p:cNvPr id="24" name="Shape 22"/>
          <p:cNvSpPr/>
          <p:nvPr/>
        </p:nvSpPr>
        <p:spPr>
          <a:xfrm>
            <a:off x="2880360" y="1728216"/>
            <a:ext cx="3383280" cy="292608"/>
          </a:xfrm>
          <a:prstGeom prst="rightArrow">
            <a:avLst/>
          </a:prstGeom>
          <a:solidFill>
            <a:srgbClr val="C24A31"/>
          </a:solidFill>
          <a:ln/>
        </p:spPr>
        <p:txBody>
          <a:bodyPr/>
          <a:lstStyle/>
          <a:p>
            <a:endParaRPr/>
          </a:p>
        </p:txBody>
      </p:sp>
      <p:sp>
        <p:nvSpPr>
          <p:cNvPr id="25" name="Text 23"/>
          <p:cNvSpPr txBox="1"/>
          <p:nvPr/>
        </p:nvSpPr>
        <p:spPr>
          <a:xfrm>
            <a:off x="2880360" y="1380744"/>
            <a:ext cx="3383280" cy="274320"/>
          </a:xfrm>
          <a:prstGeom prst="rect">
            <a:avLst/>
          </a:prstGeom>
          <a:noFill/>
          <a:ln/>
        </p:spPr>
        <p:txBody>
          <a:bodyPr wrap="square" lIns="0" tIns="0" rIns="0" bIns="0" rtlCol="0" anchor="ctr"/>
          <a:lstStyle/>
          <a:p>
            <a:pPr marL="0" indent="0" algn="ctr">
              <a:buNone/>
            </a:pPr>
            <a:r>
              <a:rPr lang="en-US" sz="1300" dirty="0">
                <a:solidFill>
                  <a:srgbClr val="C24A31"/>
                </a:solidFill>
                <a:latin typeface="Pretendard SemiBold" pitchFamily="34" charset="0"/>
                <a:ea typeface="Pretendard SemiBold" pitchFamily="34" charset="-122"/>
                <a:cs typeface="Pretendard SemiBold" pitchFamily="34" charset="-120"/>
              </a:rPr>
              <a:t>인계</a:t>
            </a:r>
            <a:endParaRPr lang="en-US" sz="1300" dirty="0"/>
          </a:p>
        </p:txBody>
      </p:sp>
      <p:sp>
        <p:nvSpPr>
          <p:cNvPr id="26" name="Text 24"/>
          <p:cNvSpPr txBox="1"/>
          <p:nvPr/>
        </p:nvSpPr>
        <p:spPr>
          <a:xfrm>
            <a:off x="2880360" y="2057400"/>
            <a:ext cx="3383280" cy="274320"/>
          </a:xfrm>
          <a:prstGeom prst="rect">
            <a:avLst/>
          </a:prstGeom>
          <a:noFill/>
          <a:ln/>
        </p:spPr>
        <p:txBody>
          <a:bodyPr wrap="square" lIns="0" tIns="0" rIns="0" bIns="0" rtlCol="0" anchor="ctr"/>
          <a:lstStyle/>
          <a:p>
            <a:pPr marL="0" indent="0" algn="ctr">
              <a:buNone/>
            </a:pPr>
            <a:r>
              <a:rPr lang="en-US" sz="1000" dirty="0">
                <a:solidFill>
                  <a:srgbClr val="5A6069"/>
                </a:solidFill>
                <a:latin typeface="Pretendard" pitchFamily="34" charset="0"/>
                <a:ea typeface="Pretendard" pitchFamily="34" charset="-122"/>
                <a:cs typeface="Pretendard" pitchFamily="34" charset="-120"/>
              </a:rPr>
              <a:t>환자 상태와 주의사항을 말로, 글로 넘긴다</a:t>
            </a:r>
            <a:endParaRPr lang="en-US" sz="1000" dirty="0"/>
          </a:p>
        </p:txBody>
      </p:sp>
      <p:sp>
        <p:nvSpPr>
          <p:cNvPr id="27" name="Shape 25"/>
          <p:cNvSpPr/>
          <p:nvPr/>
        </p:nvSpPr>
        <p:spPr>
          <a:xfrm>
            <a:off x="6492240" y="1417320"/>
            <a:ext cx="2103120" cy="914400"/>
          </a:xfrm>
          <a:prstGeom prst="rect">
            <a:avLst/>
          </a:prstGeom>
          <a:ln w="9525">
            <a:solidFill>
              <a:srgbClr val="E4E2DB"/>
            </a:solidFill>
            <a:prstDash val="solid"/>
          </a:ln>
        </p:spPr>
        <p:txBody>
          <a:bodyPr/>
          <a:lstStyle/>
          <a:p>
            <a:endParaRPr/>
          </a:p>
        </p:txBody>
      </p:sp>
      <p:sp>
        <p:nvSpPr>
          <p:cNvPr id="28" name="Text 26"/>
          <p:cNvSpPr txBox="1"/>
          <p:nvPr/>
        </p:nvSpPr>
        <p:spPr>
          <a:xfrm>
            <a:off x="6583680" y="1417320"/>
            <a:ext cx="1920240" cy="914400"/>
          </a:xfrm>
          <a:prstGeom prst="rect">
            <a:avLst/>
          </a:prstGeom>
          <a:noFill/>
          <a:ln/>
        </p:spPr>
        <p:txBody>
          <a:bodyPr wrap="square" lIns="0" tIns="0" rIns="0" bIns="0" rtlCol="0" anchor="ctr"/>
          <a:lstStyle/>
          <a:p>
            <a:pPr marL="0" indent="0" algn="ctr">
              <a:lnSpc>
                <a:spcPct val="115000"/>
              </a:lnSpc>
              <a:buNone/>
            </a:pPr>
            <a:r>
              <a:rPr lang="en-US" sz="1300" dirty="0">
                <a:solidFill>
                  <a:srgbClr val="2B333C"/>
                </a:solidFill>
                <a:latin typeface="Pretendard SemiBold" pitchFamily="34" charset="0"/>
                <a:ea typeface="Pretendard SemiBold" pitchFamily="34" charset="-122"/>
                <a:cs typeface="Pretendard SemiBold" pitchFamily="34" charset="-120"/>
              </a:rPr>
              <a:t>아침 근무 간호사
</a:t>
            </a:r>
            <a:r>
              <a:rPr lang="en-US" sz="1000" dirty="0">
                <a:solidFill>
                  <a:srgbClr val="5A6069"/>
                </a:solidFill>
                <a:latin typeface="Pretendard" pitchFamily="34" charset="0"/>
                <a:ea typeface="Pretendard" pitchFamily="34" charset="-122"/>
                <a:cs typeface="Pretendard" pitchFamily="34" charset="-120"/>
              </a:rPr>
              <a:t>이제부터 이 환자를 본다</a:t>
            </a:r>
            <a:endParaRPr lang="en-US" sz="1300" dirty="0"/>
          </a:p>
        </p:txBody>
      </p:sp>
      <p:sp>
        <p:nvSpPr>
          <p:cNvPr id="29" name="Shape 27"/>
          <p:cNvSpPr/>
          <p:nvPr/>
        </p:nvSpPr>
        <p:spPr>
          <a:xfrm>
            <a:off x="548640" y="2651760"/>
            <a:ext cx="8046720" cy="0"/>
          </a:xfrm>
          <a:prstGeom prst="line">
            <a:avLst/>
          </a:prstGeom>
          <a:noFill/>
          <a:ln w="6350">
            <a:solidFill>
              <a:srgbClr val="E4E2DB"/>
            </a:solidFill>
            <a:prstDash val="solid"/>
          </a:ln>
        </p:spPr>
        <p:txBody>
          <a:bodyPr/>
          <a:lstStyle/>
          <a:p>
            <a:endParaRPr/>
          </a:p>
        </p:txBody>
      </p:sp>
      <p:sp>
        <p:nvSpPr>
          <p:cNvPr id="30" name="Text 28"/>
          <p:cNvSpPr txBox="1"/>
          <p:nvPr/>
        </p:nvSpPr>
        <p:spPr>
          <a:xfrm>
            <a:off x="548640" y="2743200"/>
            <a:ext cx="457200" cy="640080"/>
          </a:xfrm>
          <a:prstGeom prst="rect">
            <a:avLst/>
          </a:prstGeom>
          <a:noFill/>
          <a:ln/>
        </p:spPr>
        <p:txBody>
          <a:bodyPr wrap="square" lIns="0" tIns="0" rIns="0" bIns="0" rtlCol="0" anchor="ctr"/>
          <a:lstStyle/>
          <a:p>
            <a:pPr marL="0" indent="0">
              <a:buNone/>
            </a:pPr>
            <a:r>
              <a:rPr lang="en-US" sz="2400" dirty="0">
                <a:solidFill>
                  <a:srgbClr val="C24A31"/>
                </a:solidFill>
                <a:latin typeface="Pretendard Light" pitchFamily="34" charset="0"/>
                <a:ea typeface="Pretendard Light" pitchFamily="34" charset="-122"/>
                <a:cs typeface="Pretendard Light" pitchFamily="34" charset="-120"/>
              </a:rPr>
              <a:t>1</a:t>
            </a:r>
            <a:endParaRPr lang="en-US" sz="2400" dirty="0"/>
          </a:p>
        </p:txBody>
      </p:sp>
      <p:sp>
        <p:nvSpPr>
          <p:cNvPr id="31" name="Text 29"/>
          <p:cNvSpPr txBox="1"/>
          <p:nvPr/>
        </p:nvSpPr>
        <p:spPr>
          <a:xfrm>
            <a:off x="1051560" y="2743200"/>
            <a:ext cx="7498080" cy="640080"/>
          </a:xfrm>
          <a:prstGeom prst="rect">
            <a:avLst/>
          </a:prstGeom>
          <a:noFill/>
          <a:ln/>
        </p:spPr>
        <p:txBody>
          <a:bodyPr wrap="square" lIns="0" tIns="0" rIns="0" bIns="0" rtlCol="0" anchor="ctr"/>
          <a:lstStyle/>
          <a:p>
            <a:pPr marL="0" indent="0">
              <a:lnSpc>
                <a:spcPct val="115000"/>
              </a:lnSpc>
              <a:buNone/>
            </a:pPr>
            <a:r>
              <a:rPr lang="en-US" sz="1250" dirty="0">
                <a:solidFill>
                  <a:srgbClr val="2B333C"/>
                </a:solidFill>
                <a:latin typeface="Pretendard SemiBold" pitchFamily="34" charset="0"/>
                <a:ea typeface="Pretendard SemiBold" pitchFamily="34" charset="-122"/>
                <a:cs typeface="Pretendard SemiBold" pitchFamily="34" charset="-120"/>
              </a:rPr>
              <a:t>넘겼다는 기록은 남는다. 받았다는 기록은 없다.
</a:t>
            </a:r>
            <a:r>
              <a:rPr lang="en-US" sz="1050" dirty="0">
                <a:solidFill>
                  <a:srgbClr val="5A6069"/>
                </a:solidFill>
                <a:latin typeface="Pretendard" pitchFamily="34" charset="0"/>
                <a:ea typeface="Pretendard" pitchFamily="34" charset="-122"/>
                <a:cs typeface="Pretendard" pitchFamily="34" charset="-120"/>
              </a:rPr>
              <a:t>나중에 "들었다 / 못 들었다"가 갈려도 확인할 데가 없다</a:t>
            </a:r>
            <a:endParaRPr lang="en-US" sz="1250" dirty="0"/>
          </a:p>
        </p:txBody>
      </p:sp>
      <p:sp>
        <p:nvSpPr>
          <p:cNvPr id="33" name="Text 31"/>
          <p:cNvSpPr txBox="1"/>
          <p:nvPr/>
        </p:nvSpPr>
        <p:spPr>
          <a:xfrm>
            <a:off x="548640" y="3584448"/>
            <a:ext cx="457200" cy="640080"/>
          </a:xfrm>
          <a:prstGeom prst="rect">
            <a:avLst/>
          </a:prstGeom>
          <a:noFill/>
          <a:ln/>
        </p:spPr>
        <p:txBody>
          <a:bodyPr wrap="square" lIns="0" tIns="0" rIns="0" bIns="0" rtlCol="0" anchor="ctr"/>
          <a:lstStyle/>
          <a:p>
            <a:pPr marL="0" indent="0">
              <a:buNone/>
            </a:pPr>
            <a:r>
              <a:rPr lang="en-US" sz="2400" dirty="0">
                <a:solidFill>
                  <a:srgbClr val="C24A31"/>
                </a:solidFill>
                <a:latin typeface="Pretendard Light" pitchFamily="34" charset="0"/>
                <a:ea typeface="Pretendard Light" pitchFamily="34" charset="-122"/>
                <a:cs typeface="Pretendard Light" pitchFamily="34" charset="-120"/>
              </a:rPr>
              <a:t>2</a:t>
            </a:r>
            <a:endParaRPr lang="en-US" sz="2400" dirty="0"/>
          </a:p>
        </p:txBody>
      </p:sp>
      <p:sp>
        <p:nvSpPr>
          <p:cNvPr id="34" name="Text 32"/>
          <p:cNvSpPr txBox="1"/>
          <p:nvPr/>
        </p:nvSpPr>
        <p:spPr>
          <a:xfrm>
            <a:off x="1051560" y="3584448"/>
            <a:ext cx="7498080" cy="640080"/>
          </a:xfrm>
          <a:prstGeom prst="rect">
            <a:avLst/>
          </a:prstGeom>
          <a:noFill/>
          <a:ln/>
        </p:spPr>
        <p:txBody>
          <a:bodyPr wrap="square" lIns="0" tIns="0" rIns="0" bIns="0" rtlCol="0" anchor="ctr"/>
          <a:lstStyle/>
          <a:p>
            <a:pPr marL="0" indent="0">
              <a:lnSpc>
                <a:spcPct val="115000"/>
              </a:lnSpc>
              <a:buNone/>
            </a:pPr>
            <a:r>
              <a:rPr lang="en-US" sz="1250" dirty="0">
                <a:solidFill>
                  <a:srgbClr val="2B333C"/>
                </a:solidFill>
                <a:latin typeface="Pretendard SemiBold" pitchFamily="34" charset="0"/>
                <a:ea typeface="Pretendard SemiBold" pitchFamily="34" charset="-122"/>
                <a:cs typeface="Pretendard SemiBold" pitchFamily="34" charset="-120"/>
              </a:rPr>
              <a:t>누가 못 나오면, 수간호사가 표를 고치고 메신저로 다시 알린다.
</a:t>
            </a:r>
            <a:r>
              <a:rPr lang="en-US" sz="1050" dirty="0">
                <a:solidFill>
                  <a:srgbClr val="5A6069"/>
                </a:solidFill>
                <a:latin typeface="Pretendard" pitchFamily="34" charset="0"/>
                <a:ea typeface="Pretendard" pitchFamily="34" charset="-122"/>
                <a:cs typeface="Pretendard" pitchFamily="34" charset="-120"/>
              </a:rPr>
              <a:t>지금 배정이 무엇인지, 왜 바뀌었는지가 남지 않는다</a:t>
            </a:r>
            <a:endParaRPr lang="en-US" sz="1250" dirty="0"/>
          </a:p>
        </p:txBody>
      </p:sp>
      <p:sp>
        <p:nvSpPr>
          <p:cNvPr id="36" name="Text 34"/>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한 팀의 책임 간호사를 "차지"라고 부른다. 인계는 차지가 쓰고 다음 근무의 차지가 </a:t>
            </a:r>
            <a:r>
              <a:rPr lang="en-US" sz="900" dirty="0" err="1">
                <a:solidFill>
                  <a:srgbClr val="8C9199"/>
                </a:solidFill>
                <a:latin typeface="Pretendard" pitchFamily="34" charset="0"/>
                <a:ea typeface="Pretendard" pitchFamily="34" charset="-122"/>
                <a:cs typeface="Pretendard" pitchFamily="34" charset="-120"/>
              </a:rPr>
              <a:t>받는다</a:t>
            </a:r>
            <a:r>
              <a:rPr lang="en-US" sz="900" dirty="0">
                <a:solidFill>
                  <a:srgbClr val="8C9199"/>
                </a:solidFill>
                <a:latin typeface="Pretendard" pitchFamily="34" charset="0"/>
                <a:ea typeface="Pretendard" pitchFamily="34" charset="-122"/>
                <a:cs typeface="Pretendard" pitchFamily="34" charset="-120"/>
              </a:rPr>
              <a:t>.</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3</a:t>
            </a:r>
            <a:endParaRPr lang="en-US" sz="800" dirty="0"/>
          </a:p>
        </p:txBody>
      </p:sp>
      <p:sp>
        <p:nvSpPr>
          <p:cNvPr id="20" name="Text 18"/>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그래서 이 서비스는 세 가지를 한다</a:t>
            </a:r>
            <a:endParaRPr lang="en-US" sz="2500" dirty="0"/>
          </a:p>
        </p:txBody>
      </p:sp>
      <p:sp>
        <p:nvSpPr>
          <p:cNvPr id="21" name="Shape 19"/>
          <p:cNvSpPr/>
          <p:nvPr/>
        </p:nvSpPr>
        <p:spPr>
          <a:xfrm>
            <a:off x="548640" y="1097280"/>
            <a:ext cx="2499360" cy="1828800"/>
          </a:xfrm>
          <a:prstGeom prst="rect">
            <a:avLst/>
          </a:prstGeom>
          <a:ln w="9525">
            <a:solidFill>
              <a:srgbClr val="E4E2DB"/>
            </a:solidFill>
            <a:prstDash val="solid"/>
          </a:ln>
        </p:spPr>
        <p:txBody>
          <a:bodyPr/>
          <a:lstStyle/>
          <a:p>
            <a:endParaRPr/>
          </a:p>
        </p:txBody>
      </p:sp>
      <p:sp>
        <p:nvSpPr>
          <p:cNvPr id="22" name="Text 20"/>
          <p:cNvSpPr txBox="1"/>
          <p:nvPr/>
        </p:nvSpPr>
        <p:spPr>
          <a:xfrm>
            <a:off x="731520" y="1188720"/>
            <a:ext cx="914400" cy="548640"/>
          </a:xfrm>
          <a:prstGeom prst="rect">
            <a:avLst/>
          </a:prstGeom>
          <a:noFill/>
          <a:ln/>
        </p:spPr>
        <p:txBody>
          <a:bodyPr wrap="square" lIns="0" tIns="0" rIns="0" bIns="0" rtlCol="0" anchor="ctr"/>
          <a:lstStyle/>
          <a:p>
            <a:pPr marL="0" indent="0">
              <a:buNone/>
            </a:pPr>
            <a:r>
              <a:rPr lang="en-US" sz="3400" dirty="0">
                <a:solidFill>
                  <a:srgbClr val="C24A31"/>
                </a:solidFill>
                <a:latin typeface="Pretendard Light" pitchFamily="34" charset="0"/>
                <a:ea typeface="Pretendard Light" pitchFamily="34" charset="-122"/>
                <a:cs typeface="Pretendard Light" pitchFamily="34" charset="-120"/>
              </a:rPr>
              <a:t>1</a:t>
            </a:r>
            <a:endParaRPr lang="en-US" sz="3400" dirty="0"/>
          </a:p>
        </p:txBody>
      </p:sp>
      <p:sp>
        <p:nvSpPr>
          <p:cNvPr id="23" name="Text 21"/>
          <p:cNvSpPr txBox="1"/>
          <p:nvPr/>
        </p:nvSpPr>
        <p:spPr>
          <a:xfrm>
            <a:off x="731520" y="1737360"/>
            <a:ext cx="2133600" cy="329184"/>
          </a:xfrm>
          <a:prstGeom prst="rect">
            <a:avLst/>
          </a:prstGeom>
          <a:noFill/>
          <a:ln/>
        </p:spPr>
        <p:txBody>
          <a:bodyPr wrap="square" lIns="0" tIns="0" rIns="0" bIns="0" rtlCol="0" anchor="ctr"/>
          <a:lstStyle/>
          <a:p>
            <a:pPr marL="0" indent="0">
              <a:buNone/>
            </a:pPr>
            <a:r>
              <a:rPr lang="en-US" sz="1600" kern="0" spc="-30" dirty="0">
                <a:solidFill>
                  <a:srgbClr val="2B333C"/>
                </a:solidFill>
                <a:latin typeface="Pretendard ExtraBold" pitchFamily="34" charset="0"/>
                <a:ea typeface="Pretendard ExtraBold" pitchFamily="34" charset="-122"/>
                <a:cs typeface="Pretendard ExtraBold" pitchFamily="34" charset="-120"/>
              </a:rPr>
              <a:t>정한다</a:t>
            </a:r>
            <a:endParaRPr lang="en-US" sz="1600" dirty="0"/>
          </a:p>
        </p:txBody>
      </p:sp>
      <p:sp>
        <p:nvSpPr>
          <p:cNvPr id="24" name="Text 22"/>
          <p:cNvSpPr txBox="1"/>
          <p:nvPr/>
        </p:nvSpPr>
        <p:spPr>
          <a:xfrm>
            <a:off x="731520" y="2084832"/>
            <a:ext cx="2133600" cy="548640"/>
          </a:xfrm>
          <a:prstGeom prst="rect">
            <a:avLst/>
          </a:prstGeom>
          <a:noFill/>
          <a:ln/>
        </p:spPr>
        <p:txBody>
          <a:bodyPr wrap="square" lIns="0" tIns="0" rIns="0" bIns="0" rtlCol="0" anchor="ctr"/>
          <a:lstStyle/>
          <a:p>
            <a:pPr marL="0" indent="0">
              <a:lnSpc>
                <a:spcPct val="120000"/>
              </a:lnSpc>
              <a:buNone/>
            </a:pPr>
            <a:r>
              <a:rPr lang="en-US" sz="1050" dirty="0">
                <a:solidFill>
                  <a:srgbClr val="5A6069"/>
                </a:solidFill>
                <a:latin typeface="Pretendard" pitchFamily="34" charset="0"/>
                <a:ea typeface="Pretendard" pitchFamily="34" charset="-122"/>
                <a:cs typeface="Pretendard" pitchFamily="34" charset="-120"/>
              </a:rPr>
              <a:t>그날 누가 어느 환자의</a:t>
            </a:r>
            <a:endParaRPr lang="en-US" sz="1050" dirty="0"/>
          </a:p>
          <a:p>
            <a:pPr marL="0" indent="0">
              <a:lnSpc>
                <a:spcPct val="120000"/>
              </a:lnSpc>
              <a:buNone/>
            </a:pPr>
            <a:r>
              <a:rPr lang="en-US" sz="1050" dirty="0">
                <a:solidFill>
                  <a:srgbClr val="5A6069"/>
                </a:solidFill>
                <a:latin typeface="Pretendard" pitchFamily="34" charset="0"/>
                <a:ea typeface="Pretendard" pitchFamily="34" charset="-122"/>
                <a:cs typeface="Pretendard" pitchFamily="34" charset="-120"/>
              </a:rPr>
              <a:t>인계를 맡는지</a:t>
            </a:r>
            <a:endParaRPr lang="en-US" sz="1050" dirty="0"/>
          </a:p>
        </p:txBody>
      </p:sp>
      <p:sp>
        <p:nvSpPr>
          <p:cNvPr id="25" name="Text 23"/>
          <p:cNvSpPr txBox="1"/>
          <p:nvPr/>
        </p:nvSpPr>
        <p:spPr>
          <a:xfrm>
            <a:off x="731520" y="2615184"/>
            <a:ext cx="2133600" cy="237744"/>
          </a:xfrm>
          <a:prstGeom prst="rect">
            <a:avLst/>
          </a:prstGeom>
          <a:noFill/>
          <a:ln/>
        </p:spPr>
        <p:txBody>
          <a:bodyPr wrap="square" lIns="0" tIns="0" rIns="0" bIns="0" rtlCol="0" anchor="ctr"/>
          <a:lstStyle/>
          <a:p>
            <a:pPr marL="0" indent="0">
              <a:buNone/>
            </a:pPr>
            <a:r>
              <a:rPr lang="en-US" sz="900" dirty="0">
                <a:solidFill>
                  <a:srgbClr val="8C9199"/>
                </a:solidFill>
                <a:latin typeface="Pretendard Medium" pitchFamily="34" charset="0"/>
                <a:ea typeface="Pretendard Medium" pitchFamily="34" charset="-122"/>
                <a:cs typeface="Pretendard Medium" pitchFamily="34" charset="-120"/>
              </a:rPr>
              <a:t>수간호사</a:t>
            </a:r>
            <a:endParaRPr lang="en-US" sz="900" dirty="0"/>
          </a:p>
        </p:txBody>
      </p:sp>
      <p:sp>
        <p:nvSpPr>
          <p:cNvPr id="26" name="Shape 24"/>
          <p:cNvSpPr/>
          <p:nvPr/>
        </p:nvSpPr>
        <p:spPr>
          <a:xfrm>
            <a:off x="3084576" y="1920240"/>
            <a:ext cx="201168" cy="182880"/>
          </a:xfrm>
          <a:prstGeom prst="rightArrow">
            <a:avLst/>
          </a:prstGeom>
          <a:solidFill>
            <a:srgbClr val="5A6069"/>
          </a:solidFill>
          <a:ln/>
        </p:spPr>
        <p:txBody>
          <a:bodyPr/>
          <a:lstStyle/>
          <a:p>
            <a:endParaRPr/>
          </a:p>
        </p:txBody>
      </p:sp>
      <p:sp>
        <p:nvSpPr>
          <p:cNvPr id="27" name="Shape 25"/>
          <p:cNvSpPr/>
          <p:nvPr/>
        </p:nvSpPr>
        <p:spPr>
          <a:xfrm>
            <a:off x="3322320" y="1097280"/>
            <a:ext cx="2499360" cy="1828800"/>
          </a:xfrm>
          <a:prstGeom prst="rect">
            <a:avLst/>
          </a:prstGeom>
          <a:ln w="9525">
            <a:solidFill>
              <a:srgbClr val="E4E2DB"/>
            </a:solidFill>
            <a:prstDash val="solid"/>
          </a:ln>
        </p:spPr>
        <p:txBody>
          <a:bodyPr/>
          <a:lstStyle/>
          <a:p>
            <a:endParaRPr/>
          </a:p>
        </p:txBody>
      </p:sp>
      <p:sp>
        <p:nvSpPr>
          <p:cNvPr id="28" name="Text 26"/>
          <p:cNvSpPr txBox="1"/>
          <p:nvPr/>
        </p:nvSpPr>
        <p:spPr>
          <a:xfrm>
            <a:off x="3505200" y="1188720"/>
            <a:ext cx="914400" cy="548640"/>
          </a:xfrm>
          <a:prstGeom prst="rect">
            <a:avLst/>
          </a:prstGeom>
          <a:noFill/>
          <a:ln/>
        </p:spPr>
        <p:txBody>
          <a:bodyPr wrap="square" lIns="0" tIns="0" rIns="0" bIns="0" rtlCol="0" anchor="ctr"/>
          <a:lstStyle/>
          <a:p>
            <a:pPr marL="0" indent="0">
              <a:buNone/>
            </a:pPr>
            <a:r>
              <a:rPr lang="en-US" sz="3400" dirty="0">
                <a:solidFill>
                  <a:srgbClr val="C24A31"/>
                </a:solidFill>
                <a:latin typeface="Pretendard Light" pitchFamily="34" charset="0"/>
                <a:ea typeface="Pretendard Light" pitchFamily="34" charset="-122"/>
                <a:cs typeface="Pretendard Light" pitchFamily="34" charset="-120"/>
              </a:rPr>
              <a:t>2</a:t>
            </a:r>
            <a:endParaRPr lang="en-US" sz="3400" dirty="0"/>
          </a:p>
        </p:txBody>
      </p:sp>
      <p:sp>
        <p:nvSpPr>
          <p:cNvPr id="29" name="Text 27"/>
          <p:cNvSpPr txBox="1"/>
          <p:nvPr/>
        </p:nvSpPr>
        <p:spPr>
          <a:xfrm>
            <a:off x="3505200" y="1737360"/>
            <a:ext cx="2133600" cy="329184"/>
          </a:xfrm>
          <a:prstGeom prst="rect">
            <a:avLst/>
          </a:prstGeom>
          <a:noFill/>
          <a:ln/>
        </p:spPr>
        <p:txBody>
          <a:bodyPr wrap="square" lIns="0" tIns="0" rIns="0" bIns="0" rtlCol="0" anchor="ctr"/>
          <a:lstStyle/>
          <a:p>
            <a:pPr marL="0" indent="0">
              <a:buNone/>
            </a:pPr>
            <a:r>
              <a:rPr lang="en-US" sz="1600" kern="0" spc="-30" dirty="0">
                <a:solidFill>
                  <a:srgbClr val="2B333C"/>
                </a:solidFill>
                <a:latin typeface="Pretendard ExtraBold" pitchFamily="34" charset="0"/>
                <a:ea typeface="Pretendard ExtraBold" pitchFamily="34" charset="-122"/>
                <a:cs typeface="Pretendard ExtraBold" pitchFamily="34" charset="-120"/>
              </a:rPr>
              <a:t>넘긴다</a:t>
            </a:r>
            <a:endParaRPr lang="en-US" sz="1600" dirty="0"/>
          </a:p>
        </p:txBody>
      </p:sp>
      <p:sp>
        <p:nvSpPr>
          <p:cNvPr id="30" name="Text 28"/>
          <p:cNvSpPr txBox="1"/>
          <p:nvPr/>
        </p:nvSpPr>
        <p:spPr>
          <a:xfrm>
            <a:off x="3505200" y="2084832"/>
            <a:ext cx="2133600" cy="548640"/>
          </a:xfrm>
          <a:prstGeom prst="rect">
            <a:avLst/>
          </a:prstGeom>
          <a:noFill/>
          <a:ln/>
        </p:spPr>
        <p:txBody>
          <a:bodyPr wrap="square" lIns="0" tIns="0" rIns="0" bIns="0" rtlCol="0" anchor="ctr"/>
          <a:lstStyle/>
          <a:p>
            <a:pPr marL="0" indent="0">
              <a:lnSpc>
                <a:spcPct val="120000"/>
              </a:lnSpc>
              <a:buNone/>
            </a:pPr>
            <a:r>
              <a:rPr lang="en-US" sz="1050" dirty="0">
                <a:solidFill>
                  <a:srgbClr val="5A6069"/>
                </a:solidFill>
                <a:latin typeface="Pretendard" pitchFamily="34" charset="0"/>
                <a:ea typeface="Pretendard" pitchFamily="34" charset="-122"/>
                <a:cs typeface="Pretendard" pitchFamily="34" charset="-120"/>
              </a:rPr>
              <a:t>병동이 정한 필수 항목이</a:t>
            </a:r>
            <a:endParaRPr lang="en-US" sz="1050" dirty="0"/>
          </a:p>
          <a:p>
            <a:pPr marL="0" indent="0">
              <a:lnSpc>
                <a:spcPct val="120000"/>
              </a:lnSpc>
              <a:buNone/>
            </a:pPr>
            <a:r>
              <a:rPr lang="en-US" sz="1050" dirty="0">
                <a:solidFill>
                  <a:srgbClr val="5A6069"/>
                </a:solidFill>
                <a:latin typeface="Pretendard" pitchFamily="34" charset="0"/>
                <a:ea typeface="Pretendard" pitchFamily="34" charset="-122"/>
                <a:cs typeface="Pretendard" pitchFamily="34" charset="-120"/>
              </a:rPr>
              <a:t>비면 넘길 수 없다</a:t>
            </a:r>
            <a:endParaRPr lang="en-US" sz="1050" dirty="0"/>
          </a:p>
        </p:txBody>
      </p:sp>
      <p:sp>
        <p:nvSpPr>
          <p:cNvPr id="31" name="Text 29"/>
          <p:cNvSpPr txBox="1"/>
          <p:nvPr/>
        </p:nvSpPr>
        <p:spPr>
          <a:xfrm>
            <a:off x="3505200" y="2615184"/>
            <a:ext cx="2133600" cy="237744"/>
          </a:xfrm>
          <a:prstGeom prst="rect">
            <a:avLst/>
          </a:prstGeom>
          <a:noFill/>
          <a:ln/>
        </p:spPr>
        <p:txBody>
          <a:bodyPr wrap="square" lIns="0" tIns="0" rIns="0" bIns="0" rtlCol="0" anchor="ctr"/>
          <a:lstStyle/>
          <a:p>
            <a:pPr marL="0" indent="0">
              <a:buNone/>
            </a:pPr>
            <a:r>
              <a:rPr lang="en-US" sz="900" dirty="0">
                <a:solidFill>
                  <a:srgbClr val="8C9199"/>
                </a:solidFill>
                <a:latin typeface="Pretendard Medium" pitchFamily="34" charset="0"/>
                <a:ea typeface="Pretendard Medium" pitchFamily="34" charset="-122"/>
                <a:cs typeface="Pretendard Medium" pitchFamily="34" charset="-120"/>
              </a:rPr>
              <a:t>차지</a:t>
            </a:r>
            <a:endParaRPr lang="en-US" sz="900" dirty="0"/>
          </a:p>
        </p:txBody>
      </p:sp>
      <p:sp>
        <p:nvSpPr>
          <p:cNvPr id="32" name="Shape 30"/>
          <p:cNvSpPr/>
          <p:nvPr/>
        </p:nvSpPr>
        <p:spPr>
          <a:xfrm>
            <a:off x="5858256" y="1920240"/>
            <a:ext cx="201168" cy="182880"/>
          </a:xfrm>
          <a:prstGeom prst="rightArrow">
            <a:avLst/>
          </a:prstGeom>
          <a:solidFill>
            <a:srgbClr val="5A6069"/>
          </a:solidFill>
          <a:ln/>
        </p:spPr>
        <p:txBody>
          <a:bodyPr/>
          <a:lstStyle/>
          <a:p>
            <a:endParaRPr/>
          </a:p>
        </p:txBody>
      </p:sp>
      <p:sp>
        <p:nvSpPr>
          <p:cNvPr id="33" name="Shape 31"/>
          <p:cNvSpPr/>
          <p:nvPr/>
        </p:nvSpPr>
        <p:spPr>
          <a:xfrm>
            <a:off x="6096000" y="1097280"/>
            <a:ext cx="2499360" cy="1828800"/>
          </a:xfrm>
          <a:prstGeom prst="rect">
            <a:avLst/>
          </a:prstGeom>
          <a:ln w="9525">
            <a:solidFill>
              <a:srgbClr val="E4E2DB"/>
            </a:solidFill>
            <a:prstDash val="solid"/>
          </a:ln>
        </p:spPr>
        <p:txBody>
          <a:bodyPr/>
          <a:lstStyle/>
          <a:p>
            <a:endParaRPr/>
          </a:p>
        </p:txBody>
      </p:sp>
      <p:sp>
        <p:nvSpPr>
          <p:cNvPr id="34" name="Text 32"/>
          <p:cNvSpPr txBox="1"/>
          <p:nvPr/>
        </p:nvSpPr>
        <p:spPr>
          <a:xfrm>
            <a:off x="6278880" y="1188720"/>
            <a:ext cx="914400" cy="548640"/>
          </a:xfrm>
          <a:prstGeom prst="rect">
            <a:avLst/>
          </a:prstGeom>
          <a:noFill/>
          <a:ln/>
        </p:spPr>
        <p:txBody>
          <a:bodyPr wrap="square" lIns="0" tIns="0" rIns="0" bIns="0" rtlCol="0" anchor="ctr"/>
          <a:lstStyle/>
          <a:p>
            <a:pPr marL="0" indent="0">
              <a:buNone/>
            </a:pPr>
            <a:r>
              <a:rPr lang="en-US" sz="3400" dirty="0">
                <a:solidFill>
                  <a:srgbClr val="C24A31"/>
                </a:solidFill>
                <a:latin typeface="Pretendard Light" pitchFamily="34" charset="0"/>
                <a:ea typeface="Pretendard Light" pitchFamily="34" charset="-122"/>
                <a:cs typeface="Pretendard Light" pitchFamily="34" charset="-120"/>
              </a:rPr>
              <a:t>3</a:t>
            </a:r>
            <a:endParaRPr lang="en-US" sz="3400" dirty="0"/>
          </a:p>
        </p:txBody>
      </p:sp>
      <p:sp>
        <p:nvSpPr>
          <p:cNvPr id="35" name="Text 33"/>
          <p:cNvSpPr txBox="1"/>
          <p:nvPr/>
        </p:nvSpPr>
        <p:spPr>
          <a:xfrm>
            <a:off x="6278880" y="1737360"/>
            <a:ext cx="2133600" cy="329184"/>
          </a:xfrm>
          <a:prstGeom prst="rect">
            <a:avLst/>
          </a:prstGeom>
          <a:noFill/>
          <a:ln/>
        </p:spPr>
        <p:txBody>
          <a:bodyPr wrap="square" lIns="0" tIns="0" rIns="0" bIns="0" rtlCol="0" anchor="ctr"/>
          <a:lstStyle/>
          <a:p>
            <a:pPr marL="0" indent="0">
              <a:buNone/>
            </a:pPr>
            <a:r>
              <a:rPr lang="en-US" sz="1600" kern="0" spc="-30" dirty="0">
                <a:solidFill>
                  <a:srgbClr val="2B333C"/>
                </a:solidFill>
                <a:latin typeface="Pretendard ExtraBold" pitchFamily="34" charset="0"/>
                <a:ea typeface="Pretendard ExtraBold" pitchFamily="34" charset="-122"/>
                <a:cs typeface="Pretendard ExtraBold" pitchFamily="34" charset="-120"/>
              </a:rPr>
              <a:t>확인한다</a:t>
            </a:r>
            <a:endParaRPr lang="en-US" sz="1600" dirty="0"/>
          </a:p>
        </p:txBody>
      </p:sp>
      <p:sp>
        <p:nvSpPr>
          <p:cNvPr id="36" name="Text 34"/>
          <p:cNvSpPr txBox="1"/>
          <p:nvPr/>
        </p:nvSpPr>
        <p:spPr>
          <a:xfrm>
            <a:off x="6278880" y="2084832"/>
            <a:ext cx="2133600" cy="548640"/>
          </a:xfrm>
          <a:prstGeom prst="rect">
            <a:avLst/>
          </a:prstGeom>
          <a:noFill/>
          <a:ln/>
        </p:spPr>
        <p:txBody>
          <a:bodyPr wrap="square" lIns="0" tIns="0" rIns="0" bIns="0" rtlCol="0" anchor="ctr"/>
          <a:lstStyle/>
          <a:p>
            <a:pPr marL="0" indent="0">
              <a:lnSpc>
                <a:spcPct val="120000"/>
              </a:lnSpc>
              <a:buNone/>
            </a:pPr>
            <a:r>
              <a:rPr lang="en-US" sz="1050" dirty="0">
                <a:solidFill>
                  <a:srgbClr val="5A6069"/>
                </a:solidFill>
                <a:latin typeface="Pretendard" pitchFamily="34" charset="0"/>
                <a:ea typeface="Pretendard" pitchFamily="34" charset="-122"/>
                <a:cs typeface="Pretendard" pitchFamily="34" charset="-120"/>
              </a:rPr>
              <a:t>받은 사람이 핵심을 자기 말로</a:t>
            </a:r>
            <a:endParaRPr lang="en-US" sz="1050" dirty="0"/>
          </a:p>
          <a:p>
            <a:pPr marL="0" indent="0">
              <a:lnSpc>
                <a:spcPct val="120000"/>
              </a:lnSpc>
              <a:buNone/>
            </a:pPr>
            <a:r>
              <a:rPr lang="en-US" sz="1050" dirty="0">
                <a:solidFill>
                  <a:srgbClr val="5A6069"/>
                </a:solidFill>
                <a:latin typeface="Pretendard" pitchFamily="34" charset="0"/>
                <a:ea typeface="Pretendard" pitchFamily="34" charset="-122"/>
                <a:cs typeface="Pretendard" pitchFamily="34" charset="-120"/>
              </a:rPr>
              <a:t>요약해야 '확인'이 된다</a:t>
            </a:r>
            <a:endParaRPr lang="en-US" sz="1050" dirty="0"/>
          </a:p>
        </p:txBody>
      </p:sp>
      <p:sp>
        <p:nvSpPr>
          <p:cNvPr id="37" name="Text 35"/>
          <p:cNvSpPr txBox="1"/>
          <p:nvPr/>
        </p:nvSpPr>
        <p:spPr>
          <a:xfrm>
            <a:off x="6278880" y="2615184"/>
            <a:ext cx="2133600" cy="237744"/>
          </a:xfrm>
          <a:prstGeom prst="rect">
            <a:avLst/>
          </a:prstGeom>
          <a:noFill/>
          <a:ln/>
        </p:spPr>
        <p:txBody>
          <a:bodyPr wrap="square" lIns="0" tIns="0" rIns="0" bIns="0" rtlCol="0" anchor="ctr"/>
          <a:lstStyle/>
          <a:p>
            <a:pPr marL="0" indent="0">
              <a:buNone/>
            </a:pPr>
            <a:r>
              <a:rPr lang="en-US" sz="900" dirty="0">
                <a:solidFill>
                  <a:srgbClr val="8C9199"/>
                </a:solidFill>
                <a:latin typeface="Pretendard Medium" pitchFamily="34" charset="0"/>
                <a:ea typeface="Pretendard Medium" pitchFamily="34" charset="-122"/>
                <a:cs typeface="Pretendard Medium" pitchFamily="34" charset="-120"/>
              </a:rPr>
              <a:t>다음 근무 차지</a:t>
            </a:r>
            <a:endParaRPr lang="en-US" sz="900" dirty="0"/>
          </a:p>
        </p:txBody>
      </p:sp>
      <p:sp>
        <p:nvSpPr>
          <p:cNvPr id="38" name="Shape 36"/>
          <p:cNvSpPr/>
          <p:nvPr/>
        </p:nvSpPr>
        <p:spPr>
          <a:xfrm>
            <a:off x="548640" y="3273552"/>
            <a:ext cx="45720" cy="512064"/>
          </a:xfrm>
          <a:prstGeom prst="rect">
            <a:avLst/>
          </a:prstGeom>
          <a:solidFill>
            <a:srgbClr val="C24A31"/>
          </a:solidFill>
          <a:ln/>
        </p:spPr>
        <p:txBody>
          <a:bodyPr/>
          <a:lstStyle/>
          <a:p>
            <a:endParaRPr/>
          </a:p>
        </p:txBody>
      </p:sp>
      <p:sp>
        <p:nvSpPr>
          <p:cNvPr id="39" name="Text 37"/>
          <p:cNvSpPr txBox="1"/>
          <p:nvPr/>
        </p:nvSpPr>
        <p:spPr>
          <a:xfrm>
            <a:off x="768096" y="3200400"/>
            <a:ext cx="7607808" cy="658368"/>
          </a:xfrm>
          <a:prstGeom prst="rect">
            <a:avLst/>
          </a:prstGeom>
          <a:noFill/>
          <a:ln/>
        </p:spPr>
        <p:txBody>
          <a:bodyPr wrap="square" lIns="0" tIns="0" rIns="0" bIns="0" rtlCol="0" anchor="ctr"/>
          <a:lstStyle/>
          <a:p>
            <a:pPr marL="0" indent="0">
              <a:buNone/>
            </a:pPr>
            <a:r>
              <a:rPr lang="en-US" sz="1200" dirty="0">
                <a:solidFill>
                  <a:srgbClr val="2B333C"/>
                </a:solidFill>
                <a:latin typeface="Pretendard SemiBold" pitchFamily="34" charset="0"/>
                <a:ea typeface="Pretendard SemiBold" pitchFamily="34" charset="-122"/>
                <a:cs typeface="Pretendard SemiBold" pitchFamily="34" charset="-120"/>
              </a:rPr>
              <a:t>누가 못 나오면 1로 돌아가 다시 정한다.  </a:t>
            </a:r>
            <a:r>
              <a:rPr lang="en-US" sz="1050" dirty="0">
                <a:solidFill>
                  <a:srgbClr val="5A6069"/>
                </a:solidFill>
                <a:latin typeface="Pretendard" pitchFamily="34" charset="0"/>
                <a:ea typeface="Pretendard" pitchFamily="34" charset="-122"/>
                <a:cs typeface="Pretendard" pitchFamily="34" charset="-120"/>
              </a:rPr>
              <a:t>바뀐 내용은 당사자 화면에 바로 뜨고, 왜 바꿨는지가 같이 남는다</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4</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01  무엇을 만들었나</a:t>
            </a:r>
            <a:endParaRPr lang="en-US" sz="800" dirty="0"/>
          </a:p>
        </p:txBody>
      </p:sp>
      <p:sp>
        <p:nvSpPr>
          <p:cNvPr id="21" name="Shape 19"/>
          <p:cNvSpPr/>
          <p:nvPr/>
        </p:nvSpPr>
        <p:spPr>
          <a:xfrm>
            <a:off x="73152" y="640080"/>
            <a:ext cx="182880" cy="420624"/>
          </a:xfrm>
          <a:prstGeom prst="rect">
            <a:avLst/>
          </a:prstGeom>
          <a:solidFill>
            <a:srgbClr val="C24A31"/>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무엇을 만들었나</a:t>
            </a:r>
            <a:endParaRPr lang="en-US" sz="2500" dirty="0"/>
          </a:p>
        </p:txBody>
      </p:sp>
      <p:sp>
        <p:nvSpPr>
          <p:cNvPr id="37" name="Text 35"/>
          <p:cNvSpPr txBox="1"/>
          <p:nvPr/>
        </p:nvSpPr>
        <p:spPr>
          <a:xfrm>
            <a:off x="548640" y="1115568"/>
            <a:ext cx="2499360" cy="237744"/>
          </a:xfrm>
          <a:prstGeom prst="rect">
            <a:avLst/>
          </a:prstGeom>
          <a:noFill/>
          <a:ln/>
        </p:spPr>
        <p:txBody>
          <a:bodyPr wrap="square" lIns="0" tIns="0" rIns="0" bIns="0" rtlCol="0" anchor="ctr"/>
          <a:lstStyle/>
          <a:p>
            <a:pPr marL="0" indent="0">
              <a:buNone/>
            </a:pPr>
            <a:r>
              <a:rPr lang="en-US" sz="950" dirty="0">
                <a:solidFill>
                  <a:srgbClr val="C24A31"/>
                </a:solidFill>
                <a:latin typeface="Pretendard Medium" pitchFamily="34" charset="0"/>
                <a:ea typeface="Pretendard Medium" pitchFamily="34" charset="-122"/>
                <a:cs typeface="Pretendard Medium" pitchFamily="34" charset="-120"/>
              </a:rPr>
              <a:t>누가</a:t>
            </a:r>
            <a:endParaRPr lang="en-US" sz="950" dirty="0"/>
          </a:p>
        </p:txBody>
      </p:sp>
      <p:sp>
        <p:nvSpPr>
          <p:cNvPr id="38" name="Text 36"/>
          <p:cNvSpPr txBox="1"/>
          <p:nvPr/>
        </p:nvSpPr>
        <p:spPr>
          <a:xfrm>
            <a:off x="548640" y="1371600"/>
            <a:ext cx="2499360" cy="658368"/>
          </a:xfrm>
          <a:prstGeom prst="rect">
            <a:avLst/>
          </a:prstGeom>
          <a:noFill/>
          <a:ln/>
        </p:spPr>
        <p:txBody>
          <a:bodyPr wrap="square" lIns="0" tIns="0" rIns="0" bIns="0" rtlCol="0" anchor="ctr"/>
          <a:lstStyle/>
          <a:p>
            <a:pPr marL="0" indent="0">
              <a:lnSpc>
                <a:spcPct val="125000"/>
              </a:lnSpc>
              <a:buNone/>
            </a:pPr>
            <a:r>
              <a:rPr lang="en-US" sz="1150" dirty="0">
                <a:solidFill>
                  <a:srgbClr val="2B333C"/>
                </a:solidFill>
                <a:latin typeface="Pretendard" pitchFamily="34" charset="0"/>
                <a:ea typeface="Pretendard" pitchFamily="34" charset="-122"/>
                <a:cs typeface="Pretendard" pitchFamily="34" charset="-120"/>
              </a:rPr>
              <a:t>교대로 일하는 병동의</a:t>
            </a:r>
            <a:endParaRPr lang="en-US" sz="1150" dirty="0"/>
          </a:p>
          <a:p>
            <a:pPr marL="0" indent="0">
              <a:lnSpc>
                <a:spcPct val="125000"/>
              </a:lnSpc>
              <a:buNone/>
            </a:pPr>
            <a:r>
              <a:rPr lang="en-US" sz="1150" dirty="0">
                <a:solidFill>
                  <a:srgbClr val="2B333C"/>
                </a:solidFill>
                <a:latin typeface="Pretendard" pitchFamily="34" charset="0"/>
                <a:ea typeface="Pretendard" pitchFamily="34" charset="-122"/>
                <a:cs typeface="Pretendard" pitchFamily="34" charset="-120"/>
              </a:rPr>
              <a:t>간호사와 수간호사</a:t>
            </a:r>
            <a:endParaRPr lang="en-US" sz="1150" dirty="0"/>
          </a:p>
        </p:txBody>
      </p:sp>
      <p:sp>
        <p:nvSpPr>
          <p:cNvPr id="40" name="Text 38"/>
          <p:cNvSpPr txBox="1"/>
          <p:nvPr/>
        </p:nvSpPr>
        <p:spPr>
          <a:xfrm>
            <a:off x="3322320" y="1115568"/>
            <a:ext cx="2499360" cy="237744"/>
          </a:xfrm>
          <a:prstGeom prst="rect">
            <a:avLst/>
          </a:prstGeom>
          <a:noFill/>
          <a:ln/>
        </p:spPr>
        <p:txBody>
          <a:bodyPr wrap="square" lIns="0" tIns="0" rIns="0" bIns="0" rtlCol="0" anchor="ctr"/>
          <a:lstStyle/>
          <a:p>
            <a:pPr marL="0" indent="0">
              <a:buNone/>
            </a:pPr>
            <a:r>
              <a:rPr lang="en-US" sz="950" dirty="0">
                <a:solidFill>
                  <a:srgbClr val="C24A31"/>
                </a:solidFill>
                <a:latin typeface="Pretendard Medium" pitchFamily="34" charset="0"/>
                <a:ea typeface="Pretendard Medium" pitchFamily="34" charset="-122"/>
                <a:cs typeface="Pretendard Medium" pitchFamily="34" charset="-120"/>
              </a:rPr>
              <a:t>언제</a:t>
            </a:r>
            <a:endParaRPr lang="en-US" sz="950" dirty="0"/>
          </a:p>
        </p:txBody>
      </p:sp>
      <p:sp>
        <p:nvSpPr>
          <p:cNvPr id="41" name="Text 39"/>
          <p:cNvSpPr txBox="1"/>
          <p:nvPr/>
        </p:nvSpPr>
        <p:spPr>
          <a:xfrm>
            <a:off x="3322320" y="1371600"/>
            <a:ext cx="2499360" cy="658368"/>
          </a:xfrm>
          <a:prstGeom prst="rect">
            <a:avLst/>
          </a:prstGeom>
          <a:noFill/>
          <a:ln/>
        </p:spPr>
        <p:txBody>
          <a:bodyPr wrap="square" lIns="0" tIns="0" rIns="0" bIns="0" rtlCol="0" anchor="ctr"/>
          <a:lstStyle/>
          <a:p>
            <a:pPr marL="0" indent="0">
              <a:lnSpc>
                <a:spcPct val="125000"/>
              </a:lnSpc>
              <a:buNone/>
            </a:pPr>
            <a:r>
              <a:rPr lang="en-US" sz="1150" dirty="0">
                <a:solidFill>
                  <a:srgbClr val="2B333C"/>
                </a:solidFill>
                <a:latin typeface="Pretendard" pitchFamily="34" charset="0"/>
                <a:ea typeface="Pretendard" pitchFamily="34" charset="-122"/>
                <a:cs typeface="Pretendard" pitchFamily="34" charset="-120"/>
              </a:rPr>
              <a:t>교대할 때 인계를 주고받을 때</a:t>
            </a:r>
            <a:endParaRPr lang="en-US" sz="1150" dirty="0"/>
          </a:p>
          <a:p>
            <a:pPr marL="0" indent="0">
              <a:lnSpc>
                <a:spcPct val="125000"/>
              </a:lnSpc>
              <a:buNone/>
            </a:pPr>
            <a:r>
              <a:rPr lang="en-US" sz="1150" dirty="0">
                <a:solidFill>
                  <a:srgbClr val="2B333C"/>
                </a:solidFill>
                <a:latin typeface="Pretendard" pitchFamily="34" charset="0"/>
                <a:ea typeface="Pretendard" pitchFamily="34" charset="-122"/>
                <a:cs typeface="Pretendard" pitchFamily="34" charset="-120"/>
              </a:rPr>
              <a:t>누가 빠져서 배정을 다시 짤 때</a:t>
            </a:r>
            <a:endParaRPr lang="en-US" sz="1150" dirty="0"/>
          </a:p>
        </p:txBody>
      </p:sp>
      <p:sp>
        <p:nvSpPr>
          <p:cNvPr id="43" name="Text 41"/>
          <p:cNvSpPr txBox="1"/>
          <p:nvPr/>
        </p:nvSpPr>
        <p:spPr>
          <a:xfrm>
            <a:off x="6096000" y="1115568"/>
            <a:ext cx="2499360" cy="237744"/>
          </a:xfrm>
          <a:prstGeom prst="rect">
            <a:avLst/>
          </a:prstGeom>
          <a:noFill/>
          <a:ln/>
        </p:spPr>
        <p:txBody>
          <a:bodyPr wrap="square" lIns="0" tIns="0" rIns="0" bIns="0" rtlCol="0" anchor="ctr"/>
          <a:lstStyle/>
          <a:p>
            <a:pPr marL="0" indent="0">
              <a:buNone/>
            </a:pPr>
            <a:r>
              <a:rPr lang="en-US" sz="950" dirty="0">
                <a:solidFill>
                  <a:srgbClr val="C24A31"/>
                </a:solidFill>
                <a:latin typeface="Pretendard Medium" pitchFamily="34" charset="0"/>
                <a:ea typeface="Pretendard Medium" pitchFamily="34" charset="-122"/>
                <a:cs typeface="Pretendard Medium" pitchFamily="34" charset="-120"/>
              </a:rPr>
              <a:t>무엇이 불편했나</a:t>
            </a:r>
            <a:endParaRPr lang="en-US" sz="950" dirty="0"/>
          </a:p>
        </p:txBody>
      </p:sp>
      <p:sp>
        <p:nvSpPr>
          <p:cNvPr id="44" name="Text 42"/>
          <p:cNvSpPr txBox="1"/>
          <p:nvPr/>
        </p:nvSpPr>
        <p:spPr>
          <a:xfrm>
            <a:off x="6096000" y="1371600"/>
            <a:ext cx="2499360" cy="658368"/>
          </a:xfrm>
          <a:prstGeom prst="rect">
            <a:avLst/>
          </a:prstGeom>
          <a:noFill/>
          <a:ln/>
        </p:spPr>
        <p:txBody>
          <a:bodyPr wrap="square" lIns="0" tIns="0" rIns="0" bIns="0" rtlCol="0" anchor="ctr"/>
          <a:lstStyle/>
          <a:p>
            <a:pPr marL="0" indent="0">
              <a:lnSpc>
                <a:spcPct val="125000"/>
              </a:lnSpc>
              <a:buNone/>
            </a:pPr>
            <a:r>
              <a:rPr lang="en-US" sz="1150" dirty="0">
                <a:solidFill>
                  <a:srgbClr val="2B333C"/>
                </a:solidFill>
                <a:latin typeface="Pretendard" pitchFamily="34" charset="0"/>
                <a:ea typeface="Pretendard" pitchFamily="34" charset="-122"/>
                <a:cs typeface="Pretendard" pitchFamily="34" charset="-120"/>
              </a:rPr>
              <a:t>인계를 누가 받았는지 남는 기록이 없다</a:t>
            </a:r>
            <a:endParaRPr lang="en-US" sz="1150" dirty="0"/>
          </a:p>
          <a:p>
            <a:pPr marL="0" indent="0">
              <a:lnSpc>
                <a:spcPct val="125000"/>
              </a:lnSpc>
              <a:buNone/>
            </a:pPr>
            <a:r>
              <a:rPr lang="en-US" sz="1150" dirty="0">
                <a:solidFill>
                  <a:srgbClr val="2B333C"/>
                </a:solidFill>
                <a:latin typeface="Pretendard" pitchFamily="34" charset="0"/>
                <a:ea typeface="Pretendard" pitchFamily="34" charset="-122"/>
                <a:cs typeface="Pretendard" pitchFamily="34" charset="-120"/>
              </a:rPr>
              <a:t>배정이 바뀌면 여기저기 다시 알려야 한다</a:t>
            </a:r>
            <a:endParaRPr lang="en-US" sz="1150" dirty="0"/>
          </a:p>
        </p:txBody>
      </p:sp>
      <p:sp>
        <p:nvSpPr>
          <p:cNvPr id="45" name="Shape 43"/>
          <p:cNvSpPr/>
          <p:nvPr/>
        </p:nvSpPr>
        <p:spPr>
          <a:xfrm>
            <a:off x="548640" y="2331720"/>
            <a:ext cx="45720" cy="932688"/>
          </a:xfrm>
          <a:prstGeom prst="rect">
            <a:avLst/>
          </a:prstGeom>
          <a:solidFill>
            <a:srgbClr val="C24A31"/>
          </a:solidFill>
          <a:ln/>
        </p:spPr>
        <p:txBody>
          <a:bodyPr/>
          <a:lstStyle/>
          <a:p>
            <a:endParaRPr/>
          </a:p>
        </p:txBody>
      </p:sp>
      <p:sp>
        <p:nvSpPr>
          <p:cNvPr id="46" name="Text 44"/>
          <p:cNvSpPr txBox="1"/>
          <p:nvPr/>
        </p:nvSpPr>
        <p:spPr>
          <a:xfrm>
            <a:off x="768096" y="2331720"/>
            <a:ext cx="7772400" cy="329184"/>
          </a:xfrm>
          <a:prstGeom prst="rect">
            <a:avLst/>
          </a:prstGeom>
          <a:noFill/>
          <a:ln/>
        </p:spPr>
        <p:txBody>
          <a:bodyPr wrap="square" lIns="0" tIns="0" rIns="0" bIns="0" rtlCol="0" anchor="ctr"/>
          <a:lstStyle/>
          <a:p>
            <a:pPr marL="0" indent="0">
              <a:buNone/>
            </a:pPr>
            <a:r>
              <a:rPr lang="en-US" sz="1500" kern="0" spc="-30" dirty="0">
                <a:solidFill>
                  <a:srgbClr val="2B333C"/>
                </a:solidFill>
                <a:latin typeface="Pretendard ExtraBold" pitchFamily="34" charset="0"/>
                <a:ea typeface="Pretendard ExtraBold" pitchFamily="34" charset="-122"/>
                <a:cs typeface="Pretendard ExtraBold" pitchFamily="34" charset="-120"/>
              </a:rPr>
              <a:t>누가 무엇을 맡았고, 무엇을 주고받았는지가 남는다</a:t>
            </a:r>
            <a:endParaRPr lang="en-US" sz="1500" dirty="0"/>
          </a:p>
        </p:txBody>
      </p:sp>
      <p:sp>
        <p:nvSpPr>
          <p:cNvPr id="47" name="Text 45"/>
          <p:cNvSpPr txBox="1"/>
          <p:nvPr/>
        </p:nvSpPr>
        <p:spPr>
          <a:xfrm>
            <a:off x="768096" y="2679192"/>
            <a:ext cx="7772400" cy="566928"/>
          </a:xfrm>
          <a:prstGeom prst="rect">
            <a:avLst/>
          </a:prstGeom>
          <a:noFill/>
          <a:ln/>
        </p:spPr>
        <p:txBody>
          <a:bodyPr wrap="square" lIns="0" tIns="0" rIns="0" bIns="0" rtlCol="0" anchor="t"/>
          <a:lstStyle/>
          <a:p>
            <a:pPr marL="0" indent="0">
              <a:lnSpc>
                <a:spcPct val="120000"/>
              </a:lnSpc>
              <a:buNone/>
            </a:pPr>
            <a:r>
              <a:rPr lang="en-US" sz="1100" dirty="0">
                <a:solidFill>
                  <a:srgbClr val="5A6069"/>
                </a:solidFill>
                <a:latin typeface="Pretendard" pitchFamily="34" charset="0"/>
                <a:ea typeface="Pretendard" pitchFamily="34" charset="-122"/>
                <a:cs typeface="Pretendard" pitchFamily="34" charset="-120"/>
              </a:rPr>
              <a:t>근무표는 오늘 누가 나오는지까지만 말합니다. 그 다음 칸, 누가 인계를 맡았고 누가 받아서 확인했는지는 비어 있습니다. 그 한 칸을 붙였습니다.</a:t>
            </a:r>
            <a:endParaRPr lang="en-US" sz="1100" dirty="0"/>
          </a:p>
        </p:txBody>
      </p:sp>
      <p:sp>
        <p:nvSpPr>
          <p:cNvPr id="48" name="Text 46"/>
          <p:cNvSpPr txBox="1"/>
          <p:nvPr/>
        </p:nvSpPr>
        <p:spPr>
          <a:xfrm>
            <a:off x="548640" y="3520440"/>
            <a:ext cx="8046720" cy="274320"/>
          </a:xfrm>
          <a:prstGeom prst="rect">
            <a:avLst/>
          </a:prstGeom>
          <a:noFill/>
          <a:ln/>
        </p:spPr>
        <p:txBody>
          <a:bodyPr wrap="square" lIns="0" tIns="0" rIns="0" bIns="0" rtlCol="0" anchor="ctr"/>
          <a:lstStyle/>
          <a:p>
            <a:pPr marL="0" indent="0">
              <a:buNone/>
            </a:pPr>
            <a:r>
              <a:rPr lang="en-US" sz="1050" dirty="0">
                <a:solidFill>
                  <a:srgbClr val="C24A31"/>
                </a:solidFill>
                <a:latin typeface="Pretendard Medium" pitchFamily="34" charset="0"/>
                <a:ea typeface="Pretendard Medium" pitchFamily="34" charset="-122"/>
                <a:cs typeface="Pretendard Medium" pitchFamily="34" charset="-120"/>
              </a:rPr>
              <a:t>하지 않은 것   </a:t>
            </a:r>
            <a:r>
              <a:rPr lang="en-US" sz="1050" dirty="0">
                <a:solidFill>
                  <a:srgbClr val="5A6069"/>
                </a:solidFill>
                <a:latin typeface="Pretendard" pitchFamily="34" charset="0"/>
                <a:ea typeface="Pretendard" pitchFamily="34" charset="-122"/>
                <a:cs typeface="Pretendard" pitchFamily="34" charset="-120"/>
              </a:rPr>
              <a:t>근무표 자동 생성, 병원 전산(EMR) 연동, 실제 환자정보, 의학적 판단이나 추천, 교육·급여·알람</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5</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01  무엇을 만들었나</a:t>
            </a:r>
            <a:endParaRPr lang="en-US" sz="800" dirty="0"/>
          </a:p>
        </p:txBody>
      </p:sp>
      <p:sp>
        <p:nvSpPr>
          <p:cNvPr id="21" name="Shape 19"/>
          <p:cNvSpPr/>
          <p:nvPr/>
        </p:nvSpPr>
        <p:spPr>
          <a:xfrm>
            <a:off x="73152" y="640080"/>
            <a:ext cx="182880" cy="420624"/>
          </a:xfrm>
          <a:prstGeom prst="rect">
            <a:avLst/>
          </a:prstGeom>
          <a:solidFill>
            <a:srgbClr val="C24A31"/>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알아야 할 단어</a:t>
            </a:r>
            <a:endParaRPr lang="en-US" sz="2500" dirty="0"/>
          </a:p>
        </p:txBody>
      </p:sp>
      <p:sp>
        <p:nvSpPr>
          <p:cNvPr id="36" name="Text 34"/>
          <p:cNvSpPr txBox="1"/>
          <p:nvPr/>
        </p:nvSpPr>
        <p:spPr>
          <a:xfrm>
            <a:off x="548640" y="1042416"/>
            <a:ext cx="1280160" cy="673913"/>
          </a:xfrm>
          <a:prstGeom prst="rect">
            <a:avLst/>
          </a:prstGeom>
          <a:noFill/>
          <a:ln/>
        </p:spPr>
        <p:txBody>
          <a:bodyPr wrap="square" lIns="0" tIns="0" rIns="0" bIns="0" rtlCol="0" anchor="ctr"/>
          <a:lstStyle/>
          <a:p>
            <a:pPr marL="0" indent="0">
              <a:buNone/>
            </a:pPr>
            <a:r>
              <a:rPr lang="en-US" sz="1500" kern="0" spc="-30" dirty="0">
                <a:solidFill>
                  <a:srgbClr val="C24A31"/>
                </a:solidFill>
                <a:latin typeface="Pretendard ExtraBold" pitchFamily="34" charset="0"/>
                <a:ea typeface="Pretendard ExtraBold" pitchFamily="34" charset="-122"/>
                <a:cs typeface="Pretendard ExtraBold" pitchFamily="34" charset="-120"/>
              </a:rPr>
              <a:t>듀티</a:t>
            </a:r>
            <a:endParaRPr lang="en-US" sz="1500" dirty="0"/>
          </a:p>
        </p:txBody>
      </p:sp>
      <p:sp>
        <p:nvSpPr>
          <p:cNvPr id="37" name="Text 35"/>
          <p:cNvSpPr txBox="1"/>
          <p:nvPr/>
        </p:nvSpPr>
        <p:spPr>
          <a:xfrm>
            <a:off x="1920240" y="1042416"/>
            <a:ext cx="6675120" cy="673913"/>
          </a:xfrm>
          <a:prstGeom prst="rect">
            <a:avLst/>
          </a:prstGeom>
          <a:noFill/>
          <a:ln/>
        </p:spPr>
        <p:txBody>
          <a:bodyPr wrap="square" lIns="0" tIns="0" rIns="0" bIns="0" rtlCol="0" anchor="ctr"/>
          <a:lstStyle/>
          <a:p>
            <a:pPr marL="0" indent="0">
              <a:buNone/>
            </a:pPr>
            <a:r>
              <a:rPr lang="en-US" sz="1150" dirty="0">
                <a:solidFill>
                  <a:srgbClr val="2B333C"/>
                </a:solidFill>
                <a:latin typeface="Pretendard" pitchFamily="34" charset="0"/>
                <a:ea typeface="Pretendard" pitchFamily="34" charset="-122"/>
                <a:cs typeface="Pretendard" pitchFamily="34" charset="-120"/>
              </a:rPr>
              <a:t>하루를 셋으로 나눈 근무. 데이(D), 이브닝(E), 나이트(N).</a:t>
            </a:r>
            <a:endParaRPr lang="en-US" sz="1150" dirty="0"/>
          </a:p>
        </p:txBody>
      </p:sp>
      <p:sp>
        <p:nvSpPr>
          <p:cNvPr id="39" name="Text 37"/>
          <p:cNvSpPr txBox="1"/>
          <p:nvPr/>
        </p:nvSpPr>
        <p:spPr>
          <a:xfrm>
            <a:off x="548640" y="1716329"/>
            <a:ext cx="1280160" cy="673913"/>
          </a:xfrm>
          <a:prstGeom prst="rect">
            <a:avLst/>
          </a:prstGeom>
          <a:noFill/>
          <a:ln/>
        </p:spPr>
        <p:txBody>
          <a:bodyPr wrap="square" lIns="0" tIns="0" rIns="0" bIns="0" rtlCol="0" anchor="ctr"/>
          <a:lstStyle/>
          <a:p>
            <a:pPr marL="0" indent="0">
              <a:buNone/>
            </a:pPr>
            <a:r>
              <a:rPr lang="en-US" sz="1500" kern="0" spc="-30" dirty="0">
                <a:solidFill>
                  <a:srgbClr val="C24A31"/>
                </a:solidFill>
                <a:latin typeface="Pretendard ExtraBold" pitchFamily="34" charset="0"/>
                <a:ea typeface="Pretendard ExtraBold" pitchFamily="34" charset="-122"/>
                <a:cs typeface="Pretendard ExtraBold" pitchFamily="34" charset="-120"/>
              </a:rPr>
              <a:t>차지</a:t>
            </a:r>
            <a:endParaRPr lang="en-US" sz="1500" dirty="0"/>
          </a:p>
        </p:txBody>
      </p:sp>
      <p:sp>
        <p:nvSpPr>
          <p:cNvPr id="40" name="Text 38"/>
          <p:cNvSpPr txBox="1"/>
          <p:nvPr/>
        </p:nvSpPr>
        <p:spPr>
          <a:xfrm>
            <a:off x="1920240" y="1716329"/>
            <a:ext cx="6675120" cy="673913"/>
          </a:xfrm>
          <a:prstGeom prst="rect">
            <a:avLst/>
          </a:prstGeom>
          <a:noFill/>
          <a:ln/>
        </p:spPr>
        <p:txBody>
          <a:bodyPr wrap="square" lIns="0" tIns="0" rIns="0" bIns="0" rtlCol="0" anchor="ctr"/>
          <a:lstStyle/>
          <a:p>
            <a:pPr marL="0" indent="0">
              <a:buNone/>
            </a:pPr>
            <a:r>
              <a:rPr lang="en-US" sz="1150" dirty="0">
                <a:solidFill>
                  <a:srgbClr val="2B333C"/>
                </a:solidFill>
                <a:latin typeface="Pretendard" pitchFamily="34" charset="0"/>
                <a:ea typeface="Pretendard" pitchFamily="34" charset="-122"/>
                <a:cs typeface="Pretendard" pitchFamily="34" charset="-120"/>
              </a:rPr>
              <a:t>그 근무조의 책임 간호사. 팀마다 한 명. 인계를 쓰고 받는 사람</a:t>
            </a:r>
            <a:endParaRPr lang="en-US" sz="1150" dirty="0"/>
          </a:p>
        </p:txBody>
      </p:sp>
      <p:sp>
        <p:nvSpPr>
          <p:cNvPr id="42" name="Text 40"/>
          <p:cNvSpPr txBox="1"/>
          <p:nvPr/>
        </p:nvSpPr>
        <p:spPr>
          <a:xfrm>
            <a:off x="548640" y="2390242"/>
            <a:ext cx="1280160" cy="673913"/>
          </a:xfrm>
          <a:prstGeom prst="rect">
            <a:avLst/>
          </a:prstGeom>
          <a:noFill/>
          <a:ln/>
        </p:spPr>
        <p:txBody>
          <a:bodyPr wrap="square" lIns="0" tIns="0" rIns="0" bIns="0" rtlCol="0" anchor="ctr"/>
          <a:lstStyle/>
          <a:p>
            <a:pPr marL="0" indent="0">
              <a:buNone/>
            </a:pPr>
            <a:r>
              <a:rPr lang="en-US" sz="1500" kern="0" spc="-30" dirty="0">
                <a:solidFill>
                  <a:srgbClr val="C24A31"/>
                </a:solidFill>
                <a:latin typeface="Pretendard ExtraBold" pitchFamily="34" charset="0"/>
                <a:ea typeface="Pretendard ExtraBold" pitchFamily="34" charset="-122"/>
                <a:cs typeface="Pretendard ExtraBold" pitchFamily="34" charset="-120"/>
              </a:rPr>
              <a:t>액팅</a:t>
            </a:r>
            <a:endParaRPr lang="en-US" sz="1500" dirty="0"/>
          </a:p>
        </p:txBody>
      </p:sp>
      <p:sp>
        <p:nvSpPr>
          <p:cNvPr id="43" name="Text 41"/>
          <p:cNvSpPr txBox="1"/>
          <p:nvPr/>
        </p:nvSpPr>
        <p:spPr>
          <a:xfrm>
            <a:off x="1920240" y="2390242"/>
            <a:ext cx="6675120" cy="673913"/>
          </a:xfrm>
          <a:prstGeom prst="rect">
            <a:avLst/>
          </a:prstGeom>
          <a:noFill/>
          <a:ln/>
        </p:spPr>
        <p:txBody>
          <a:bodyPr wrap="square" lIns="0" tIns="0" rIns="0" bIns="0" rtlCol="0" anchor="ctr"/>
          <a:lstStyle/>
          <a:p>
            <a:pPr marL="0" indent="0">
              <a:buNone/>
            </a:pPr>
            <a:r>
              <a:rPr lang="en-US" sz="1150" dirty="0">
                <a:solidFill>
                  <a:srgbClr val="2B333C"/>
                </a:solidFill>
                <a:latin typeface="Pretendard" pitchFamily="34" charset="0"/>
                <a:ea typeface="Pretendard" pitchFamily="34" charset="-122"/>
                <a:cs typeface="Pretendard" pitchFamily="34" charset="-120"/>
              </a:rPr>
              <a:t>같이 일하는 간호사. 인계를 옆에서 같이 듣지만 공식 작성자는 아니다</a:t>
            </a:r>
            <a:endParaRPr lang="en-US" sz="1150" dirty="0"/>
          </a:p>
        </p:txBody>
      </p:sp>
      <p:sp>
        <p:nvSpPr>
          <p:cNvPr id="45" name="Text 43"/>
          <p:cNvSpPr txBox="1"/>
          <p:nvPr/>
        </p:nvSpPr>
        <p:spPr>
          <a:xfrm>
            <a:off x="548640" y="3064154"/>
            <a:ext cx="1280160" cy="673913"/>
          </a:xfrm>
          <a:prstGeom prst="rect">
            <a:avLst/>
          </a:prstGeom>
          <a:noFill/>
          <a:ln/>
        </p:spPr>
        <p:txBody>
          <a:bodyPr wrap="square" lIns="0" tIns="0" rIns="0" bIns="0" rtlCol="0" anchor="ctr"/>
          <a:lstStyle/>
          <a:p>
            <a:pPr marL="0" indent="0">
              <a:buNone/>
            </a:pPr>
            <a:r>
              <a:rPr lang="en-US" sz="1500" kern="0" spc="-30" dirty="0">
                <a:solidFill>
                  <a:srgbClr val="C24A31"/>
                </a:solidFill>
                <a:latin typeface="Pretendard ExtraBold" pitchFamily="34" charset="0"/>
                <a:ea typeface="Pretendard ExtraBold" pitchFamily="34" charset="-122"/>
                <a:cs typeface="Pretendard ExtraBold" pitchFamily="34" charset="-120"/>
              </a:rPr>
              <a:t>인계</a:t>
            </a:r>
            <a:endParaRPr lang="en-US" sz="1500" dirty="0"/>
          </a:p>
        </p:txBody>
      </p:sp>
      <p:sp>
        <p:nvSpPr>
          <p:cNvPr id="46" name="Text 44"/>
          <p:cNvSpPr txBox="1"/>
          <p:nvPr/>
        </p:nvSpPr>
        <p:spPr>
          <a:xfrm>
            <a:off x="1920240" y="3064154"/>
            <a:ext cx="6675120" cy="673913"/>
          </a:xfrm>
          <a:prstGeom prst="rect">
            <a:avLst/>
          </a:prstGeom>
          <a:noFill/>
          <a:ln/>
        </p:spPr>
        <p:txBody>
          <a:bodyPr wrap="square" lIns="0" tIns="0" rIns="0" bIns="0" rtlCol="0" anchor="ctr"/>
          <a:lstStyle/>
          <a:p>
            <a:pPr marL="0" indent="0">
              <a:buNone/>
            </a:pPr>
            <a:r>
              <a:rPr lang="en-US" sz="1150" dirty="0">
                <a:solidFill>
                  <a:srgbClr val="2B333C"/>
                </a:solidFill>
                <a:latin typeface="Pretendard" pitchFamily="34" charset="0"/>
                <a:ea typeface="Pretendard" pitchFamily="34" charset="-122"/>
                <a:cs typeface="Pretendard" pitchFamily="34" charset="-120"/>
              </a:rPr>
              <a:t>교대할 때 다음 근무자에게 넘기는 환자 상태와 주의사항. 이 서비스의 주인공</a:t>
            </a:r>
            <a:endParaRPr lang="en-US" sz="1150" dirty="0"/>
          </a:p>
        </p:txBody>
      </p:sp>
      <p:sp>
        <p:nvSpPr>
          <p:cNvPr id="48" name="Text 46"/>
          <p:cNvSpPr txBox="1"/>
          <p:nvPr/>
        </p:nvSpPr>
        <p:spPr>
          <a:xfrm>
            <a:off x="548640" y="3738067"/>
            <a:ext cx="1280160" cy="673913"/>
          </a:xfrm>
          <a:prstGeom prst="rect">
            <a:avLst/>
          </a:prstGeom>
          <a:noFill/>
          <a:ln/>
        </p:spPr>
        <p:txBody>
          <a:bodyPr wrap="square" lIns="0" tIns="0" rIns="0" bIns="0" rtlCol="0" anchor="ctr"/>
          <a:lstStyle/>
          <a:p>
            <a:pPr marL="0" indent="0">
              <a:buNone/>
            </a:pPr>
            <a:r>
              <a:rPr lang="en-US" sz="1500" kern="0" spc="-30" dirty="0">
                <a:solidFill>
                  <a:srgbClr val="C24A31"/>
                </a:solidFill>
                <a:latin typeface="Pretendard ExtraBold" pitchFamily="34" charset="0"/>
                <a:ea typeface="Pretendard ExtraBold" pitchFamily="34" charset="-122"/>
                <a:cs typeface="Pretendard ExtraBold" pitchFamily="34" charset="-120"/>
              </a:rPr>
              <a:t>결원</a:t>
            </a:r>
            <a:endParaRPr lang="en-US" sz="1500" dirty="0"/>
          </a:p>
        </p:txBody>
      </p:sp>
      <p:sp>
        <p:nvSpPr>
          <p:cNvPr id="49" name="Text 47"/>
          <p:cNvSpPr txBox="1"/>
          <p:nvPr/>
        </p:nvSpPr>
        <p:spPr>
          <a:xfrm>
            <a:off x="1920240" y="3738067"/>
            <a:ext cx="6675120" cy="673913"/>
          </a:xfrm>
          <a:prstGeom prst="rect">
            <a:avLst/>
          </a:prstGeom>
          <a:noFill/>
          <a:ln/>
        </p:spPr>
        <p:txBody>
          <a:bodyPr wrap="square" lIns="0" tIns="0" rIns="0" bIns="0" rtlCol="0" anchor="ctr"/>
          <a:lstStyle/>
          <a:p>
            <a:pPr marL="0" indent="0">
              <a:buNone/>
            </a:pPr>
            <a:r>
              <a:rPr lang="en-US" sz="1150" dirty="0">
                <a:solidFill>
                  <a:srgbClr val="2B333C"/>
                </a:solidFill>
                <a:latin typeface="Pretendard" pitchFamily="34" charset="0"/>
                <a:ea typeface="Pretendard" pitchFamily="34" charset="-122"/>
                <a:cs typeface="Pretendard" pitchFamily="34" charset="-120"/>
              </a:rPr>
              <a:t>근무하기로 한 사람이 못 나오는 것. 누가 대신 설지, 인계는 누가 받을지 다시 정해야 한다</a:t>
            </a:r>
            <a:endParaRPr lang="en-US" sz="1150" dirty="0"/>
          </a:p>
        </p:txBody>
      </p:sp>
      <p:sp>
        <p:nvSpPr>
          <p:cNvPr id="51" name="Text 49"/>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한 병동 기준. 병원마다, 병동마다 다르다는 것도 같은 </a:t>
            </a:r>
            <a:r>
              <a:rPr lang="en-US" sz="900" dirty="0" err="1">
                <a:solidFill>
                  <a:srgbClr val="8C9199"/>
                </a:solidFill>
                <a:latin typeface="Pretendard" pitchFamily="34" charset="0"/>
                <a:ea typeface="Pretendard" pitchFamily="34" charset="-122"/>
                <a:cs typeface="Pretendard" pitchFamily="34" charset="-120"/>
              </a:rPr>
              <a:t>인터뷰에서</a:t>
            </a:r>
            <a:r>
              <a:rPr lang="en-US" sz="900" dirty="0">
                <a:solidFill>
                  <a:srgbClr val="8C9199"/>
                </a:solidFill>
                <a:latin typeface="Pretendard" pitchFamily="34" charset="0"/>
                <a:ea typeface="Pretendard" pitchFamily="34" charset="-122"/>
                <a:cs typeface="Pretendard" pitchFamily="34" charset="-120"/>
              </a:rPr>
              <a:t> </a:t>
            </a:r>
            <a:r>
              <a:rPr lang="en-US" sz="900" dirty="0" err="1">
                <a:solidFill>
                  <a:srgbClr val="8C9199"/>
                </a:solidFill>
                <a:latin typeface="Pretendard" pitchFamily="34" charset="0"/>
                <a:ea typeface="Pretendard" pitchFamily="34" charset="-122"/>
                <a:cs typeface="Pretendard" pitchFamily="34" charset="-120"/>
              </a:rPr>
              <a:t>들었다</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6</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02  누가 쓰고, 어디까지 보나</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C24A31"/>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누가 쓰나</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두 사람. 다른 병동 사람은 못 들어온다</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2542032"/>
        </p:xfrm>
        <a:graphic>
          <a:graphicData uri="http://schemas.openxmlformats.org/drawingml/2006/table">
            <a:tbl>
              <a:tblPr/>
              <a:tblGrid>
                <a:gridCol w="13716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347472">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쓰는 사람</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볼 수 있는 것</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하는 일</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extLst>
                  <a:ext uri="{0D108BD9-81ED-4DB2-BD59-A6C34878D82A}">
                    <a16:rowId xmlns:a16="http://schemas.microsoft.com/office/drawing/2014/main" val="10000"/>
                  </a:ext>
                </a:extLst>
              </a:tr>
              <a:tr h="731520">
                <a:tc>
                  <a:txBody>
                    <a:bodyPr/>
                    <a:lstStyle/>
                    <a:p>
                      <a:pPr marL="0" indent="0" algn="l">
                        <a:buNone/>
                      </a:pPr>
                      <a:r>
                        <a:rPr lang="en-US" sz="1150" dirty="0">
                          <a:solidFill>
                            <a:srgbClr val="2B333C"/>
                          </a:solidFill>
                          <a:latin typeface="Pretendard SemiBold" pitchFamily="34" charset="0"/>
                          <a:ea typeface="Pretendard SemiBold" pitchFamily="34" charset="-122"/>
                          <a:cs typeface="Pretendard SemiBold" pitchFamily="34" charset="-120"/>
                        </a:rPr>
                        <a:t>수간호사</a:t>
                      </a:r>
                      <a:endParaRPr lang="en-US" sz="115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150" dirty="0">
                          <a:solidFill>
                            <a:srgbClr val="5A6069"/>
                          </a:solidFill>
                          <a:latin typeface="Pretendard" pitchFamily="34" charset="0"/>
                          <a:ea typeface="Pretendard" pitchFamily="34" charset="-122"/>
                          <a:cs typeface="Pretendard" pitchFamily="34" charset="-120"/>
                        </a:rPr>
                        <a:t>자기가 맡은 병동 전체 [C]</a:t>
                      </a:r>
                      <a:endParaRPr lang="en-US" sz="11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150" dirty="0">
                          <a:solidFill>
                            <a:srgbClr val="5A6069"/>
                          </a:solidFill>
                          <a:latin typeface="Pretendard" pitchFamily="34" charset="0"/>
                          <a:ea typeface="Pretendard" pitchFamily="34" charset="-122"/>
                          <a:cs typeface="Pretendard" pitchFamily="34" charset="-120"/>
                        </a:rPr>
                        <a:t>근무표 등록, 그날 역할과 인계 담당 정하기, 인계 항목 정하기</a:t>
                      </a:r>
                      <a:endParaRPr lang="en-US" sz="1150" dirty="0">
                        <a:latin typeface="Pretendard" charset="0"/>
                        <a:ea typeface="Pretendard" charset="0"/>
                        <a:cs typeface="Pretendard" charset="0"/>
                      </a:endParaRPr>
                    </a:p>
                    <a:p>
                      <a:pPr marL="0" indent="0" algn="l">
                        <a:buNone/>
                      </a:pPr>
                      <a:r>
                        <a:rPr lang="en-US" sz="1150" dirty="0">
                          <a:solidFill>
                            <a:srgbClr val="5A6069"/>
                          </a:solidFill>
                          <a:latin typeface="Pretendard" pitchFamily="34" charset="0"/>
                          <a:ea typeface="Pretendard" pitchFamily="34" charset="-122"/>
                          <a:cs typeface="Pretendard" pitchFamily="34" charset="-120"/>
                        </a:rPr>
                        <a:t>결원 생기면 다시 배정, 바뀐 내역 보기</a:t>
                      </a:r>
                      <a:endParaRPr lang="en-US" sz="11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lgn="l">
                        <a:buNone/>
                      </a:pPr>
                      <a:r>
                        <a:rPr lang="en-US" sz="1150" dirty="0">
                          <a:solidFill>
                            <a:srgbClr val="2B333C"/>
                          </a:solidFill>
                          <a:latin typeface="Pretendard SemiBold" pitchFamily="34" charset="0"/>
                          <a:ea typeface="Pretendard SemiBold" pitchFamily="34" charset="-122"/>
                          <a:cs typeface="Pretendard SemiBold" pitchFamily="34" charset="-120"/>
                        </a:rPr>
                        <a:t>간호사</a:t>
                      </a:r>
                      <a:endParaRPr lang="en-US" sz="115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150" dirty="0">
                          <a:solidFill>
                            <a:srgbClr val="5A6069"/>
                          </a:solidFill>
                          <a:latin typeface="Pretendard" pitchFamily="34" charset="0"/>
                          <a:ea typeface="Pretendard" pitchFamily="34" charset="-122"/>
                          <a:cs typeface="Pretendard" pitchFamily="34" charset="-120"/>
                        </a:rPr>
                        <a:t>내 근무와 역할, 우리 팀 환자</a:t>
                      </a:r>
                      <a:endParaRPr lang="en-US" sz="1150" dirty="0">
                        <a:latin typeface="Pretendard" charset="0"/>
                        <a:ea typeface="Pretendard" charset="0"/>
                        <a:cs typeface="Pretendard" charset="0"/>
                      </a:endParaRPr>
                    </a:p>
                    <a:p>
                      <a:pPr marL="0" indent="0" algn="l">
                        <a:buNone/>
                      </a:pPr>
                      <a:r>
                        <a:rPr lang="en-US" sz="1150" dirty="0">
                          <a:solidFill>
                            <a:srgbClr val="5A6069"/>
                          </a:solidFill>
                          <a:latin typeface="Pretendard" pitchFamily="34" charset="0"/>
                          <a:ea typeface="Pretendard" pitchFamily="34" charset="-122"/>
                          <a:cs typeface="Pretendard" pitchFamily="34" charset="-120"/>
                        </a:rPr>
                        <a:t>내가 맡은 인계</a:t>
                      </a:r>
                      <a:endParaRPr lang="en-US" sz="11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150" dirty="0">
                          <a:solidFill>
                            <a:srgbClr val="5A6069"/>
                          </a:solidFill>
                          <a:latin typeface="Pretendard" pitchFamily="34" charset="0"/>
                          <a:ea typeface="Pretendard" pitchFamily="34" charset="-122"/>
                          <a:cs typeface="Pretendard" pitchFamily="34" charset="-120"/>
                        </a:rPr>
                        <a:t>내 근무 확인. 차지면 인계 쓰기, 받고 확인하기</a:t>
                      </a:r>
                      <a:endParaRPr lang="en-US" sz="1150" dirty="0">
                        <a:latin typeface="Pretendard" charset="0"/>
                        <a:ea typeface="Pretendard" charset="0"/>
                        <a:cs typeface="Pretendard" charset="0"/>
                      </a:endParaRPr>
                    </a:p>
                    <a:p>
                      <a:pPr marL="0" indent="0" algn="l">
                        <a:buNone/>
                      </a:pPr>
                      <a:r>
                        <a:rPr lang="en-US" sz="1150" dirty="0">
                          <a:solidFill>
                            <a:srgbClr val="5A6069"/>
                          </a:solidFill>
                          <a:latin typeface="Pretendard" pitchFamily="34" charset="0"/>
                          <a:ea typeface="Pretendard" pitchFamily="34" charset="-122"/>
                          <a:cs typeface="Pretendard" pitchFamily="34" charset="-120"/>
                        </a:rPr>
                        <a:t>액팅이면 우리 팀 인계 읽기. 내가 주고받은 인계 보기</a:t>
                      </a:r>
                      <a:endParaRPr lang="en-US" sz="11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lgn="l">
                        <a:buNone/>
                      </a:pPr>
                      <a:r>
                        <a:rPr lang="en-US" sz="1150" dirty="0">
                          <a:solidFill>
                            <a:srgbClr val="8C9199"/>
                          </a:solidFill>
                          <a:latin typeface="Pretendard SemiBold" pitchFamily="34" charset="0"/>
                          <a:ea typeface="Pretendard SemiBold" pitchFamily="34" charset="-122"/>
                          <a:cs typeface="Pretendard SemiBold" pitchFamily="34" charset="-120"/>
                        </a:rPr>
                        <a:t>다른 병동 사람</a:t>
                      </a:r>
                      <a:endParaRPr lang="en-US" sz="115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150" dirty="0">
                          <a:solidFill>
                            <a:srgbClr val="5A6069"/>
                          </a:solidFill>
                          <a:latin typeface="Pretendard" pitchFamily="34" charset="0"/>
                          <a:ea typeface="Pretendard" pitchFamily="34" charset="-122"/>
                          <a:cs typeface="Pretendard" pitchFamily="34" charset="-120"/>
                        </a:rPr>
                        <a:t>아무것도</a:t>
                      </a:r>
                      <a:endParaRPr lang="en-US" sz="11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150" dirty="0">
                          <a:solidFill>
                            <a:srgbClr val="5A6069"/>
                          </a:solidFill>
                          <a:latin typeface="Pretendard" pitchFamily="34" charset="0"/>
                          <a:ea typeface="Pretendard" pitchFamily="34" charset="-122"/>
                          <a:cs typeface="Pretendard" pitchFamily="34" charset="-120"/>
                        </a:rPr>
                        <a:t>막는다. "없는 것처럼"이 아니라 "권한이 없다"고 답한다(403)</a:t>
                      </a:r>
                      <a:endParaRPr lang="en-US" sz="11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7</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02  누가 쓰고, 어디까지 보나</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C24A31"/>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기능</a:t>
            </a:r>
            <a:endParaRPr lang="en-US" sz="25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024128"/>
          <a:ext cx="8046720" cy="3505962"/>
        </p:xfrm>
        <a:graphic>
          <a:graphicData uri="http://schemas.openxmlformats.org/drawingml/2006/table">
            <a:tbl>
              <a:tblPr/>
              <a:tblGrid>
                <a:gridCol w="594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347472">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ID</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하는 일</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누가</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화면</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막힐 때</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extLst>
                  <a:ext uri="{0D108BD9-81ED-4DB2-BD59-A6C34878D82A}">
                    <a16:rowId xmlns:a16="http://schemas.microsoft.com/office/drawing/2014/main" val="10000"/>
                  </a:ext>
                </a:extLst>
              </a:tr>
              <a:tr h="509778">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F-01</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확정된 근무표 등록</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수간호사</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3</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권한 없음 403, 같은 사람 중복 409</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1"/>
                  </a:ext>
                </a:extLst>
              </a:tr>
              <a:tr h="509778">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F-02</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그날 역할과 인계 담당 정하기</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수간호사</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4</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403, 409, 입력 모자람 422</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2"/>
                  </a:ext>
                </a:extLst>
              </a:tr>
              <a:tr h="509778">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F-03</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내 근무·역할·바뀐 내용 확인</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간호사</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8</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남의 배정 조회는 403</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3"/>
                  </a:ext>
                </a:extLst>
              </a:tr>
              <a:tr h="509778">
                <a:tc>
                  <a:txBody>
                    <a:bodyPr/>
                    <a:lstStyle/>
                    <a:p>
                      <a:pPr marL="0" indent="0" algn="l">
                        <a:buNone/>
                      </a:pPr>
                      <a:r>
                        <a:rPr lang="en-US" sz="1000" dirty="0">
                          <a:solidFill>
                            <a:srgbClr val="C24A31"/>
                          </a:solidFill>
                          <a:latin typeface="Pretendard SemiBold" pitchFamily="34" charset="0"/>
                          <a:ea typeface="Pretendard SemiBold" pitchFamily="34" charset="-122"/>
                          <a:cs typeface="Pretendard SemiBold" pitchFamily="34" charset="-120"/>
                        </a:rPr>
                        <a:t>F-04</a:t>
                      </a:r>
                      <a:endParaRPr lang="en-US" sz="100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2B333C"/>
                          </a:solidFill>
                          <a:latin typeface="Pretendard SemiBold" pitchFamily="34" charset="0"/>
                          <a:ea typeface="Pretendard SemiBold" pitchFamily="34" charset="-122"/>
                          <a:cs typeface="Pretendard SemiBold" pitchFamily="34" charset="-120"/>
                        </a:rPr>
                        <a:t>인계 쓰기, 받은 사람이 요약해 확인</a:t>
                      </a:r>
                      <a:endParaRPr lang="en-US" sz="100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차지가 쓰고, 다음 차지가 확인</a:t>
                      </a:r>
                      <a:endParaRPr lang="en-US" sz="1000" dirty="0">
                        <a:latin typeface="Pretendard" charset="0"/>
                        <a:ea typeface="Pretendard" charset="0"/>
                        <a:cs typeface="Pretendard" charset="0"/>
                      </a:endParaRPr>
                    </a:p>
                    <a:p>
                      <a:pPr marL="0" indent="0" algn="l">
                        <a:buNone/>
                      </a:pPr>
                      <a:r>
                        <a:rPr lang="en-US" sz="1000" dirty="0">
                          <a:solidFill>
                            <a:srgbClr val="5A6069"/>
                          </a:solidFill>
                          <a:latin typeface="Pretendard" pitchFamily="34" charset="0"/>
                          <a:ea typeface="Pretendard" pitchFamily="34" charset="-122"/>
                          <a:cs typeface="Pretendard" pitchFamily="34" charset="-120"/>
                        </a:rPr>
                        <a:t>액팅은 읽기</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9, 10, 11</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당사자 아님 403, 필수·요약 미입력 422</a:t>
                      </a:r>
                      <a:endParaRPr lang="en-US" sz="1000" dirty="0">
                        <a:latin typeface="Pretendard" charset="0"/>
                        <a:ea typeface="Pretendard" charset="0"/>
                        <a:cs typeface="Pretendard" charset="0"/>
                      </a:endParaRPr>
                    </a:p>
                    <a:p>
                      <a:pPr marL="0" indent="0" algn="l">
                        <a:buNone/>
                      </a:pPr>
                      <a:r>
                        <a:rPr lang="en-US" sz="1000" dirty="0">
                          <a:solidFill>
                            <a:srgbClr val="5A6069"/>
                          </a:solidFill>
                          <a:latin typeface="Pretendard" pitchFamily="34" charset="0"/>
                          <a:ea typeface="Pretendard" pitchFamily="34" charset="-122"/>
                          <a:cs typeface="Pretendard" pitchFamily="34" charset="-120"/>
                        </a:rPr>
                        <a:t>재확인·퇴원 409</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4"/>
                  </a:ext>
                </a:extLst>
              </a:tr>
              <a:tr h="509778">
                <a:tc>
                  <a:txBody>
                    <a:bodyPr/>
                    <a:lstStyle/>
                    <a:p>
                      <a:pPr marL="0" indent="0" algn="l">
                        <a:buNone/>
                      </a:pPr>
                      <a:r>
                        <a:rPr lang="en-US" sz="1000" dirty="0">
                          <a:solidFill>
                            <a:srgbClr val="C24A31"/>
                          </a:solidFill>
                          <a:latin typeface="Pretendard SemiBold" pitchFamily="34" charset="0"/>
                          <a:ea typeface="Pretendard SemiBold" pitchFamily="34" charset="-122"/>
                          <a:cs typeface="Pretendard SemiBold" pitchFamily="34" charset="-120"/>
                        </a:rPr>
                        <a:t>F-05</a:t>
                      </a:r>
                      <a:endParaRPr lang="en-US" sz="100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2B333C"/>
                          </a:solidFill>
                          <a:latin typeface="Pretendard SemiBold" pitchFamily="34" charset="0"/>
                          <a:ea typeface="Pretendard SemiBold" pitchFamily="34" charset="-122"/>
                          <a:cs typeface="Pretendard SemiBold" pitchFamily="34" charset="-120"/>
                        </a:rPr>
                        <a:t>결원 등록, 다시 배정, 완료 확인과 이력</a:t>
                      </a:r>
                      <a:endParaRPr lang="en-US" sz="100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수간호사</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6, 7</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대체자 없이 완료 422, 재확인 409</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5"/>
                  </a:ext>
                </a:extLst>
              </a:tr>
              <a:tr h="509778">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F-06</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병동 인계 항목 정하기 (F-04 가 쓰는 양식)</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수간호사</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5</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00" dirty="0">
                          <a:solidFill>
                            <a:srgbClr val="5A6069"/>
                          </a:solidFill>
                          <a:latin typeface="Pretendard" pitchFamily="34" charset="0"/>
                          <a:ea typeface="Pretendard" pitchFamily="34" charset="-122"/>
                          <a:cs typeface="Pretendard" pitchFamily="34" charset="-120"/>
                        </a:rPr>
                        <a:t>간호사가 고치려 하면 403</a:t>
                      </a:r>
                      <a:endParaRPr lang="en-US" sz="100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38" name="Text 35"/>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F-04 가 첫 번째 불편, F-05 가 두 번째 불편. 나머지 넷은 그 둘이 서려면 있어야 하는 기반</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8</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03  화면 흐름</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C24A31"/>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화면 흐름</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로그인에서 두 갈래. 실선은 화면 이동, 점선은 데이터가 넘어가는 길</a:t>
            </a:r>
            <a:endParaRPr lang="en-US" sz="1200" dirty="0"/>
          </a:p>
        </p:txBody>
      </p:sp>
      <p:pic>
        <p:nvPicPr>
          <p:cNvPr id="37" name="Image 0" descr="/Users/hwangjaewon/skala-workspace/skala-webservice-mini/assets/ui_flow.png"/>
          <p:cNvPicPr>
            <a:picLocks noChangeAspect="1"/>
          </p:cNvPicPr>
          <p:nvPr/>
        </p:nvPicPr>
        <p:blipFill>
          <a:blip r:embed="rId3"/>
          <a:stretch>
            <a:fillRect/>
          </a:stretch>
        </p:blipFill>
        <p:spPr>
          <a:xfrm>
            <a:off x="2166713" y="1152144"/>
            <a:ext cx="4810575" cy="3314700"/>
          </a:xfrm>
          <a:prstGeom prst="rect">
            <a:avLst/>
          </a:prstGeom>
        </p:spPr>
      </p:pic>
      <p:sp>
        <p:nvSpPr>
          <p:cNvPr id="39" name="Text 36"/>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화면 11개가 전부 이 그림 안에 있다. 점선 네 개가 수간호사와 간호사를 잇는다</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9</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04  화면마다 도는 API</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C24A31"/>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화면들을 읽는 법</a:t>
            </a:r>
            <a:endParaRPr lang="en-US" sz="2500" dirty="0"/>
          </a:p>
        </p:txBody>
      </p:sp>
      <p:sp>
        <p:nvSpPr>
          <p:cNvPr id="36" name="Shape 34"/>
          <p:cNvSpPr/>
          <p:nvPr/>
        </p:nvSpPr>
        <p:spPr>
          <a:xfrm>
            <a:off x="640080" y="1490472"/>
            <a:ext cx="274320" cy="274320"/>
          </a:xfrm>
          <a:prstGeom prst="ellipse">
            <a:avLst/>
          </a:prstGeom>
          <a:solidFill>
            <a:srgbClr val="C24A31"/>
          </a:solidFill>
          <a:ln/>
        </p:spPr>
        <p:txBody>
          <a:bodyPr/>
          <a:lstStyle/>
          <a:p>
            <a:endParaRPr/>
          </a:p>
        </p:txBody>
      </p:sp>
      <p:sp>
        <p:nvSpPr>
          <p:cNvPr id="37" name="Text 35"/>
          <p:cNvSpPr txBox="1"/>
          <p:nvPr/>
        </p:nvSpPr>
        <p:spPr>
          <a:xfrm>
            <a:off x="1133856" y="1188720"/>
            <a:ext cx="1005840" cy="877824"/>
          </a:xfrm>
          <a:prstGeom prst="rect">
            <a:avLst/>
          </a:prstGeom>
          <a:noFill/>
          <a:ln/>
        </p:spPr>
        <p:txBody>
          <a:bodyPr wrap="square" lIns="0" tIns="0" rIns="0" bIns="0" rtlCol="0" anchor="ctr"/>
          <a:lstStyle/>
          <a:p>
            <a:pPr marL="0" indent="0">
              <a:buNone/>
            </a:pPr>
            <a:r>
              <a:rPr lang="en-US" sz="1400" dirty="0">
                <a:solidFill>
                  <a:srgbClr val="C24A31"/>
                </a:solidFill>
                <a:latin typeface="Pretendard ExtraBold" pitchFamily="34" charset="0"/>
                <a:ea typeface="Pretendard ExtraBold" pitchFamily="34" charset="-122"/>
                <a:cs typeface="Pretendard ExtraBold" pitchFamily="34" charset="-120"/>
              </a:rPr>
              <a:t>빨간 원</a:t>
            </a:r>
            <a:endParaRPr lang="en-US" sz="1400" dirty="0"/>
          </a:p>
        </p:txBody>
      </p:sp>
      <p:sp>
        <p:nvSpPr>
          <p:cNvPr id="38" name="Text 36"/>
          <p:cNvSpPr txBox="1"/>
          <p:nvPr/>
        </p:nvSpPr>
        <p:spPr>
          <a:xfrm>
            <a:off x="2194560" y="1188720"/>
            <a:ext cx="6309360" cy="877824"/>
          </a:xfrm>
          <a:prstGeom prst="rect">
            <a:avLst/>
          </a:prstGeom>
          <a:noFill/>
          <a:ln/>
        </p:spPr>
        <p:txBody>
          <a:bodyPr wrap="square" lIns="0" tIns="0" rIns="0" bIns="0" rtlCol="0" anchor="ctr"/>
          <a:lstStyle/>
          <a:p>
            <a:pPr marL="0" indent="0">
              <a:buNone/>
            </a:pPr>
            <a:r>
              <a:rPr lang="en-US" sz="1250" dirty="0">
                <a:solidFill>
                  <a:srgbClr val="2B333C"/>
                </a:solidFill>
                <a:latin typeface="Pretendard" pitchFamily="34" charset="0"/>
                <a:ea typeface="Pretendard" pitchFamily="34" charset="-122"/>
                <a:cs typeface="Pretendard" pitchFamily="34" charset="-120"/>
              </a:rPr>
              <a:t>API 가 호출되는 곳. 어떤 주소로 무엇을 하는지</a:t>
            </a:r>
            <a:endParaRPr lang="en-US" sz="1250" dirty="0"/>
          </a:p>
        </p:txBody>
      </p:sp>
      <p:sp>
        <p:nvSpPr>
          <p:cNvPr id="40" name="Shape 38"/>
          <p:cNvSpPr/>
          <p:nvPr/>
        </p:nvSpPr>
        <p:spPr>
          <a:xfrm>
            <a:off x="640080" y="2404872"/>
            <a:ext cx="274320" cy="274320"/>
          </a:xfrm>
          <a:prstGeom prst="ellipse">
            <a:avLst/>
          </a:prstGeom>
          <a:solidFill>
            <a:srgbClr val="2B333C"/>
          </a:solidFill>
          <a:ln/>
        </p:spPr>
        <p:txBody>
          <a:bodyPr/>
          <a:lstStyle/>
          <a:p>
            <a:endParaRPr/>
          </a:p>
        </p:txBody>
      </p:sp>
      <p:sp>
        <p:nvSpPr>
          <p:cNvPr id="41" name="Text 39"/>
          <p:cNvSpPr txBox="1"/>
          <p:nvPr/>
        </p:nvSpPr>
        <p:spPr>
          <a:xfrm>
            <a:off x="1133856" y="2103120"/>
            <a:ext cx="1005840" cy="877824"/>
          </a:xfrm>
          <a:prstGeom prst="rect">
            <a:avLst/>
          </a:prstGeom>
          <a:noFill/>
          <a:ln/>
        </p:spPr>
        <p:txBody>
          <a:bodyPr wrap="square" lIns="0" tIns="0" rIns="0" bIns="0" rtlCol="0" anchor="ctr"/>
          <a:lstStyle/>
          <a:p>
            <a:pPr marL="0" indent="0">
              <a:buNone/>
            </a:pPr>
            <a:r>
              <a:rPr lang="en-US" sz="1400" dirty="0">
                <a:solidFill>
                  <a:srgbClr val="2B333C"/>
                </a:solidFill>
                <a:latin typeface="Pretendard ExtraBold" pitchFamily="34" charset="0"/>
                <a:ea typeface="Pretendard ExtraBold" pitchFamily="34" charset="-122"/>
                <a:cs typeface="Pretendard ExtraBold" pitchFamily="34" charset="-120"/>
              </a:rPr>
              <a:t>검은 원</a:t>
            </a:r>
            <a:endParaRPr lang="en-US" sz="1400" dirty="0"/>
          </a:p>
        </p:txBody>
      </p:sp>
      <p:sp>
        <p:nvSpPr>
          <p:cNvPr id="42" name="Text 40"/>
          <p:cNvSpPr txBox="1"/>
          <p:nvPr/>
        </p:nvSpPr>
        <p:spPr>
          <a:xfrm>
            <a:off x="2194560" y="2103120"/>
            <a:ext cx="6309360" cy="877824"/>
          </a:xfrm>
          <a:prstGeom prst="rect">
            <a:avLst/>
          </a:prstGeom>
          <a:noFill/>
          <a:ln/>
        </p:spPr>
        <p:txBody>
          <a:bodyPr wrap="square" lIns="0" tIns="0" rIns="0" bIns="0" rtlCol="0" anchor="ctr"/>
          <a:lstStyle/>
          <a:p>
            <a:pPr marL="0" indent="0">
              <a:buNone/>
            </a:pPr>
            <a:r>
              <a:rPr lang="en-US" sz="1250" dirty="0">
                <a:solidFill>
                  <a:srgbClr val="2B333C"/>
                </a:solidFill>
                <a:latin typeface="Pretendard" pitchFamily="34" charset="0"/>
                <a:ea typeface="Pretendard" pitchFamily="34" charset="-122"/>
                <a:cs typeface="Pretendard" pitchFamily="34" charset="-120"/>
              </a:rPr>
              <a:t>화면이 이동하는 곳. 이 버튼을 누르면 어디로 가는지</a:t>
            </a:r>
            <a:endParaRPr lang="en-US" sz="1250" dirty="0"/>
          </a:p>
        </p:txBody>
      </p:sp>
      <p:sp>
        <p:nvSpPr>
          <p:cNvPr id="44" name="Shape 42"/>
          <p:cNvSpPr/>
          <p:nvPr/>
        </p:nvSpPr>
        <p:spPr>
          <a:xfrm>
            <a:off x="640080" y="3319272"/>
            <a:ext cx="274320" cy="274320"/>
          </a:xfrm>
          <a:prstGeom prst="ellipse">
            <a:avLst/>
          </a:prstGeom>
          <a:solidFill>
            <a:srgbClr val="FFFFFF"/>
          </a:solidFill>
          <a:ln w="19050">
            <a:solidFill>
              <a:srgbClr val="C24A31"/>
            </a:solidFill>
            <a:prstDash val="solid"/>
          </a:ln>
        </p:spPr>
        <p:txBody>
          <a:bodyPr/>
          <a:lstStyle/>
          <a:p>
            <a:endParaRPr/>
          </a:p>
        </p:txBody>
      </p:sp>
      <p:sp>
        <p:nvSpPr>
          <p:cNvPr id="45" name="Text 43"/>
          <p:cNvSpPr txBox="1"/>
          <p:nvPr/>
        </p:nvSpPr>
        <p:spPr>
          <a:xfrm>
            <a:off x="1133856" y="3017520"/>
            <a:ext cx="1005840" cy="877824"/>
          </a:xfrm>
          <a:prstGeom prst="rect">
            <a:avLst/>
          </a:prstGeom>
          <a:noFill/>
          <a:ln/>
        </p:spPr>
        <p:txBody>
          <a:bodyPr wrap="square" lIns="0" tIns="0" rIns="0" bIns="0" rtlCol="0" anchor="ctr"/>
          <a:lstStyle/>
          <a:p>
            <a:pPr marL="0" indent="0">
              <a:buNone/>
            </a:pPr>
            <a:r>
              <a:rPr lang="en-US" sz="1400" dirty="0">
                <a:solidFill>
                  <a:srgbClr val="C24A31"/>
                </a:solidFill>
                <a:latin typeface="Pretendard ExtraBold" pitchFamily="34" charset="0"/>
                <a:ea typeface="Pretendard ExtraBold" pitchFamily="34" charset="-122"/>
                <a:cs typeface="Pretendard ExtraBold" pitchFamily="34" charset="-120"/>
              </a:rPr>
              <a:t>빨간 테두리</a:t>
            </a:r>
            <a:endParaRPr lang="en-US" sz="1400" dirty="0"/>
          </a:p>
        </p:txBody>
      </p:sp>
      <p:sp>
        <p:nvSpPr>
          <p:cNvPr id="46" name="Text 44"/>
          <p:cNvSpPr txBox="1"/>
          <p:nvPr/>
        </p:nvSpPr>
        <p:spPr>
          <a:xfrm>
            <a:off x="2194560" y="3017520"/>
            <a:ext cx="6309360" cy="877824"/>
          </a:xfrm>
          <a:prstGeom prst="rect">
            <a:avLst/>
          </a:prstGeom>
          <a:noFill/>
          <a:ln/>
        </p:spPr>
        <p:txBody>
          <a:bodyPr wrap="square" lIns="0" tIns="0" rIns="0" bIns="0" rtlCol="0" anchor="ctr"/>
          <a:lstStyle/>
          <a:p>
            <a:pPr marL="0" indent="0">
              <a:buNone/>
            </a:pPr>
            <a:r>
              <a:rPr lang="en-US" sz="1250" dirty="0">
                <a:solidFill>
                  <a:srgbClr val="2B333C"/>
                </a:solidFill>
                <a:latin typeface="Pretendard" pitchFamily="34" charset="0"/>
                <a:ea typeface="Pretendard" pitchFamily="34" charset="-122"/>
                <a:cs typeface="Pretendard" pitchFamily="34" charset="-120"/>
              </a:rPr>
              <a:t>막히는 곳. 오류와 예외. 왜 막는지가 이 설계의 핵심</a:t>
            </a:r>
            <a:endParaRPr lang="en-US" sz="1250" dirty="0"/>
          </a:p>
        </p:txBody>
      </p:sp>
      <p:sp>
        <p:nvSpPr>
          <p:cNvPr id="48" name="Text 46"/>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캡처는 전부 실제로 도는 데모에서 찍었다. 가상 데이터이고, 화면에 보이는 주소가 그대로 API 명세의 주소</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10</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04  화면마다 도는 API</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C24A31"/>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간호사 첫 화면</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내 근무, 우리 팀 환자, 받은 인계와 보낼 인계</a:t>
            </a:r>
            <a:endParaRPr lang="en-US" sz="1200" dirty="0"/>
          </a:p>
        </p:txBody>
      </p:sp>
      <p:pic>
        <p:nvPicPr>
          <p:cNvPr id="37" name="Image 0" descr="/Users/hwangjaewon/skala-workspace/skala-webservice-mini/assets/8_myshift_nurse.png"/>
          <p:cNvPicPr>
            <a:picLocks noChangeAspect="1"/>
          </p:cNvPicPr>
          <p:nvPr/>
        </p:nvPicPr>
        <p:blipFill>
          <a:blip r:embed="rId3"/>
          <a:stretch>
            <a:fillRect/>
          </a:stretch>
        </p:blipFill>
        <p:spPr>
          <a:xfrm>
            <a:off x="548640" y="1152144"/>
            <a:ext cx="4828032" cy="3017520"/>
          </a:xfrm>
          <a:prstGeom prst="rect">
            <a:avLst/>
          </a:prstGeom>
        </p:spPr>
      </p:pic>
      <p:sp>
        <p:nvSpPr>
          <p:cNvPr id="38" name="Shape 35"/>
          <p:cNvSpPr/>
          <p:nvPr/>
        </p:nvSpPr>
        <p:spPr>
          <a:xfrm>
            <a:off x="548640" y="1152144"/>
            <a:ext cx="4828032" cy="3017520"/>
          </a:xfrm>
          <a:prstGeom prst="rect">
            <a:avLst/>
          </a:prstGeom>
          <a:ln w="9525">
            <a:solidFill>
              <a:srgbClr val="E4E2DB"/>
            </a:solidFill>
            <a:prstDash val="solid"/>
          </a:ln>
        </p:spPr>
        <p:txBody>
          <a:bodyPr/>
          <a:lstStyle/>
          <a:p>
            <a:endParaRPr/>
          </a:p>
        </p:txBody>
      </p:sp>
      <p:sp>
        <p:nvSpPr>
          <p:cNvPr id="39" name="Shape 36"/>
          <p:cNvSpPr/>
          <p:nvPr/>
        </p:nvSpPr>
        <p:spPr>
          <a:xfrm>
            <a:off x="2823058" y="1522171"/>
            <a:ext cx="192024" cy="192024"/>
          </a:xfrm>
          <a:prstGeom prst="ellipse">
            <a:avLst/>
          </a:prstGeom>
          <a:solidFill>
            <a:srgbClr val="C24A31"/>
          </a:solidFill>
          <a:ln w="12700">
            <a:solidFill>
              <a:srgbClr val="FFFFFF"/>
            </a:solidFill>
            <a:prstDash val="solid"/>
          </a:ln>
        </p:spPr>
        <p:txBody>
          <a:bodyPr/>
          <a:lstStyle/>
          <a:p>
            <a:endParaRPr/>
          </a:p>
        </p:txBody>
      </p:sp>
      <p:sp>
        <p:nvSpPr>
          <p:cNvPr id="40" name="Text 37"/>
          <p:cNvSpPr txBox="1"/>
          <p:nvPr/>
        </p:nvSpPr>
        <p:spPr>
          <a:xfrm>
            <a:off x="2823058" y="1522171"/>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
        <p:nvSpPr>
          <p:cNvPr id="41" name="Shape 38"/>
          <p:cNvSpPr/>
          <p:nvPr/>
        </p:nvSpPr>
        <p:spPr>
          <a:xfrm>
            <a:off x="3064459" y="1854098"/>
            <a:ext cx="192024" cy="192024"/>
          </a:xfrm>
          <a:prstGeom prst="ellipse">
            <a:avLst/>
          </a:prstGeom>
          <a:solidFill>
            <a:srgbClr val="2B333C"/>
          </a:solidFill>
          <a:ln w="12700">
            <a:solidFill>
              <a:srgbClr val="FFFFFF"/>
            </a:solidFill>
            <a:prstDash val="solid"/>
          </a:ln>
        </p:spPr>
        <p:txBody>
          <a:bodyPr/>
          <a:lstStyle/>
          <a:p>
            <a:endParaRPr/>
          </a:p>
        </p:txBody>
      </p:sp>
      <p:sp>
        <p:nvSpPr>
          <p:cNvPr id="42" name="Text 39"/>
          <p:cNvSpPr txBox="1"/>
          <p:nvPr/>
        </p:nvSpPr>
        <p:spPr>
          <a:xfrm>
            <a:off x="3064459" y="1854098"/>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
        <p:nvSpPr>
          <p:cNvPr id="43" name="Shape 40"/>
          <p:cNvSpPr/>
          <p:nvPr/>
        </p:nvSpPr>
        <p:spPr>
          <a:xfrm>
            <a:off x="3597554" y="1854098"/>
            <a:ext cx="192024" cy="192024"/>
          </a:xfrm>
          <a:prstGeom prst="ellipse">
            <a:avLst/>
          </a:prstGeom>
          <a:solidFill>
            <a:srgbClr val="2B333C"/>
          </a:solidFill>
          <a:ln w="12700">
            <a:solidFill>
              <a:srgbClr val="FFFFFF"/>
            </a:solidFill>
            <a:prstDash val="solid"/>
          </a:ln>
        </p:spPr>
        <p:txBody>
          <a:bodyPr/>
          <a:lstStyle/>
          <a:p>
            <a:endParaRPr/>
          </a:p>
        </p:txBody>
      </p:sp>
      <p:sp>
        <p:nvSpPr>
          <p:cNvPr id="44" name="Text 41"/>
          <p:cNvSpPr txBox="1"/>
          <p:nvPr/>
        </p:nvSpPr>
        <p:spPr>
          <a:xfrm>
            <a:off x="3597554" y="1854098"/>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3</a:t>
            </a:r>
            <a:endParaRPr lang="en-US" sz="900" dirty="0"/>
          </a:p>
        </p:txBody>
      </p:sp>
      <p:sp>
        <p:nvSpPr>
          <p:cNvPr id="45" name="Shape 42"/>
          <p:cNvSpPr/>
          <p:nvPr/>
        </p:nvSpPr>
        <p:spPr>
          <a:xfrm>
            <a:off x="4616806" y="2326843"/>
            <a:ext cx="192024" cy="192024"/>
          </a:xfrm>
          <a:prstGeom prst="ellipse">
            <a:avLst/>
          </a:prstGeom>
          <a:solidFill>
            <a:srgbClr val="2B333C"/>
          </a:solidFill>
          <a:ln w="12700">
            <a:solidFill>
              <a:srgbClr val="FFFFFF"/>
            </a:solidFill>
            <a:prstDash val="solid"/>
          </a:ln>
        </p:spPr>
        <p:txBody>
          <a:bodyPr/>
          <a:lstStyle/>
          <a:p>
            <a:endParaRPr/>
          </a:p>
        </p:txBody>
      </p:sp>
      <p:sp>
        <p:nvSpPr>
          <p:cNvPr id="46" name="Text 43"/>
          <p:cNvSpPr txBox="1"/>
          <p:nvPr/>
        </p:nvSpPr>
        <p:spPr>
          <a:xfrm>
            <a:off x="4616806" y="2326843"/>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4</a:t>
            </a:r>
            <a:endParaRPr lang="en-US" sz="900" dirty="0"/>
          </a:p>
        </p:txBody>
      </p:sp>
      <p:sp>
        <p:nvSpPr>
          <p:cNvPr id="47" name="Shape 44"/>
          <p:cNvSpPr/>
          <p:nvPr/>
        </p:nvSpPr>
        <p:spPr>
          <a:xfrm>
            <a:off x="5577840" y="1243584"/>
            <a:ext cx="192024" cy="192024"/>
          </a:xfrm>
          <a:prstGeom prst="ellipse">
            <a:avLst/>
          </a:prstGeom>
          <a:solidFill>
            <a:srgbClr val="C24A31"/>
          </a:solidFill>
          <a:ln/>
        </p:spPr>
        <p:txBody>
          <a:bodyPr/>
          <a:lstStyle/>
          <a:p>
            <a:endParaRPr/>
          </a:p>
        </p:txBody>
      </p:sp>
      <p:sp>
        <p:nvSpPr>
          <p:cNvPr id="48" name="Text 45"/>
          <p:cNvSpPr txBox="1"/>
          <p:nvPr/>
        </p:nvSpPr>
        <p:spPr>
          <a:xfrm>
            <a:off x="5577840" y="124358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1</a:t>
            </a:r>
            <a:endParaRPr lang="en-US" sz="850" dirty="0"/>
          </a:p>
        </p:txBody>
      </p:sp>
      <p:sp>
        <p:nvSpPr>
          <p:cNvPr id="49" name="Text 46"/>
          <p:cNvSpPr txBox="1"/>
          <p:nvPr/>
        </p:nvSpPr>
        <p:spPr>
          <a:xfrm>
            <a:off x="5870448" y="1188720"/>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GET /me/shifts
</a:t>
            </a:r>
            <a:r>
              <a:rPr lang="en-US" sz="950" dirty="0">
                <a:solidFill>
                  <a:srgbClr val="2B333C"/>
                </a:solidFill>
                <a:latin typeface="Pretendard Medium" pitchFamily="34" charset="0"/>
                <a:ea typeface="Pretendard Medium" pitchFamily="34" charset="-122"/>
                <a:cs typeface="Pretendard Medium" pitchFamily="34" charset="-120"/>
              </a:rPr>
              <a:t>내 근무와 역할, 우리 팀 환자를 한 번에</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인계 담당이 없어도 근무와 역할은 보인다</a:t>
            </a:r>
            <a:endParaRPr lang="en-US" sz="850" dirty="0"/>
          </a:p>
        </p:txBody>
      </p:sp>
      <p:sp>
        <p:nvSpPr>
          <p:cNvPr id="50" name="Shape 47"/>
          <p:cNvSpPr/>
          <p:nvPr/>
        </p:nvSpPr>
        <p:spPr>
          <a:xfrm>
            <a:off x="5577840" y="1980819"/>
            <a:ext cx="3017520" cy="0"/>
          </a:xfrm>
          <a:prstGeom prst="line">
            <a:avLst/>
          </a:prstGeom>
          <a:noFill/>
          <a:ln w="6350">
            <a:solidFill>
              <a:srgbClr val="E4E2DB"/>
            </a:solidFill>
            <a:prstDash val="solid"/>
          </a:ln>
        </p:spPr>
        <p:txBody>
          <a:bodyPr/>
          <a:lstStyle/>
          <a:p>
            <a:endParaRPr/>
          </a:p>
        </p:txBody>
      </p:sp>
      <p:sp>
        <p:nvSpPr>
          <p:cNvPr id="51" name="Shape 48"/>
          <p:cNvSpPr/>
          <p:nvPr/>
        </p:nvSpPr>
        <p:spPr>
          <a:xfrm>
            <a:off x="5577840" y="2072259"/>
            <a:ext cx="192024" cy="192024"/>
          </a:xfrm>
          <a:prstGeom prst="ellipse">
            <a:avLst/>
          </a:prstGeom>
          <a:solidFill>
            <a:srgbClr val="2B333C"/>
          </a:solidFill>
          <a:ln/>
        </p:spPr>
        <p:txBody>
          <a:bodyPr/>
          <a:lstStyle/>
          <a:p>
            <a:endParaRPr/>
          </a:p>
        </p:txBody>
      </p:sp>
      <p:sp>
        <p:nvSpPr>
          <p:cNvPr id="52" name="Text 49"/>
          <p:cNvSpPr txBox="1"/>
          <p:nvPr/>
        </p:nvSpPr>
        <p:spPr>
          <a:xfrm>
            <a:off x="5577840" y="2072259"/>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2</a:t>
            </a:r>
            <a:endParaRPr lang="en-US" sz="850" dirty="0"/>
          </a:p>
        </p:txBody>
      </p:sp>
      <p:sp>
        <p:nvSpPr>
          <p:cNvPr id="53" name="Text 50"/>
          <p:cNvSpPr txBox="1"/>
          <p:nvPr/>
        </p:nvSpPr>
        <p:spPr>
          <a:xfrm>
            <a:off x="5870448" y="2017395"/>
            <a:ext cx="2706624" cy="755523"/>
          </a:xfrm>
          <a:prstGeom prst="rect">
            <a:avLst/>
          </a:prstGeom>
          <a:noFill/>
          <a:ln/>
        </p:spPr>
        <p:txBody>
          <a:bodyPr wrap="square" lIns="0" tIns="0" rIns="0" bIns="0" rtlCol="0" anchor="ctr"/>
          <a:lstStyle/>
          <a:p>
            <a:pPr marL="0" indent="0">
              <a:lnSpc>
                <a:spcPct val="110000"/>
              </a:lnSpc>
              <a:buNone/>
            </a:pPr>
            <a:r>
              <a:rPr lang="en-US" sz="950" dirty="0">
                <a:solidFill>
                  <a:srgbClr val="2B333C"/>
                </a:solidFill>
                <a:latin typeface="Pretendard Medium" pitchFamily="34" charset="0"/>
                <a:ea typeface="Pretendard Medium" pitchFamily="34" charset="-122"/>
                <a:cs typeface="Pretendard Medium" pitchFamily="34" charset="-120"/>
              </a:rPr>
              <a:t>왼쪽은 앞 근무에서 나에게 온 인계</a:t>
            </a:r>
            <a:endParaRPr lang="en-US" sz="9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'확인' 버튼은 내가 받을 사람일 때만</a:t>
            </a:r>
            <a:endParaRPr lang="en-US" sz="950" dirty="0"/>
          </a:p>
        </p:txBody>
      </p:sp>
      <p:sp>
        <p:nvSpPr>
          <p:cNvPr id="54" name="Shape 51"/>
          <p:cNvSpPr/>
          <p:nvPr/>
        </p:nvSpPr>
        <p:spPr>
          <a:xfrm>
            <a:off x="5577840" y="2809494"/>
            <a:ext cx="3017520" cy="0"/>
          </a:xfrm>
          <a:prstGeom prst="line">
            <a:avLst/>
          </a:prstGeom>
          <a:noFill/>
          <a:ln w="6350">
            <a:solidFill>
              <a:srgbClr val="E4E2DB"/>
            </a:solidFill>
            <a:prstDash val="solid"/>
          </a:ln>
        </p:spPr>
        <p:txBody>
          <a:bodyPr/>
          <a:lstStyle/>
          <a:p>
            <a:endParaRPr/>
          </a:p>
        </p:txBody>
      </p:sp>
      <p:sp>
        <p:nvSpPr>
          <p:cNvPr id="55" name="Shape 52"/>
          <p:cNvSpPr/>
          <p:nvPr/>
        </p:nvSpPr>
        <p:spPr>
          <a:xfrm>
            <a:off x="5577840" y="2900934"/>
            <a:ext cx="192024" cy="192024"/>
          </a:xfrm>
          <a:prstGeom prst="ellipse">
            <a:avLst/>
          </a:prstGeom>
          <a:solidFill>
            <a:srgbClr val="2B333C"/>
          </a:solidFill>
          <a:ln/>
        </p:spPr>
        <p:txBody>
          <a:bodyPr/>
          <a:lstStyle/>
          <a:p>
            <a:endParaRPr/>
          </a:p>
        </p:txBody>
      </p:sp>
      <p:sp>
        <p:nvSpPr>
          <p:cNvPr id="56" name="Text 53"/>
          <p:cNvSpPr txBox="1"/>
          <p:nvPr/>
        </p:nvSpPr>
        <p:spPr>
          <a:xfrm>
            <a:off x="5577840" y="290093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3</a:t>
            </a:r>
            <a:endParaRPr lang="en-US" sz="850" dirty="0"/>
          </a:p>
        </p:txBody>
      </p:sp>
      <p:sp>
        <p:nvSpPr>
          <p:cNvPr id="57" name="Text 54"/>
          <p:cNvSpPr txBox="1"/>
          <p:nvPr/>
        </p:nvSpPr>
        <p:spPr>
          <a:xfrm>
            <a:off x="5870448" y="2846070"/>
            <a:ext cx="2706624" cy="755523"/>
          </a:xfrm>
          <a:prstGeom prst="rect">
            <a:avLst/>
          </a:prstGeom>
          <a:noFill/>
          <a:ln/>
        </p:spPr>
        <p:txBody>
          <a:bodyPr wrap="square" lIns="0" tIns="0" rIns="0" bIns="0" rtlCol="0" anchor="ctr"/>
          <a:lstStyle/>
          <a:p>
            <a:pPr marL="0" indent="0">
              <a:lnSpc>
                <a:spcPct val="110000"/>
              </a:lnSpc>
              <a:buNone/>
            </a:pPr>
            <a:r>
              <a:rPr lang="en-US" sz="950" dirty="0">
                <a:solidFill>
                  <a:srgbClr val="2B333C"/>
                </a:solidFill>
                <a:latin typeface="Pretendard Medium" pitchFamily="34" charset="0"/>
                <a:ea typeface="Pretendard Medium" pitchFamily="34" charset="-122"/>
                <a:cs typeface="Pretendard Medium" pitchFamily="34" charset="-120"/>
              </a:rPr>
              <a:t>오른쪽은 내가 다음 근무로 넘길 인계</a:t>
            </a:r>
            <a:endParaRPr lang="en-US" sz="9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두 방향이 한 화면에</a:t>
            </a:r>
            <a:endParaRPr lang="en-US" sz="950" dirty="0"/>
          </a:p>
        </p:txBody>
      </p:sp>
      <p:sp>
        <p:nvSpPr>
          <p:cNvPr id="58" name="Shape 55"/>
          <p:cNvSpPr/>
          <p:nvPr/>
        </p:nvSpPr>
        <p:spPr>
          <a:xfrm>
            <a:off x="5577840" y="3638169"/>
            <a:ext cx="3017520" cy="0"/>
          </a:xfrm>
          <a:prstGeom prst="line">
            <a:avLst/>
          </a:prstGeom>
          <a:noFill/>
          <a:ln w="6350">
            <a:solidFill>
              <a:srgbClr val="E4E2DB"/>
            </a:solidFill>
            <a:prstDash val="solid"/>
          </a:ln>
        </p:spPr>
        <p:txBody>
          <a:bodyPr/>
          <a:lstStyle/>
          <a:p>
            <a:endParaRPr/>
          </a:p>
        </p:txBody>
      </p:sp>
      <p:sp>
        <p:nvSpPr>
          <p:cNvPr id="59" name="Shape 56"/>
          <p:cNvSpPr/>
          <p:nvPr/>
        </p:nvSpPr>
        <p:spPr>
          <a:xfrm>
            <a:off x="5577840" y="3729609"/>
            <a:ext cx="192024" cy="192024"/>
          </a:xfrm>
          <a:prstGeom prst="ellipse">
            <a:avLst/>
          </a:prstGeom>
          <a:solidFill>
            <a:srgbClr val="2B333C"/>
          </a:solidFill>
          <a:ln/>
        </p:spPr>
        <p:txBody>
          <a:bodyPr/>
          <a:lstStyle/>
          <a:p>
            <a:endParaRPr/>
          </a:p>
        </p:txBody>
      </p:sp>
      <p:sp>
        <p:nvSpPr>
          <p:cNvPr id="60" name="Text 57"/>
          <p:cNvSpPr txBox="1"/>
          <p:nvPr/>
        </p:nvSpPr>
        <p:spPr>
          <a:xfrm>
            <a:off x="5577840" y="3729609"/>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4</a:t>
            </a:r>
            <a:endParaRPr lang="en-US" sz="850" dirty="0"/>
          </a:p>
        </p:txBody>
      </p:sp>
      <p:sp>
        <p:nvSpPr>
          <p:cNvPr id="61" name="Text 58"/>
          <p:cNvSpPr txBox="1"/>
          <p:nvPr/>
        </p:nvSpPr>
        <p:spPr>
          <a:xfrm>
            <a:off x="5870448" y="3674745"/>
            <a:ext cx="2706624" cy="755523"/>
          </a:xfrm>
          <a:prstGeom prst="rect">
            <a:avLst/>
          </a:prstGeom>
          <a:noFill/>
          <a:ln/>
        </p:spPr>
        <p:txBody>
          <a:bodyPr wrap="square" lIns="0" tIns="0" rIns="0" bIns="0" rtlCol="0" anchor="ctr"/>
          <a:lstStyle/>
          <a:p>
            <a:pPr marL="0" indent="0">
              <a:lnSpc>
                <a:spcPct val="110000"/>
              </a:lnSpc>
              <a:buNone/>
            </a:pPr>
            <a:r>
              <a:rPr lang="en-US" sz="950" dirty="0">
                <a:solidFill>
                  <a:srgbClr val="2B333C"/>
                </a:solidFill>
                <a:latin typeface="Pretendard Medium" pitchFamily="34" charset="0"/>
                <a:ea typeface="Pretendard Medium" pitchFamily="34" charset="-122"/>
                <a:cs typeface="Pretendard Medium" pitchFamily="34" charset="-120"/>
              </a:rPr>
              <a:t>인계 작성 화면으로</a:t>
            </a:r>
            <a:endParaRPr lang="en-US" sz="9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액팅에게는 이 버튼이 없다. 읽기만</a:t>
            </a:r>
            <a:endParaRPr lang="en-US" sz="950" dirty="0"/>
          </a:p>
        </p:txBody>
      </p:sp>
      <p:sp>
        <p:nvSpPr>
          <p:cNvPr id="63" name="Text 60"/>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같은 팀, 같은 시간에 일하면 인계를 읽을 수 있다. '확인'은 그 환자를 맡은 차지만</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11</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04  화면마다 도는 API</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C24A31"/>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인계 쓰기</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필수 항목이 비면 넘길 수 없다</a:t>
            </a:r>
            <a:endParaRPr lang="en-US" sz="1200" dirty="0"/>
          </a:p>
        </p:txBody>
      </p:sp>
      <p:pic>
        <p:nvPicPr>
          <p:cNvPr id="37" name="Image 0" descr="/Users/hwangjaewon/skala-workspace/skala-webservice-mini/assets/9_handover_write_nurse.png"/>
          <p:cNvPicPr>
            <a:picLocks noChangeAspect="1"/>
          </p:cNvPicPr>
          <p:nvPr/>
        </p:nvPicPr>
        <p:blipFill>
          <a:blip r:embed="rId3"/>
          <a:stretch>
            <a:fillRect/>
          </a:stretch>
        </p:blipFill>
        <p:spPr>
          <a:xfrm>
            <a:off x="1254357" y="1152144"/>
            <a:ext cx="3416599" cy="3314700"/>
          </a:xfrm>
          <a:prstGeom prst="rect">
            <a:avLst/>
          </a:prstGeom>
        </p:spPr>
      </p:pic>
      <p:sp>
        <p:nvSpPr>
          <p:cNvPr id="38" name="Shape 35"/>
          <p:cNvSpPr/>
          <p:nvPr/>
        </p:nvSpPr>
        <p:spPr>
          <a:xfrm>
            <a:off x="1254357" y="1152144"/>
            <a:ext cx="3416599" cy="3314700"/>
          </a:xfrm>
          <a:prstGeom prst="rect">
            <a:avLst/>
          </a:prstGeom>
          <a:ln w="9525">
            <a:solidFill>
              <a:srgbClr val="E4E2DB"/>
            </a:solidFill>
            <a:prstDash val="solid"/>
          </a:ln>
        </p:spPr>
        <p:txBody>
          <a:bodyPr/>
          <a:lstStyle/>
          <a:p>
            <a:endParaRPr/>
          </a:p>
        </p:txBody>
      </p:sp>
      <p:sp>
        <p:nvSpPr>
          <p:cNvPr id="39" name="Shape 36"/>
          <p:cNvSpPr/>
          <p:nvPr/>
        </p:nvSpPr>
        <p:spPr>
          <a:xfrm>
            <a:off x="2110197" y="1955562"/>
            <a:ext cx="192024" cy="192024"/>
          </a:xfrm>
          <a:prstGeom prst="ellipse">
            <a:avLst/>
          </a:prstGeom>
          <a:solidFill>
            <a:srgbClr val="C24A31"/>
          </a:solidFill>
          <a:ln w="12700">
            <a:solidFill>
              <a:srgbClr val="FFFFFF"/>
            </a:solidFill>
            <a:prstDash val="solid"/>
          </a:ln>
        </p:spPr>
        <p:txBody>
          <a:bodyPr/>
          <a:lstStyle/>
          <a:p>
            <a:endParaRPr/>
          </a:p>
        </p:txBody>
      </p:sp>
      <p:sp>
        <p:nvSpPr>
          <p:cNvPr id="40" name="Text 37"/>
          <p:cNvSpPr txBox="1"/>
          <p:nvPr/>
        </p:nvSpPr>
        <p:spPr>
          <a:xfrm>
            <a:off x="2110197" y="1955562"/>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
        <p:nvSpPr>
          <p:cNvPr id="41" name="Shape 38"/>
          <p:cNvSpPr/>
          <p:nvPr/>
        </p:nvSpPr>
        <p:spPr>
          <a:xfrm>
            <a:off x="1820086" y="1531031"/>
            <a:ext cx="192024" cy="192024"/>
          </a:xfrm>
          <a:prstGeom prst="ellipse">
            <a:avLst/>
          </a:prstGeom>
          <a:solidFill>
            <a:srgbClr val="FFFFFF"/>
          </a:solidFill>
          <a:ln w="19050">
            <a:solidFill>
              <a:srgbClr val="C24A31"/>
            </a:solidFill>
            <a:prstDash val="solid"/>
          </a:ln>
        </p:spPr>
        <p:txBody>
          <a:bodyPr/>
          <a:lstStyle/>
          <a:p>
            <a:endParaRPr/>
          </a:p>
        </p:txBody>
      </p:sp>
      <p:sp>
        <p:nvSpPr>
          <p:cNvPr id="42" name="Text 39"/>
          <p:cNvSpPr txBox="1"/>
          <p:nvPr/>
        </p:nvSpPr>
        <p:spPr>
          <a:xfrm>
            <a:off x="1820086" y="1531031"/>
            <a:ext cx="192024" cy="192024"/>
          </a:xfrm>
          <a:prstGeom prst="rect">
            <a:avLst/>
          </a:prstGeom>
          <a:noFill/>
          <a:ln/>
        </p:spPr>
        <p:txBody>
          <a:bodyPr wrap="square" lIns="0" tIns="0" rIns="0" bIns="0" rtlCol="0" anchor="ctr"/>
          <a:lstStyle/>
          <a:p>
            <a:pPr marL="0" indent="0" algn="ctr">
              <a:buNone/>
            </a:pPr>
            <a:r>
              <a:rPr lang="en-US" sz="900" dirty="0">
                <a:solidFill>
                  <a:srgbClr val="C24A31"/>
                </a:solidFill>
                <a:latin typeface="Pretendard SemiBold" pitchFamily="34" charset="0"/>
                <a:ea typeface="Pretendard SemiBold" pitchFamily="34" charset="-122"/>
                <a:cs typeface="Pretendard SemiBold" pitchFamily="34" charset="-120"/>
              </a:rPr>
              <a:t>2</a:t>
            </a:r>
            <a:endParaRPr lang="en-US" sz="900" dirty="0"/>
          </a:p>
        </p:txBody>
      </p:sp>
      <p:sp>
        <p:nvSpPr>
          <p:cNvPr id="43" name="Shape 40"/>
          <p:cNvSpPr/>
          <p:nvPr/>
        </p:nvSpPr>
        <p:spPr>
          <a:xfrm>
            <a:off x="3335377" y="4188547"/>
            <a:ext cx="192024" cy="192024"/>
          </a:xfrm>
          <a:prstGeom prst="ellipse">
            <a:avLst/>
          </a:prstGeom>
          <a:solidFill>
            <a:srgbClr val="C24A31"/>
          </a:solidFill>
          <a:ln w="12700">
            <a:solidFill>
              <a:srgbClr val="FFFFFF"/>
            </a:solidFill>
            <a:prstDash val="solid"/>
          </a:ln>
        </p:spPr>
        <p:txBody>
          <a:bodyPr/>
          <a:lstStyle/>
          <a:p>
            <a:endParaRPr/>
          </a:p>
        </p:txBody>
      </p:sp>
      <p:sp>
        <p:nvSpPr>
          <p:cNvPr id="44" name="Text 41"/>
          <p:cNvSpPr txBox="1"/>
          <p:nvPr/>
        </p:nvSpPr>
        <p:spPr>
          <a:xfrm>
            <a:off x="3335377" y="4188547"/>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3</a:t>
            </a:r>
            <a:endParaRPr lang="en-US" sz="900" dirty="0"/>
          </a:p>
        </p:txBody>
      </p:sp>
      <p:sp>
        <p:nvSpPr>
          <p:cNvPr id="45" name="Shape 42"/>
          <p:cNvSpPr/>
          <p:nvPr/>
        </p:nvSpPr>
        <p:spPr>
          <a:xfrm>
            <a:off x="1880026" y="2025118"/>
            <a:ext cx="192024" cy="192024"/>
          </a:xfrm>
          <a:prstGeom prst="ellipse">
            <a:avLst/>
          </a:prstGeom>
          <a:solidFill>
            <a:srgbClr val="C24A31"/>
          </a:solidFill>
          <a:ln w="12700">
            <a:solidFill>
              <a:srgbClr val="FFFFFF"/>
            </a:solidFill>
            <a:prstDash val="solid"/>
          </a:ln>
        </p:spPr>
        <p:txBody>
          <a:bodyPr/>
          <a:lstStyle/>
          <a:p>
            <a:endParaRPr/>
          </a:p>
        </p:txBody>
      </p:sp>
      <p:sp>
        <p:nvSpPr>
          <p:cNvPr id="46" name="Text 43"/>
          <p:cNvSpPr txBox="1"/>
          <p:nvPr/>
        </p:nvSpPr>
        <p:spPr>
          <a:xfrm>
            <a:off x="1880026" y="2025118"/>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4</a:t>
            </a:r>
            <a:endParaRPr lang="en-US" sz="900" dirty="0"/>
          </a:p>
        </p:txBody>
      </p:sp>
      <p:sp>
        <p:nvSpPr>
          <p:cNvPr id="47" name="Shape 44"/>
          <p:cNvSpPr/>
          <p:nvPr/>
        </p:nvSpPr>
        <p:spPr>
          <a:xfrm>
            <a:off x="5577840" y="1243584"/>
            <a:ext cx="192024" cy="192024"/>
          </a:xfrm>
          <a:prstGeom prst="ellipse">
            <a:avLst/>
          </a:prstGeom>
          <a:solidFill>
            <a:srgbClr val="C24A31"/>
          </a:solidFill>
          <a:ln/>
        </p:spPr>
        <p:txBody>
          <a:bodyPr/>
          <a:lstStyle/>
          <a:p>
            <a:endParaRPr/>
          </a:p>
        </p:txBody>
      </p:sp>
      <p:sp>
        <p:nvSpPr>
          <p:cNvPr id="48" name="Text 45"/>
          <p:cNvSpPr txBox="1"/>
          <p:nvPr/>
        </p:nvSpPr>
        <p:spPr>
          <a:xfrm>
            <a:off x="5577840" y="124358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1</a:t>
            </a:r>
            <a:endParaRPr lang="en-US" sz="850" dirty="0"/>
          </a:p>
        </p:txBody>
      </p:sp>
      <p:sp>
        <p:nvSpPr>
          <p:cNvPr id="49" name="Text 46"/>
          <p:cNvSpPr txBox="1"/>
          <p:nvPr/>
        </p:nvSpPr>
        <p:spPr>
          <a:xfrm>
            <a:off x="5870448" y="1188720"/>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POST /handovers
</a:t>
            </a:r>
            <a:r>
              <a:rPr lang="en-US" sz="950" dirty="0">
                <a:solidFill>
                  <a:srgbClr val="2B333C"/>
                </a:solidFill>
                <a:latin typeface="Pretendard Medium" pitchFamily="34" charset="0"/>
                <a:ea typeface="Pretendard Medium" pitchFamily="34" charset="-122"/>
                <a:cs typeface="Pretendard Medium" pitchFamily="34" charset="-120"/>
              </a:rPr>
              <a:t>작성을 시작하면 병동 양식을 그대로 복사</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나중에 양식이 바뀌어도 이미 쓴 인계는 안 바뀐다</a:t>
            </a:r>
            <a:endParaRPr lang="en-US" sz="850" dirty="0"/>
          </a:p>
        </p:txBody>
      </p:sp>
      <p:sp>
        <p:nvSpPr>
          <p:cNvPr id="50" name="Shape 47"/>
          <p:cNvSpPr/>
          <p:nvPr/>
        </p:nvSpPr>
        <p:spPr>
          <a:xfrm>
            <a:off x="5577840" y="1980819"/>
            <a:ext cx="3017520" cy="0"/>
          </a:xfrm>
          <a:prstGeom prst="line">
            <a:avLst/>
          </a:prstGeom>
          <a:noFill/>
          <a:ln w="6350">
            <a:solidFill>
              <a:srgbClr val="E4E2DB"/>
            </a:solidFill>
            <a:prstDash val="solid"/>
          </a:ln>
        </p:spPr>
        <p:txBody>
          <a:bodyPr/>
          <a:lstStyle/>
          <a:p>
            <a:endParaRPr/>
          </a:p>
        </p:txBody>
      </p:sp>
      <p:sp>
        <p:nvSpPr>
          <p:cNvPr id="51" name="Shape 48"/>
          <p:cNvSpPr/>
          <p:nvPr/>
        </p:nvSpPr>
        <p:spPr>
          <a:xfrm>
            <a:off x="5577840" y="2072259"/>
            <a:ext cx="192024" cy="192024"/>
          </a:xfrm>
          <a:prstGeom prst="ellipse">
            <a:avLst/>
          </a:prstGeom>
          <a:solidFill>
            <a:srgbClr val="FFFFFF"/>
          </a:solidFill>
          <a:ln w="19050">
            <a:solidFill>
              <a:srgbClr val="C24A31"/>
            </a:solidFill>
            <a:prstDash val="solid"/>
          </a:ln>
        </p:spPr>
        <p:txBody>
          <a:bodyPr/>
          <a:lstStyle/>
          <a:p>
            <a:endParaRPr/>
          </a:p>
        </p:txBody>
      </p:sp>
      <p:sp>
        <p:nvSpPr>
          <p:cNvPr id="52" name="Text 49"/>
          <p:cNvSpPr txBox="1"/>
          <p:nvPr/>
        </p:nvSpPr>
        <p:spPr>
          <a:xfrm>
            <a:off x="5577840" y="2072259"/>
            <a:ext cx="192024" cy="192024"/>
          </a:xfrm>
          <a:prstGeom prst="rect">
            <a:avLst/>
          </a:prstGeom>
          <a:noFill/>
          <a:ln/>
        </p:spPr>
        <p:txBody>
          <a:bodyPr wrap="square" lIns="0" tIns="0" rIns="0" bIns="0" rtlCol="0" anchor="ctr"/>
          <a:lstStyle/>
          <a:p>
            <a:pPr marL="0" indent="0" algn="ctr">
              <a:buNone/>
            </a:pPr>
            <a:r>
              <a:rPr lang="en-US" sz="850" dirty="0">
                <a:solidFill>
                  <a:srgbClr val="C24A31"/>
                </a:solidFill>
                <a:latin typeface="Pretendard SemiBold" pitchFamily="34" charset="0"/>
                <a:ea typeface="Pretendard SemiBold" pitchFamily="34" charset="-122"/>
                <a:cs typeface="Pretendard SemiBold" pitchFamily="34" charset="-120"/>
              </a:rPr>
              <a:t>2</a:t>
            </a:r>
            <a:endParaRPr lang="en-US" sz="850" dirty="0"/>
          </a:p>
        </p:txBody>
      </p:sp>
      <p:sp>
        <p:nvSpPr>
          <p:cNvPr id="53" name="Text 50"/>
          <p:cNvSpPr txBox="1"/>
          <p:nvPr/>
        </p:nvSpPr>
        <p:spPr>
          <a:xfrm>
            <a:off x="5870448" y="2017395"/>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422 보낸 내용이 모자람
</a:t>
            </a:r>
            <a:r>
              <a:rPr lang="en-US" sz="950" dirty="0">
                <a:solidFill>
                  <a:srgbClr val="2B333C"/>
                </a:solidFill>
                <a:latin typeface="Pretendard Medium" pitchFamily="34" charset="0"/>
                <a:ea typeface="Pretendard Medium" pitchFamily="34" charset="-122"/>
                <a:cs typeface="Pretendard Medium" pitchFamily="34" charset="-120"/>
              </a:rPr>
              <a:t>필수 항목이 비어 있으면 넘길 수 없다</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어떤 항목이 비었는지 이름까지 알려준다</a:t>
            </a:r>
            <a:endParaRPr lang="en-US" sz="850" dirty="0"/>
          </a:p>
        </p:txBody>
      </p:sp>
      <p:sp>
        <p:nvSpPr>
          <p:cNvPr id="54" name="Shape 51"/>
          <p:cNvSpPr/>
          <p:nvPr/>
        </p:nvSpPr>
        <p:spPr>
          <a:xfrm>
            <a:off x="5577840" y="2809494"/>
            <a:ext cx="3017520" cy="0"/>
          </a:xfrm>
          <a:prstGeom prst="line">
            <a:avLst/>
          </a:prstGeom>
          <a:noFill/>
          <a:ln w="6350">
            <a:solidFill>
              <a:srgbClr val="E4E2DB"/>
            </a:solidFill>
            <a:prstDash val="solid"/>
          </a:ln>
        </p:spPr>
        <p:txBody>
          <a:bodyPr/>
          <a:lstStyle/>
          <a:p>
            <a:endParaRPr/>
          </a:p>
        </p:txBody>
      </p:sp>
      <p:sp>
        <p:nvSpPr>
          <p:cNvPr id="55" name="Shape 52"/>
          <p:cNvSpPr/>
          <p:nvPr/>
        </p:nvSpPr>
        <p:spPr>
          <a:xfrm>
            <a:off x="5577840" y="2900934"/>
            <a:ext cx="192024" cy="192024"/>
          </a:xfrm>
          <a:prstGeom prst="ellipse">
            <a:avLst/>
          </a:prstGeom>
          <a:solidFill>
            <a:srgbClr val="C24A31"/>
          </a:solidFill>
          <a:ln/>
        </p:spPr>
        <p:txBody>
          <a:bodyPr/>
          <a:lstStyle/>
          <a:p>
            <a:endParaRPr/>
          </a:p>
        </p:txBody>
      </p:sp>
      <p:sp>
        <p:nvSpPr>
          <p:cNvPr id="56" name="Text 53"/>
          <p:cNvSpPr txBox="1"/>
          <p:nvPr/>
        </p:nvSpPr>
        <p:spPr>
          <a:xfrm>
            <a:off x="5577840" y="290093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3</a:t>
            </a:r>
            <a:endParaRPr lang="en-US" sz="850" dirty="0"/>
          </a:p>
        </p:txBody>
      </p:sp>
      <p:sp>
        <p:nvSpPr>
          <p:cNvPr id="57" name="Text 54"/>
          <p:cNvSpPr txBox="1"/>
          <p:nvPr/>
        </p:nvSpPr>
        <p:spPr>
          <a:xfrm>
            <a:off x="5870448" y="2846070"/>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POST /handovers/{id}/send
</a:t>
            </a:r>
            <a:r>
              <a:rPr lang="en-US" sz="950" dirty="0">
                <a:solidFill>
                  <a:srgbClr val="2B333C"/>
                </a:solidFill>
                <a:latin typeface="Pretendard Medium" pitchFamily="34" charset="0"/>
                <a:ea typeface="Pretendard Medium" pitchFamily="34" charset="-122"/>
                <a:cs typeface="Pretendard Medium" pitchFamily="34" charset="-120"/>
              </a:rPr>
              <a:t>넘기면 '작성 중'에서 '전달됨'으로</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받을 사람은 서버가 고른다. 같은 환자의 다음 근무 담당</a:t>
            </a:r>
            <a:endParaRPr lang="en-US" sz="850" dirty="0"/>
          </a:p>
        </p:txBody>
      </p:sp>
      <p:sp>
        <p:nvSpPr>
          <p:cNvPr id="58" name="Shape 55"/>
          <p:cNvSpPr/>
          <p:nvPr/>
        </p:nvSpPr>
        <p:spPr>
          <a:xfrm>
            <a:off x="5577840" y="3638169"/>
            <a:ext cx="3017520" cy="0"/>
          </a:xfrm>
          <a:prstGeom prst="line">
            <a:avLst/>
          </a:prstGeom>
          <a:noFill/>
          <a:ln w="6350">
            <a:solidFill>
              <a:srgbClr val="E4E2DB"/>
            </a:solidFill>
            <a:prstDash val="solid"/>
          </a:ln>
        </p:spPr>
        <p:txBody>
          <a:bodyPr/>
          <a:lstStyle/>
          <a:p>
            <a:endParaRPr/>
          </a:p>
        </p:txBody>
      </p:sp>
      <p:sp>
        <p:nvSpPr>
          <p:cNvPr id="59" name="Shape 56"/>
          <p:cNvSpPr/>
          <p:nvPr/>
        </p:nvSpPr>
        <p:spPr>
          <a:xfrm>
            <a:off x="5577840" y="3729609"/>
            <a:ext cx="192024" cy="192024"/>
          </a:xfrm>
          <a:prstGeom prst="ellipse">
            <a:avLst/>
          </a:prstGeom>
          <a:solidFill>
            <a:srgbClr val="C24A31"/>
          </a:solidFill>
          <a:ln/>
        </p:spPr>
        <p:txBody>
          <a:bodyPr/>
          <a:lstStyle/>
          <a:p>
            <a:endParaRPr/>
          </a:p>
        </p:txBody>
      </p:sp>
      <p:sp>
        <p:nvSpPr>
          <p:cNvPr id="60" name="Text 57"/>
          <p:cNvSpPr txBox="1"/>
          <p:nvPr/>
        </p:nvSpPr>
        <p:spPr>
          <a:xfrm>
            <a:off x="5577840" y="3729609"/>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4</a:t>
            </a:r>
            <a:endParaRPr lang="en-US" sz="850" dirty="0"/>
          </a:p>
        </p:txBody>
      </p:sp>
      <p:sp>
        <p:nvSpPr>
          <p:cNvPr id="61" name="Text 58"/>
          <p:cNvSpPr txBox="1"/>
          <p:nvPr/>
        </p:nvSpPr>
        <p:spPr>
          <a:xfrm>
            <a:off x="5870448" y="3674745"/>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PATCH /handovers/{id}/items
</a:t>
            </a:r>
            <a:r>
              <a:rPr lang="en-US" sz="950" dirty="0">
                <a:solidFill>
                  <a:srgbClr val="2B333C"/>
                </a:solidFill>
                <a:latin typeface="Pretendard Medium" pitchFamily="34" charset="0"/>
                <a:ea typeface="Pretendard Medium" pitchFamily="34" charset="-122"/>
                <a:cs typeface="Pretendard Medium" pitchFamily="34" charset="-120"/>
              </a:rPr>
              <a:t>입력한 내용은 임시저장</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한 번 넘긴 뒤에는 못 고친다(409)</a:t>
            </a:r>
            <a:endParaRPr lang="en-US" sz="850" dirty="0"/>
          </a:p>
        </p:txBody>
      </p:sp>
      <p:sp>
        <p:nvSpPr>
          <p:cNvPr id="63" name="Text 60"/>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받을 사람을 요청에서 안 받는 이유: 받으면 아무 근무로나 인계를 보낼 수 있게 된다</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12</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04  화면마다 도는 API</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C24A31"/>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인계 받기</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요약을 써야 확인이 된다</a:t>
            </a:r>
            <a:endParaRPr lang="en-US" sz="1200" dirty="0"/>
          </a:p>
        </p:txBody>
      </p:sp>
      <p:pic>
        <p:nvPicPr>
          <p:cNvPr id="37" name="Image 0" descr="/Users/hwangjaewon/skala-workspace/skala-webservice-mini/assets/10_handover_receive_nurse.png"/>
          <p:cNvPicPr>
            <a:picLocks noChangeAspect="1"/>
          </p:cNvPicPr>
          <p:nvPr/>
        </p:nvPicPr>
        <p:blipFill>
          <a:blip r:embed="rId3"/>
          <a:stretch>
            <a:fillRect/>
          </a:stretch>
        </p:blipFill>
        <p:spPr>
          <a:xfrm>
            <a:off x="1236881" y="1152144"/>
            <a:ext cx="3451551" cy="3314700"/>
          </a:xfrm>
          <a:prstGeom prst="rect">
            <a:avLst/>
          </a:prstGeom>
        </p:spPr>
      </p:pic>
      <p:sp>
        <p:nvSpPr>
          <p:cNvPr id="38" name="Shape 35"/>
          <p:cNvSpPr/>
          <p:nvPr/>
        </p:nvSpPr>
        <p:spPr>
          <a:xfrm>
            <a:off x="1236881" y="1152144"/>
            <a:ext cx="3451551" cy="3314700"/>
          </a:xfrm>
          <a:prstGeom prst="rect">
            <a:avLst/>
          </a:prstGeom>
          <a:ln w="9525">
            <a:solidFill>
              <a:srgbClr val="E4E2DB"/>
            </a:solidFill>
            <a:prstDash val="solid"/>
          </a:ln>
        </p:spPr>
        <p:txBody>
          <a:bodyPr/>
          <a:lstStyle/>
          <a:p>
            <a:endParaRPr/>
          </a:p>
        </p:txBody>
      </p:sp>
      <p:sp>
        <p:nvSpPr>
          <p:cNvPr id="39" name="Shape 36"/>
          <p:cNvSpPr/>
          <p:nvPr/>
        </p:nvSpPr>
        <p:spPr>
          <a:xfrm>
            <a:off x="3214221" y="1591621"/>
            <a:ext cx="192024" cy="192024"/>
          </a:xfrm>
          <a:prstGeom prst="ellipse">
            <a:avLst/>
          </a:prstGeom>
          <a:solidFill>
            <a:srgbClr val="2B333C"/>
          </a:solidFill>
          <a:ln w="12700">
            <a:solidFill>
              <a:srgbClr val="FFFFFF"/>
            </a:solidFill>
            <a:prstDash val="solid"/>
          </a:ln>
        </p:spPr>
        <p:txBody>
          <a:bodyPr/>
          <a:lstStyle/>
          <a:p>
            <a:endParaRPr/>
          </a:p>
        </p:txBody>
      </p:sp>
      <p:sp>
        <p:nvSpPr>
          <p:cNvPr id="40" name="Text 37"/>
          <p:cNvSpPr txBox="1"/>
          <p:nvPr/>
        </p:nvSpPr>
        <p:spPr>
          <a:xfrm>
            <a:off x="3214221" y="1591621"/>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
        <p:nvSpPr>
          <p:cNvPr id="41" name="Shape 38"/>
          <p:cNvSpPr/>
          <p:nvPr/>
        </p:nvSpPr>
        <p:spPr>
          <a:xfrm>
            <a:off x="1869933" y="3670577"/>
            <a:ext cx="192024" cy="192024"/>
          </a:xfrm>
          <a:prstGeom prst="ellipse">
            <a:avLst/>
          </a:prstGeom>
          <a:solidFill>
            <a:srgbClr val="C24A31"/>
          </a:solidFill>
          <a:ln w="12700">
            <a:solidFill>
              <a:srgbClr val="FFFFFF"/>
            </a:solidFill>
            <a:prstDash val="solid"/>
          </a:ln>
        </p:spPr>
        <p:txBody>
          <a:bodyPr/>
          <a:lstStyle/>
          <a:p>
            <a:endParaRPr/>
          </a:p>
        </p:txBody>
      </p:sp>
      <p:sp>
        <p:nvSpPr>
          <p:cNvPr id="42" name="Text 39"/>
          <p:cNvSpPr txBox="1"/>
          <p:nvPr/>
        </p:nvSpPr>
        <p:spPr>
          <a:xfrm>
            <a:off x="1869933" y="3670577"/>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
        <p:nvSpPr>
          <p:cNvPr id="43" name="Shape 40"/>
          <p:cNvSpPr/>
          <p:nvPr/>
        </p:nvSpPr>
        <p:spPr>
          <a:xfrm>
            <a:off x="3369238" y="4176990"/>
            <a:ext cx="192024" cy="192024"/>
          </a:xfrm>
          <a:prstGeom prst="ellipse">
            <a:avLst/>
          </a:prstGeom>
          <a:solidFill>
            <a:srgbClr val="C24A31"/>
          </a:solidFill>
          <a:ln w="12700">
            <a:solidFill>
              <a:srgbClr val="FFFFFF"/>
            </a:solidFill>
            <a:prstDash val="solid"/>
          </a:ln>
        </p:spPr>
        <p:txBody>
          <a:bodyPr/>
          <a:lstStyle/>
          <a:p>
            <a:endParaRPr/>
          </a:p>
        </p:txBody>
      </p:sp>
      <p:sp>
        <p:nvSpPr>
          <p:cNvPr id="44" name="Text 41"/>
          <p:cNvSpPr txBox="1"/>
          <p:nvPr/>
        </p:nvSpPr>
        <p:spPr>
          <a:xfrm>
            <a:off x="3369238" y="4176990"/>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3</a:t>
            </a:r>
            <a:endParaRPr lang="en-US" sz="900" dirty="0"/>
          </a:p>
        </p:txBody>
      </p:sp>
      <p:sp>
        <p:nvSpPr>
          <p:cNvPr id="45" name="Shape 42"/>
          <p:cNvSpPr/>
          <p:nvPr/>
        </p:nvSpPr>
        <p:spPr>
          <a:xfrm>
            <a:off x="1809379" y="4012224"/>
            <a:ext cx="192024" cy="192024"/>
          </a:xfrm>
          <a:prstGeom prst="ellipse">
            <a:avLst/>
          </a:prstGeom>
          <a:solidFill>
            <a:srgbClr val="FFFFFF"/>
          </a:solidFill>
          <a:ln w="19050">
            <a:solidFill>
              <a:srgbClr val="C24A31"/>
            </a:solidFill>
            <a:prstDash val="solid"/>
          </a:ln>
        </p:spPr>
        <p:txBody>
          <a:bodyPr/>
          <a:lstStyle/>
          <a:p>
            <a:endParaRPr/>
          </a:p>
        </p:txBody>
      </p:sp>
      <p:sp>
        <p:nvSpPr>
          <p:cNvPr id="46" name="Text 43"/>
          <p:cNvSpPr txBox="1"/>
          <p:nvPr/>
        </p:nvSpPr>
        <p:spPr>
          <a:xfrm>
            <a:off x="1809379" y="4012224"/>
            <a:ext cx="192024" cy="192024"/>
          </a:xfrm>
          <a:prstGeom prst="rect">
            <a:avLst/>
          </a:prstGeom>
          <a:noFill/>
          <a:ln/>
        </p:spPr>
        <p:txBody>
          <a:bodyPr wrap="square" lIns="0" tIns="0" rIns="0" bIns="0" rtlCol="0" anchor="ctr"/>
          <a:lstStyle/>
          <a:p>
            <a:pPr marL="0" indent="0" algn="ctr">
              <a:buNone/>
            </a:pPr>
            <a:r>
              <a:rPr lang="en-US" sz="900" dirty="0">
                <a:solidFill>
                  <a:srgbClr val="C24A31"/>
                </a:solidFill>
                <a:latin typeface="Pretendard SemiBold" pitchFamily="34" charset="0"/>
                <a:ea typeface="Pretendard SemiBold" pitchFamily="34" charset="-122"/>
                <a:cs typeface="Pretendard SemiBold" pitchFamily="34" charset="-120"/>
              </a:rPr>
              <a:t>4</a:t>
            </a:r>
            <a:endParaRPr lang="en-US" sz="900" dirty="0"/>
          </a:p>
        </p:txBody>
      </p:sp>
      <p:sp>
        <p:nvSpPr>
          <p:cNvPr id="47" name="Shape 44"/>
          <p:cNvSpPr/>
          <p:nvPr/>
        </p:nvSpPr>
        <p:spPr>
          <a:xfrm>
            <a:off x="5577840" y="1243584"/>
            <a:ext cx="192024" cy="192024"/>
          </a:xfrm>
          <a:prstGeom prst="ellipse">
            <a:avLst/>
          </a:prstGeom>
          <a:solidFill>
            <a:srgbClr val="2B333C"/>
          </a:solidFill>
          <a:ln/>
        </p:spPr>
        <p:txBody>
          <a:bodyPr/>
          <a:lstStyle/>
          <a:p>
            <a:endParaRPr/>
          </a:p>
        </p:txBody>
      </p:sp>
      <p:sp>
        <p:nvSpPr>
          <p:cNvPr id="48" name="Text 45"/>
          <p:cNvSpPr txBox="1"/>
          <p:nvPr/>
        </p:nvSpPr>
        <p:spPr>
          <a:xfrm>
            <a:off x="5577840" y="124358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1</a:t>
            </a:r>
            <a:endParaRPr lang="en-US" sz="850" dirty="0"/>
          </a:p>
        </p:txBody>
      </p:sp>
      <p:sp>
        <p:nvSpPr>
          <p:cNvPr id="49" name="Text 46"/>
          <p:cNvSpPr txBox="1"/>
          <p:nvPr/>
        </p:nvSpPr>
        <p:spPr>
          <a:xfrm>
            <a:off x="5870448" y="1188720"/>
            <a:ext cx="2706624" cy="755523"/>
          </a:xfrm>
          <a:prstGeom prst="rect">
            <a:avLst/>
          </a:prstGeom>
          <a:noFill/>
          <a:ln/>
        </p:spPr>
        <p:txBody>
          <a:bodyPr wrap="square" lIns="0" tIns="0" rIns="0" bIns="0" rtlCol="0" anchor="ctr"/>
          <a:lstStyle/>
          <a:p>
            <a:pPr marL="0" indent="0">
              <a:lnSpc>
                <a:spcPct val="110000"/>
              </a:lnSpc>
              <a:buNone/>
            </a:pPr>
            <a:r>
              <a:rPr lang="en-US" sz="950" dirty="0">
                <a:solidFill>
                  <a:srgbClr val="2B333C"/>
                </a:solidFill>
                <a:latin typeface="Pretendard Medium" pitchFamily="34" charset="0"/>
                <a:ea typeface="Pretendard Medium" pitchFamily="34" charset="-122"/>
                <a:cs typeface="Pretendard Medium" pitchFamily="34" charset="-120"/>
              </a:rPr>
              <a:t>지금 상태는 '확인 대기'</a:t>
            </a:r>
            <a:endParaRPr lang="en-US" sz="9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작성 중, 전달됨, 확인됨 순서로만 간다</a:t>
            </a:r>
            <a:endParaRPr lang="en-US" sz="950" dirty="0"/>
          </a:p>
        </p:txBody>
      </p:sp>
      <p:sp>
        <p:nvSpPr>
          <p:cNvPr id="50" name="Shape 47"/>
          <p:cNvSpPr/>
          <p:nvPr/>
        </p:nvSpPr>
        <p:spPr>
          <a:xfrm>
            <a:off x="5577840" y="1980819"/>
            <a:ext cx="3017520" cy="0"/>
          </a:xfrm>
          <a:prstGeom prst="line">
            <a:avLst/>
          </a:prstGeom>
          <a:noFill/>
          <a:ln w="6350">
            <a:solidFill>
              <a:srgbClr val="E4E2DB"/>
            </a:solidFill>
            <a:prstDash val="solid"/>
          </a:ln>
        </p:spPr>
        <p:txBody>
          <a:bodyPr/>
          <a:lstStyle/>
          <a:p>
            <a:endParaRPr/>
          </a:p>
        </p:txBody>
      </p:sp>
      <p:sp>
        <p:nvSpPr>
          <p:cNvPr id="51" name="Shape 48"/>
          <p:cNvSpPr/>
          <p:nvPr/>
        </p:nvSpPr>
        <p:spPr>
          <a:xfrm>
            <a:off x="5577840" y="2072259"/>
            <a:ext cx="192024" cy="192024"/>
          </a:xfrm>
          <a:prstGeom prst="ellipse">
            <a:avLst/>
          </a:prstGeom>
          <a:solidFill>
            <a:srgbClr val="C24A31"/>
          </a:solidFill>
          <a:ln/>
        </p:spPr>
        <p:txBody>
          <a:bodyPr/>
          <a:lstStyle/>
          <a:p>
            <a:endParaRPr/>
          </a:p>
        </p:txBody>
      </p:sp>
      <p:sp>
        <p:nvSpPr>
          <p:cNvPr id="52" name="Text 49"/>
          <p:cNvSpPr txBox="1"/>
          <p:nvPr/>
        </p:nvSpPr>
        <p:spPr>
          <a:xfrm>
            <a:off x="5577840" y="2072259"/>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2</a:t>
            </a:r>
            <a:endParaRPr lang="en-US" sz="850" dirty="0"/>
          </a:p>
        </p:txBody>
      </p:sp>
      <p:sp>
        <p:nvSpPr>
          <p:cNvPr id="53" name="Text 50"/>
          <p:cNvSpPr txBox="1"/>
          <p:nvPr/>
        </p:nvSpPr>
        <p:spPr>
          <a:xfrm>
            <a:off x="5870448" y="2017395"/>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PATCH /handovers/{id}/receipt
</a:t>
            </a:r>
            <a:r>
              <a:rPr lang="en-US" sz="950" dirty="0">
                <a:solidFill>
                  <a:srgbClr val="2B333C"/>
                </a:solidFill>
                <a:latin typeface="Pretendard Medium" pitchFamily="34" charset="0"/>
                <a:ea typeface="Pretendard Medium" pitchFamily="34" charset="-122"/>
                <a:cs typeface="Pretendard Medium" pitchFamily="34" charset="-120"/>
              </a:rPr>
              <a:t>받은 사람이 자기 말로 쓴 요약이 여기 저장</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이 칸이 이 서비스의 핵심</a:t>
            </a:r>
            <a:endParaRPr lang="en-US" sz="850" dirty="0"/>
          </a:p>
        </p:txBody>
      </p:sp>
      <p:sp>
        <p:nvSpPr>
          <p:cNvPr id="54" name="Shape 51"/>
          <p:cNvSpPr/>
          <p:nvPr/>
        </p:nvSpPr>
        <p:spPr>
          <a:xfrm>
            <a:off x="5577840" y="2809494"/>
            <a:ext cx="3017520" cy="0"/>
          </a:xfrm>
          <a:prstGeom prst="line">
            <a:avLst/>
          </a:prstGeom>
          <a:noFill/>
          <a:ln w="6350">
            <a:solidFill>
              <a:srgbClr val="E4E2DB"/>
            </a:solidFill>
            <a:prstDash val="solid"/>
          </a:ln>
        </p:spPr>
        <p:txBody>
          <a:bodyPr/>
          <a:lstStyle/>
          <a:p>
            <a:endParaRPr/>
          </a:p>
        </p:txBody>
      </p:sp>
      <p:sp>
        <p:nvSpPr>
          <p:cNvPr id="55" name="Shape 52"/>
          <p:cNvSpPr/>
          <p:nvPr/>
        </p:nvSpPr>
        <p:spPr>
          <a:xfrm>
            <a:off x="5577840" y="2900934"/>
            <a:ext cx="192024" cy="192024"/>
          </a:xfrm>
          <a:prstGeom prst="ellipse">
            <a:avLst/>
          </a:prstGeom>
          <a:solidFill>
            <a:srgbClr val="C24A31"/>
          </a:solidFill>
          <a:ln/>
        </p:spPr>
        <p:txBody>
          <a:bodyPr/>
          <a:lstStyle/>
          <a:p>
            <a:endParaRPr/>
          </a:p>
        </p:txBody>
      </p:sp>
      <p:sp>
        <p:nvSpPr>
          <p:cNvPr id="56" name="Text 53"/>
          <p:cNvSpPr txBox="1"/>
          <p:nvPr/>
        </p:nvSpPr>
        <p:spPr>
          <a:xfrm>
            <a:off x="5577840" y="290093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3</a:t>
            </a:r>
            <a:endParaRPr lang="en-US" sz="850" dirty="0"/>
          </a:p>
        </p:txBody>
      </p:sp>
      <p:sp>
        <p:nvSpPr>
          <p:cNvPr id="57" name="Text 54"/>
          <p:cNvSpPr txBox="1"/>
          <p:nvPr/>
        </p:nvSpPr>
        <p:spPr>
          <a:xfrm>
            <a:off x="5870448" y="2846070"/>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POST /…/receipt/confirmation
</a:t>
            </a:r>
            <a:r>
              <a:rPr lang="en-US" sz="950" dirty="0">
                <a:solidFill>
                  <a:srgbClr val="2B333C"/>
                </a:solidFill>
                <a:latin typeface="Pretendard Medium" pitchFamily="34" charset="0"/>
                <a:ea typeface="Pretendard Medium" pitchFamily="34" charset="-122"/>
                <a:cs typeface="Pretendard Medium" pitchFamily="34" charset="-120"/>
              </a:rPr>
              <a:t>확인 처리. 이때 '확인됨'이 된다</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보낸 사람 화면에 이 요약이 되돌아간다</a:t>
            </a:r>
            <a:endParaRPr lang="en-US" sz="850" dirty="0"/>
          </a:p>
        </p:txBody>
      </p:sp>
      <p:sp>
        <p:nvSpPr>
          <p:cNvPr id="58" name="Shape 55"/>
          <p:cNvSpPr/>
          <p:nvPr/>
        </p:nvSpPr>
        <p:spPr>
          <a:xfrm>
            <a:off x="5577840" y="3638169"/>
            <a:ext cx="3017520" cy="0"/>
          </a:xfrm>
          <a:prstGeom prst="line">
            <a:avLst/>
          </a:prstGeom>
          <a:noFill/>
          <a:ln w="6350">
            <a:solidFill>
              <a:srgbClr val="E4E2DB"/>
            </a:solidFill>
            <a:prstDash val="solid"/>
          </a:ln>
        </p:spPr>
        <p:txBody>
          <a:bodyPr/>
          <a:lstStyle/>
          <a:p>
            <a:endParaRPr/>
          </a:p>
        </p:txBody>
      </p:sp>
      <p:sp>
        <p:nvSpPr>
          <p:cNvPr id="59" name="Shape 56"/>
          <p:cNvSpPr/>
          <p:nvPr/>
        </p:nvSpPr>
        <p:spPr>
          <a:xfrm>
            <a:off x="5577840" y="3729609"/>
            <a:ext cx="192024" cy="192024"/>
          </a:xfrm>
          <a:prstGeom prst="ellipse">
            <a:avLst/>
          </a:prstGeom>
          <a:solidFill>
            <a:srgbClr val="FFFFFF"/>
          </a:solidFill>
          <a:ln w="19050">
            <a:solidFill>
              <a:srgbClr val="C24A31"/>
            </a:solidFill>
            <a:prstDash val="solid"/>
          </a:ln>
        </p:spPr>
        <p:txBody>
          <a:bodyPr/>
          <a:lstStyle/>
          <a:p>
            <a:endParaRPr/>
          </a:p>
        </p:txBody>
      </p:sp>
      <p:sp>
        <p:nvSpPr>
          <p:cNvPr id="60" name="Text 57"/>
          <p:cNvSpPr txBox="1"/>
          <p:nvPr/>
        </p:nvSpPr>
        <p:spPr>
          <a:xfrm>
            <a:off x="5577840" y="3729609"/>
            <a:ext cx="192024" cy="192024"/>
          </a:xfrm>
          <a:prstGeom prst="rect">
            <a:avLst/>
          </a:prstGeom>
          <a:noFill/>
          <a:ln/>
        </p:spPr>
        <p:txBody>
          <a:bodyPr wrap="square" lIns="0" tIns="0" rIns="0" bIns="0" rtlCol="0" anchor="ctr"/>
          <a:lstStyle/>
          <a:p>
            <a:pPr marL="0" indent="0" algn="ctr">
              <a:buNone/>
            </a:pPr>
            <a:r>
              <a:rPr lang="en-US" sz="850" dirty="0">
                <a:solidFill>
                  <a:srgbClr val="C24A31"/>
                </a:solidFill>
                <a:latin typeface="Pretendard SemiBold" pitchFamily="34" charset="0"/>
                <a:ea typeface="Pretendard SemiBold" pitchFamily="34" charset="-122"/>
                <a:cs typeface="Pretendard SemiBold" pitchFamily="34" charset="-120"/>
              </a:rPr>
              <a:t>4</a:t>
            </a:r>
            <a:endParaRPr lang="en-US" sz="850" dirty="0"/>
          </a:p>
        </p:txBody>
      </p:sp>
      <p:sp>
        <p:nvSpPr>
          <p:cNvPr id="61" name="Text 58"/>
          <p:cNvSpPr txBox="1"/>
          <p:nvPr/>
        </p:nvSpPr>
        <p:spPr>
          <a:xfrm>
            <a:off x="5870448" y="3674745"/>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422 · 403
</a:t>
            </a:r>
            <a:r>
              <a:rPr lang="en-US" sz="950" dirty="0">
                <a:solidFill>
                  <a:srgbClr val="2B333C"/>
                </a:solidFill>
                <a:latin typeface="Pretendard Medium" pitchFamily="34" charset="0"/>
                <a:ea typeface="Pretendard Medium" pitchFamily="34" charset="-122"/>
                <a:cs typeface="Pretendard Medium" pitchFamily="34" charset="-120"/>
              </a:rPr>
              <a:t>요약이 없으면 확인되지 않는다(422)</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그 환자를 맡은 사람이 아니면 403</a:t>
            </a:r>
            <a:endParaRPr lang="en-US" sz="850" dirty="0"/>
          </a:p>
        </p:txBody>
      </p:sp>
      <p:sp>
        <p:nvSpPr>
          <p:cNvPr id="63" name="Text 60"/>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화면에 들어오는 순간 '열어봤다'는 시각이 따로 남는다. 조회와 분리했다. 수간호사가 봐도 수신 기록이 되면 안 되니까</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13</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04  화면마다 도는 API</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C24A31"/>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결원 재배정</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사람이 판단하는 자리와 시스템이 막는 자리를 나눴다</a:t>
            </a:r>
            <a:endParaRPr lang="en-US" sz="1200" dirty="0"/>
          </a:p>
        </p:txBody>
      </p:sp>
      <p:pic>
        <p:nvPicPr>
          <p:cNvPr id="37" name="Image 0" descr="/Users/hwangjaewon/skala-workspace/skala-webservice-mini/assets/6_reassign_manager.png"/>
          <p:cNvPicPr>
            <a:picLocks noChangeAspect="1"/>
          </p:cNvPicPr>
          <p:nvPr/>
        </p:nvPicPr>
        <p:blipFill>
          <a:blip r:embed="rId3"/>
          <a:stretch>
            <a:fillRect/>
          </a:stretch>
        </p:blipFill>
        <p:spPr>
          <a:xfrm>
            <a:off x="1176178" y="1152144"/>
            <a:ext cx="3572956" cy="3314700"/>
          </a:xfrm>
          <a:prstGeom prst="rect">
            <a:avLst/>
          </a:prstGeom>
        </p:spPr>
      </p:pic>
      <p:sp>
        <p:nvSpPr>
          <p:cNvPr id="38" name="Shape 35"/>
          <p:cNvSpPr/>
          <p:nvPr/>
        </p:nvSpPr>
        <p:spPr>
          <a:xfrm>
            <a:off x="1176178" y="1152144"/>
            <a:ext cx="3572956" cy="3314700"/>
          </a:xfrm>
          <a:prstGeom prst="rect">
            <a:avLst/>
          </a:prstGeom>
          <a:ln w="9525">
            <a:solidFill>
              <a:srgbClr val="E4E2DB"/>
            </a:solidFill>
            <a:prstDash val="solid"/>
          </a:ln>
        </p:spPr>
        <p:txBody>
          <a:bodyPr/>
          <a:lstStyle/>
          <a:p>
            <a:endParaRPr/>
          </a:p>
        </p:txBody>
      </p:sp>
      <p:sp>
        <p:nvSpPr>
          <p:cNvPr id="39" name="Shape 36"/>
          <p:cNvSpPr/>
          <p:nvPr/>
        </p:nvSpPr>
        <p:spPr>
          <a:xfrm>
            <a:off x="1772191" y="1718069"/>
            <a:ext cx="192024" cy="192024"/>
          </a:xfrm>
          <a:prstGeom prst="ellipse">
            <a:avLst/>
          </a:prstGeom>
          <a:solidFill>
            <a:srgbClr val="C24A31"/>
          </a:solidFill>
          <a:ln w="12700">
            <a:solidFill>
              <a:srgbClr val="FFFFFF"/>
            </a:solidFill>
            <a:prstDash val="solid"/>
          </a:ln>
        </p:spPr>
        <p:txBody>
          <a:bodyPr/>
          <a:lstStyle/>
          <a:p>
            <a:endParaRPr/>
          </a:p>
        </p:txBody>
      </p:sp>
      <p:sp>
        <p:nvSpPr>
          <p:cNvPr id="40" name="Text 37"/>
          <p:cNvSpPr txBox="1"/>
          <p:nvPr/>
        </p:nvSpPr>
        <p:spPr>
          <a:xfrm>
            <a:off x="1772191" y="1718069"/>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
        <p:nvSpPr>
          <p:cNvPr id="41" name="Shape 38"/>
          <p:cNvSpPr/>
          <p:nvPr/>
        </p:nvSpPr>
        <p:spPr>
          <a:xfrm>
            <a:off x="2489290" y="1718069"/>
            <a:ext cx="192024" cy="192024"/>
          </a:xfrm>
          <a:prstGeom prst="ellipse">
            <a:avLst/>
          </a:prstGeom>
          <a:solidFill>
            <a:srgbClr val="C24A31"/>
          </a:solidFill>
          <a:ln w="12700">
            <a:solidFill>
              <a:srgbClr val="FFFFFF"/>
            </a:solidFill>
            <a:prstDash val="solid"/>
          </a:ln>
        </p:spPr>
        <p:txBody>
          <a:bodyPr/>
          <a:lstStyle/>
          <a:p>
            <a:endParaRPr/>
          </a:p>
        </p:txBody>
      </p:sp>
      <p:sp>
        <p:nvSpPr>
          <p:cNvPr id="42" name="Text 39"/>
          <p:cNvSpPr txBox="1"/>
          <p:nvPr/>
        </p:nvSpPr>
        <p:spPr>
          <a:xfrm>
            <a:off x="2489290" y="1718069"/>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
        <p:nvSpPr>
          <p:cNvPr id="43" name="Shape 40"/>
          <p:cNvSpPr/>
          <p:nvPr/>
        </p:nvSpPr>
        <p:spPr>
          <a:xfrm>
            <a:off x="3203881" y="1718069"/>
            <a:ext cx="192024" cy="192024"/>
          </a:xfrm>
          <a:prstGeom prst="ellipse">
            <a:avLst/>
          </a:prstGeom>
          <a:solidFill>
            <a:srgbClr val="C24A31"/>
          </a:solidFill>
          <a:ln w="12700">
            <a:solidFill>
              <a:srgbClr val="FFFFFF"/>
            </a:solidFill>
            <a:prstDash val="solid"/>
          </a:ln>
        </p:spPr>
        <p:txBody>
          <a:bodyPr/>
          <a:lstStyle/>
          <a:p>
            <a:endParaRPr/>
          </a:p>
        </p:txBody>
      </p:sp>
      <p:sp>
        <p:nvSpPr>
          <p:cNvPr id="44" name="Text 41"/>
          <p:cNvSpPr txBox="1"/>
          <p:nvPr/>
        </p:nvSpPr>
        <p:spPr>
          <a:xfrm>
            <a:off x="3203881" y="1718069"/>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3</a:t>
            </a:r>
            <a:endParaRPr lang="en-US" sz="900" dirty="0"/>
          </a:p>
        </p:txBody>
      </p:sp>
      <p:sp>
        <p:nvSpPr>
          <p:cNvPr id="45" name="Shape 42"/>
          <p:cNvSpPr/>
          <p:nvPr/>
        </p:nvSpPr>
        <p:spPr>
          <a:xfrm>
            <a:off x="3968619" y="2249625"/>
            <a:ext cx="192024" cy="192024"/>
          </a:xfrm>
          <a:prstGeom prst="ellipse">
            <a:avLst/>
          </a:prstGeom>
          <a:solidFill>
            <a:srgbClr val="FFFFFF"/>
          </a:solidFill>
          <a:ln w="19050">
            <a:solidFill>
              <a:srgbClr val="C24A31"/>
            </a:solidFill>
            <a:prstDash val="solid"/>
          </a:ln>
        </p:spPr>
        <p:txBody>
          <a:bodyPr/>
          <a:lstStyle/>
          <a:p>
            <a:endParaRPr/>
          </a:p>
        </p:txBody>
      </p:sp>
      <p:sp>
        <p:nvSpPr>
          <p:cNvPr id="46" name="Text 43"/>
          <p:cNvSpPr txBox="1"/>
          <p:nvPr/>
        </p:nvSpPr>
        <p:spPr>
          <a:xfrm>
            <a:off x="3968619" y="2249625"/>
            <a:ext cx="192024" cy="192024"/>
          </a:xfrm>
          <a:prstGeom prst="rect">
            <a:avLst/>
          </a:prstGeom>
          <a:noFill/>
          <a:ln/>
        </p:spPr>
        <p:txBody>
          <a:bodyPr wrap="square" lIns="0" tIns="0" rIns="0" bIns="0" rtlCol="0" anchor="ctr"/>
          <a:lstStyle/>
          <a:p>
            <a:pPr marL="0" indent="0" algn="ctr">
              <a:buNone/>
            </a:pPr>
            <a:r>
              <a:rPr lang="en-US" sz="900" dirty="0">
                <a:solidFill>
                  <a:srgbClr val="C24A31"/>
                </a:solidFill>
                <a:latin typeface="Pretendard SemiBold" pitchFamily="34" charset="0"/>
                <a:ea typeface="Pretendard SemiBold" pitchFamily="34" charset="-122"/>
                <a:cs typeface="Pretendard SemiBold" pitchFamily="34" charset="-120"/>
              </a:rPr>
              <a:t>4</a:t>
            </a:r>
            <a:endParaRPr lang="en-US" sz="900" dirty="0"/>
          </a:p>
        </p:txBody>
      </p:sp>
      <p:sp>
        <p:nvSpPr>
          <p:cNvPr id="47" name="Shape 44"/>
          <p:cNvSpPr/>
          <p:nvPr/>
        </p:nvSpPr>
        <p:spPr>
          <a:xfrm>
            <a:off x="5577840" y="1243584"/>
            <a:ext cx="192024" cy="192024"/>
          </a:xfrm>
          <a:prstGeom prst="ellipse">
            <a:avLst/>
          </a:prstGeom>
          <a:solidFill>
            <a:srgbClr val="C24A31"/>
          </a:solidFill>
          <a:ln/>
        </p:spPr>
        <p:txBody>
          <a:bodyPr/>
          <a:lstStyle/>
          <a:p>
            <a:endParaRPr/>
          </a:p>
        </p:txBody>
      </p:sp>
      <p:sp>
        <p:nvSpPr>
          <p:cNvPr id="48" name="Text 45"/>
          <p:cNvSpPr txBox="1"/>
          <p:nvPr/>
        </p:nvSpPr>
        <p:spPr>
          <a:xfrm>
            <a:off x="5577840" y="124358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1</a:t>
            </a:r>
            <a:endParaRPr lang="en-US" sz="850" dirty="0"/>
          </a:p>
        </p:txBody>
      </p:sp>
      <p:sp>
        <p:nvSpPr>
          <p:cNvPr id="49" name="Text 46"/>
          <p:cNvSpPr txBox="1"/>
          <p:nvPr/>
        </p:nvSpPr>
        <p:spPr>
          <a:xfrm>
            <a:off x="5870448" y="1188720"/>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POST /…/absence
</a:t>
            </a:r>
            <a:r>
              <a:rPr lang="en-US" sz="950" dirty="0">
                <a:solidFill>
                  <a:srgbClr val="2B333C"/>
                </a:solidFill>
                <a:latin typeface="Pretendard Medium" pitchFamily="34" charset="0"/>
                <a:ea typeface="Pretendard Medium" pitchFamily="34" charset="-122"/>
                <a:cs typeface="Pretendard Medium" pitchFamily="34" charset="-120"/>
              </a:rPr>
              <a:t>결원 등록. 사유를 사람이 쓰는 유일한 자리</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나머지 세 기록은 이 사유를 그대로 복사</a:t>
            </a:r>
            <a:endParaRPr lang="en-US" sz="850" dirty="0"/>
          </a:p>
        </p:txBody>
      </p:sp>
      <p:sp>
        <p:nvSpPr>
          <p:cNvPr id="51" name="Shape 48"/>
          <p:cNvSpPr/>
          <p:nvPr/>
        </p:nvSpPr>
        <p:spPr>
          <a:xfrm>
            <a:off x="5577840" y="2072259"/>
            <a:ext cx="192024" cy="192024"/>
          </a:xfrm>
          <a:prstGeom prst="ellipse">
            <a:avLst/>
          </a:prstGeom>
          <a:solidFill>
            <a:srgbClr val="C24A31"/>
          </a:solidFill>
          <a:ln/>
        </p:spPr>
        <p:txBody>
          <a:bodyPr/>
          <a:lstStyle/>
          <a:p>
            <a:endParaRPr/>
          </a:p>
        </p:txBody>
      </p:sp>
      <p:sp>
        <p:nvSpPr>
          <p:cNvPr id="52" name="Text 49"/>
          <p:cNvSpPr txBox="1"/>
          <p:nvPr/>
        </p:nvSpPr>
        <p:spPr>
          <a:xfrm>
            <a:off x="5577840" y="2072259"/>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2</a:t>
            </a:r>
            <a:endParaRPr lang="en-US" sz="850" dirty="0"/>
          </a:p>
        </p:txBody>
      </p:sp>
      <p:sp>
        <p:nvSpPr>
          <p:cNvPr id="53" name="Text 50"/>
          <p:cNvSpPr txBox="1"/>
          <p:nvPr/>
        </p:nvSpPr>
        <p:spPr>
          <a:xfrm>
            <a:off x="5870448" y="2017395"/>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POST /…/substitute
</a:t>
            </a:r>
            <a:r>
              <a:rPr lang="en-US" sz="950" dirty="0">
                <a:solidFill>
                  <a:srgbClr val="2B333C"/>
                </a:solidFill>
                <a:latin typeface="Pretendard Medium" pitchFamily="34" charset="0"/>
                <a:ea typeface="Pretendard Medium" pitchFamily="34" charset="-122"/>
                <a:cs typeface="Pretendard Medium" pitchFamily="34" charset="-120"/>
              </a:rPr>
              <a:t>누가 대신 설지 정한다</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체크해 두면 결원자의 역할(차지)도 같이 넘어간다</a:t>
            </a:r>
            <a:endParaRPr lang="en-US" sz="850" dirty="0"/>
          </a:p>
        </p:txBody>
      </p:sp>
      <p:sp>
        <p:nvSpPr>
          <p:cNvPr id="55" name="Shape 52"/>
          <p:cNvSpPr/>
          <p:nvPr/>
        </p:nvSpPr>
        <p:spPr>
          <a:xfrm>
            <a:off x="5577840" y="2900934"/>
            <a:ext cx="192024" cy="192024"/>
          </a:xfrm>
          <a:prstGeom prst="ellipse">
            <a:avLst/>
          </a:prstGeom>
          <a:solidFill>
            <a:srgbClr val="C24A31"/>
          </a:solidFill>
          <a:ln/>
        </p:spPr>
        <p:txBody>
          <a:bodyPr/>
          <a:lstStyle/>
          <a:p>
            <a:endParaRPr/>
          </a:p>
        </p:txBody>
      </p:sp>
      <p:sp>
        <p:nvSpPr>
          <p:cNvPr id="56" name="Text 53"/>
          <p:cNvSpPr txBox="1"/>
          <p:nvPr/>
        </p:nvSpPr>
        <p:spPr>
          <a:xfrm>
            <a:off x="5577840" y="290093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3</a:t>
            </a:r>
            <a:endParaRPr lang="en-US" sz="850" dirty="0"/>
          </a:p>
        </p:txBody>
      </p:sp>
      <p:sp>
        <p:nvSpPr>
          <p:cNvPr id="57" name="Text 54"/>
          <p:cNvSpPr txBox="1"/>
          <p:nvPr/>
        </p:nvSpPr>
        <p:spPr>
          <a:xfrm>
            <a:off x="5870448" y="2846070"/>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POST /…/handover-transfer
</a:t>
            </a:r>
            <a:r>
              <a:rPr lang="en-US" sz="950" dirty="0">
                <a:solidFill>
                  <a:srgbClr val="2B333C"/>
                </a:solidFill>
                <a:latin typeface="Pretendard Medium" pitchFamily="34" charset="0"/>
                <a:ea typeface="Pretendard Medium" pitchFamily="34" charset="-122"/>
                <a:cs typeface="Pretendard Medium" pitchFamily="34" charset="-120"/>
              </a:rPr>
              <a:t>맡고 있던 인계를 넘긴다</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원래 인계는 안 지운다. '대체됨'으로 두고 새 인계를 발행</a:t>
            </a:r>
            <a:endParaRPr lang="en-US" sz="850" dirty="0"/>
          </a:p>
        </p:txBody>
      </p:sp>
      <p:sp>
        <p:nvSpPr>
          <p:cNvPr id="59" name="Shape 56"/>
          <p:cNvSpPr/>
          <p:nvPr/>
        </p:nvSpPr>
        <p:spPr>
          <a:xfrm>
            <a:off x="5577840" y="3729609"/>
            <a:ext cx="192024" cy="192024"/>
          </a:xfrm>
          <a:prstGeom prst="ellipse">
            <a:avLst/>
          </a:prstGeom>
          <a:solidFill>
            <a:srgbClr val="FFFFFF"/>
          </a:solidFill>
          <a:ln w="19050">
            <a:solidFill>
              <a:srgbClr val="C24A31"/>
            </a:solidFill>
            <a:prstDash val="solid"/>
          </a:ln>
        </p:spPr>
        <p:txBody>
          <a:bodyPr/>
          <a:lstStyle/>
          <a:p>
            <a:endParaRPr/>
          </a:p>
        </p:txBody>
      </p:sp>
      <p:sp>
        <p:nvSpPr>
          <p:cNvPr id="60" name="Text 57"/>
          <p:cNvSpPr txBox="1"/>
          <p:nvPr/>
        </p:nvSpPr>
        <p:spPr>
          <a:xfrm>
            <a:off x="5577840" y="3729609"/>
            <a:ext cx="192024" cy="192024"/>
          </a:xfrm>
          <a:prstGeom prst="rect">
            <a:avLst/>
          </a:prstGeom>
          <a:noFill/>
          <a:ln/>
        </p:spPr>
        <p:txBody>
          <a:bodyPr wrap="square" lIns="0" tIns="0" rIns="0" bIns="0" rtlCol="0" anchor="ctr"/>
          <a:lstStyle/>
          <a:p>
            <a:pPr marL="0" indent="0" algn="ctr">
              <a:buNone/>
            </a:pPr>
            <a:r>
              <a:rPr lang="en-US" sz="850" dirty="0">
                <a:solidFill>
                  <a:srgbClr val="C24A31"/>
                </a:solidFill>
                <a:latin typeface="Pretendard SemiBold" pitchFamily="34" charset="0"/>
                <a:ea typeface="Pretendard SemiBold" pitchFamily="34" charset="-122"/>
                <a:cs typeface="Pretendard SemiBold" pitchFamily="34" charset="-120"/>
              </a:rPr>
              <a:t>4</a:t>
            </a:r>
            <a:endParaRPr lang="en-US" sz="850" dirty="0"/>
          </a:p>
        </p:txBody>
      </p:sp>
      <p:sp>
        <p:nvSpPr>
          <p:cNvPr id="61" name="Text 58"/>
          <p:cNvSpPr txBox="1"/>
          <p:nvPr/>
        </p:nvSpPr>
        <p:spPr>
          <a:xfrm>
            <a:off x="5870448" y="3674745"/>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422 보낸 내용이 모자람
</a:t>
            </a:r>
            <a:r>
              <a:rPr lang="en-US" sz="950" dirty="0">
                <a:solidFill>
                  <a:srgbClr val="2B333C"/>
                </a:solidFill>
                <a:latin typeface="Pretendard Medium" pitchFamily="34" charset="0"/>
                <a:ea typeface="Pretendard Medium" pitchFamily="34" charset="-122"/>
                <a:cs typeface="Pretendard Medium" pitchFamily="34" charset="-120"/>
              </a:rPr>
              <a:t>대체자 없이 '완료'라고 적을 수 없다</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완료는 자동 판정이 아니라 사람의 확인 기록</a:t>
            </a:r>
            <a:endParaRPr lang="en-US" sz="850" dirty="0"/>
          </a:p>
        </p:txBody>
      </p:sp>
      <p:sp>
        <p:nvSpPr>
          <p:cNvPr id="63" name="Text 60"/>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아래 목록은 "이 사람 이름으로 남은 인계 N건". 시스템이 막지 않기로 한 것을 화면이 대신 보여준다</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14</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04  화면마다 도는 API</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C24A31"/>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수간호사 첫 화면</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숫자를 누르면 그 숫자의 근거로 내려간다</a:t>
            </a:r>
            <a:endParaRPr lang="en-US" sz="1200" dirty="0"/>
          </a:p>
        </p:txBody>
      </p:sp>
      <p:pic>
        <p:nvPicPr>
          <p:cNvPr id="37" name="Image 0" descr="/Users/hwangjaewon/skala-workspace/skala-webservice-mini/assets/2_dashboard_manager.png"/>
          <p:cNvPicPr>
            <a:picLocks noChangeAspect="1"/>
          </p:cNvPicPr>
          <p:nvPr/>
        </p:nvPicPr>
        <p:blipFill>
          <a:blip r:embed="rId3"/>
          <a:stretch>
            <a:fillRect/>
          </a:stretch>
        </p:blipFill>
        <p:spPr>
          <a:xfrm>
            <a:off x="701551" y="1152144"/>
            <a:ext cx="4522209" cy="3314700"/>
          </a:xfrm>
          <a:prstGeom prst="rect">
            <a:avLst/>
          </a:prstGeom>
        </p:spPr>
      </p:pic>
      <p:sp>
        <p:nvSpPr>
          <p:cNvPr id="38" name="Shape 35"/>
          <p:cNvSpPr/>
          <p:nvPr/>
        </p:nvSpPr>
        <p:spPr>
          <a:xfrm>
            <a:off x="701551" y="1152144"/>
            <a:ext cx="4522209" cy="3314700"/>
          </a:xfrm>
          <a:prstGeom prst="rect">
            <a:avLst/>
          </a:prstGeom>
          <a:ln w="9525">
            <a:solidFill>
              <a:srgbClr val="E4E2DB"/>
            </a:solidFill>
            <a:prstDash val="solid"/>
          </a:ln>
        </p:spPr>
        <p:txBody>
          <a:bodyPr/>
          <a:lstStyle/>
          <a:p>
            <a:endParaRPr/>
          </a:p>
        </p:txBody>
      </p:sp>
      <p:sp>
        <p:nvSpPr>
          <p:cNvPr id="39" name="Shape 36"/>
          <p:cNvSpPr/>
          <p:nvPr/>
        </p:nvSpPr>
        <p:spPr>
          <a:xfrm>
            <a:off x="1481420" y="1608582"/>
            <a:ext cx="192024" cy="192024"/>
          </a:xfrm>
          <a:prstGeom prst="ellipse">
            <a:avLst/>
          </a:prstGeom>
          <a:solidFill>
            <a:srgbClr val="2B333C"/>
          </a:solidFill>
          <a:ln w="12700">
            <a:solidFill>
              <a:srgbClr val="FFFFFF"/>
            </a:solidFill>
            <a:prstDash val="solid"/>
          </a:ln>
        </p:spPr>
        <p:txBody>
          <a:bodyPr/>
          <a:lstStyle/>
          <a:p>
            <a:endParaRPr/>
          </a:p>
        </p:txBody>
      </p:sp>
      <p:sp>
        <p:nvSpPr>
          <p:cNvPr id="40" name="Text 37"/>
          <p:cNvSpPr txBox="1"/>
          <p:nvPr/>
        </p:nvSpPr>
        <p:spPr>
          <a:xfrm>
            <a:off x="1481420" y="1608582"/>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
        <p:nvSpPr>
          <p:cNvPr id="41" name="Shape 38"/>
          <p:cNvSpPr/>
          <p:nvPr/>
        </p:nvSpPr>
        <p:spPr>
          <a:xfrm>
            <a:off x="2389035" y="1608582"/>
            <a:ext cx="192024" cy="192024"/>
          </a:xfrm>
          <a:prstGeom prst="ellipse">
            <a:avLst/>
          </a:prstGeom>
          <a:solidFill>
            <a:srgbClr val="2B333C"/>
          </a:solidFill>
          <a:ln w="12700">
            <a:solidFill>
              <a:srgbClr val="FFFFFF"/>
            </a:solidFill>
            <a:prstDash val="solid"/>
          </a:ln>
        </p:spPr>
        <p:txBody>
          <a:bodyPr/>
          <a:lstStyle/>
          <a:p>
            <a:endParaRPr/>
          </a:p>
        </p:txBody>
      </p:sp>
      <p:sp>
        <p:nvSpPr>
          <p:cNvPr id="42" name="Text 39"/>
          <p:cNvSpPr txBox="1"/>
          <p:nvPr/>
        </p:nvSpPr>
        <p:spPr>
          <a:xfrm>
            <a:off x="2389035" y="1608582"/>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
        <p:nvSpPr>
          <p:cNvPr id="43" name="Shape 40"/>
          <p:cNvSpPr/>
          <p:nvPr/>
        </p:nvSpPr>
        <p:spPr>
          <a:xfrm>
            <a:off x="3293477" y="1605407"/>
            <a:ext cx="192024" cy="192024"/>
          </a:xfrm>
          <a:prstGeom prst="ellipse">
            <a:avLst/>
          </a:prstGeom>
          <a:solidFill>
            <a:srgbClr val="C24A31"/>
          </a:solidFill>
          <a:ln w="12700">
            <a:solidFill>
              <a:srgbClr val="FFFFFF"/>
            </a:solidFill>
            <a:prstDash val="solid"/>
          </a:ln>
        </p:spPr>
        <p:txBody>
          <a:bodyPr/>
          <a:lstStyle/>
          <a:p>
            <a:endParaRPr/>
          </a:p>
        </p:txBody>
      </p:sp>
      <p:sp>
        <p:nvSpPr>
          <p:cNvPr id="44" name="Text 41"/>
          <p:cNvSpPr txBox="1"/>
          <p:nvPr/>
        </p:nvSpPr>
        <p:spPr>
          <a:xfrm>
            <a:off x="3293477" y="1605407"/>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3</a:t>
            </a:r>
            <a:endParaRPr lang="en-US" sz="900" dirty="0"/>
          </a:p>
        </p:txBody>
      </p:sp>
      <p:sp>
        <p:nvSpPr>
          <p:cNvPr id="45" name="Shape 42"/>
          <p:cNvSpPr/>
          <p:nvPr/>
        </p:nvSpPr>
        <p:spPr>
          <a:xfrm>
            <a:off x="4201092" y="1608582"/>
            <a:ext cx="192024" cy="192024"/>
          </a:xfrm>
          <a:prstGeom prst="ellipse">
            <a:avLst/>
          </a:prstGeom>
          <a:solidFill>
            <a:srgbClr val="FFFFFF"/>
          </a:solidFill>
          <a:ln w="19050">
            <a:solidFill>
              <a:srgbClr val="C24A31"/>
            </a:solidFill>
            <a:prstDash val="solid"/>
          </a:ln>
        </p:spPr>
        <p:txBody>
          <a:bodyPr/>
          <a:lstStyle/>
          <a:p>
            <a:endParaRPr/>
          </a:p>
        </p:txBody>
      </p:sp>
      <p:sp>
        <p:nvSpPr>
          <p:cNvPr id="46" name="Text 43"/>
          <p:cNvSpPr txBox="1"/>
          <p:nvPr/>
        </p:nvSpPr>
        <p:spPr>
          <a:xfrm>
            <a:off x="4201092" y="1608582"/>
            <a:ext cx="192024" cy="192024"/>
          </a:xfrm>
          <a:prstGeom prst="rect">
            <a:avLst/>
          </a:prstGeom>
          <a:noFill/>
          <a:ln/>
        </p:spPr>
        <p:txBody>
          <a:bodyPr wrap="square" lIns="0" tIns="0" rIns="0" bIns="0" rtlCol="0" anchor="ctr"/>
          <a:lstStyle/>
          <a:p>
            <a:pPr marL="0" indent="0" algn="ctr">
              <a:buNone/>
            </a:pPr>
            <a:r>
              <a:rPr lang="en-US" sz="900" dirty="0">
                <a:solidFill>
                  <a:srgbClr val="C24A31"/>
                </a:solidFill>
                <a:latin typeface="Pretendard SemiBold" pitchFamily="34" charset="0"/>
                <a:ea typeface="Pretendard SemiBold" pitchFamily="34" charset="-122"/>
                <a:cs typeface="Pretendard SemiBold" pitchFamily="34" charset="-120"/>
              </a:rPr>
              <a:t>4</a:t>
            </a:r>
            <a:endParaRPr lang="en-US" sz="900" dirty="0"/>
          </a:p>
        </p:txBody>
      </p:sp>
      <p:sp>
        <p:nvSpPr>
          <p:cNvPr id="47" name="Shape 44"/>
          <p:cNvSpPr/>
          <p:nvPr/>
        </p:nvSpPr>
        <p:spPr>
          <a:xfrm>
            <a:off x="5577840" y="1243584"/>
            <a:ext cx="192024" cy="192024"/>
          </a:xfrm>
          <a:prstGeom prst="ellipse">
            <a:avLst/>
          </a:prstGeom>
          <a:solidFill>
            <a:srgbClr val="2B333C"/>
          </a:solidFill>
          <a:ln/>
        </p:spPr>
        <p:txBody>
          <a:bodyPr/>
          <a:lstStyle/>
          <a:p>
            <a:endParaRPr/>
          </a:p>
        </p:txBody>
      </p:sp>
      <p:sp>
        <p:nvSpPr>
          <p:cNvPr id="48" name="Text 45"/>
          <p:cNvSpPr txBox="1"/>
          <p:nvPr/>
        </p:nvSpPr>
        <p:spPr>
          <a:xfrm>
            <a:off x="5577840" y="124358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1</a:t>
            </a:r>
            <a:endParaRPr lang="en-US" sz="850" dirty="0"/>
          </a:p>
        </p:txBody>
      </p:sp>
      <p:sp>
        <p:nvSpPr>
          <p:cNvPr id="49" name="Text 46"/>
          <p:cNvSpPr txBox="1"/>
          <p:nvPr/>
        </p:nvSpPr>
        <p:spPr>
          <a:xfrm>
            <a:off x="5870448" y="1188720"/>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2B333C"/>
                </a:solidFill>
                <a:latin typeface="Menlo" pitchFamily="34" charset="0"/>
                <a:ea typeface="Menlo" pitchFamily="34" charset="-122"/>
                <a:cs typeface="Menlo" pitchFamily="34" charset="-120"/>
              </a:rPr>
              <a:t>GET /wards/{id}/shift-assignments
</a:t>
            </a:r>
            <a:r>
              <a:rPr lang="en-US" sz="950" dirty="0">
                <a:solidFill>
                  <a:srgbClr val="2B333C"/>
                </a:solidFill>
                <a:latin typeface="Pretendard Medium" pitchFamily="34" charset="0"/>
                <a:ea typeface="Pretendard Medium" pitchFamily="34" charset="-122"/>
                <a:cs typeface="Pretendard Medium" pitchFamily="34" charset="-120"/>
              </a:rPr>
              <a:t>오늘 누가 나오는지. 누르면 명단이 펼쳐진다</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근무 등록 화면과 같은 API 를 다시 쓴다</a:t>
            </a:r>
            <a:endParaRPr lang="en-US" sz="850" dirty="0"/>
          </a:p>
        </p:txBody>
      </p:sp>
      <p:sp>
        <p:nvSpPr>
          <p:cNvPr id="51" name="Shape 48"/>
          <p:cNvSpPr/>
          <p:nvPr/>
        </p:nvSpPr>
        <p:spPr>
          <a:xfrm>
            <a:off x="5577840" y="2072259"/>
            <a:ext cx="192024" cy="192024"/>
          </a:xfrm>
          <a:prstGeom prst="ellipse">
            <a:avLst/>
          </a:prstGeom>
          <a:solidFill>
            <a:srgbClr val="2B333C"/>
          </a:solidFill>
          <a:ln/>
        </p:spPr>
        <p:txBody>
          <a:bodyPr/>
          <a:lstStyle/>
          <a:p>
            <a:endParaRPr/>
          </a:p>
        </p:txBody>
      </p:sp>
      <p:sp>
        <p:nvSpPr>
          <p:cNvPr id="52" name="Text 49"/>
          <p:cNvSpPr txBox="1"/>
          <p:nvPr/>
        </p:nvSpPr>
        <p:spPr>
          <a:xfrm>
            <a:off x="5577840" y="2072259"/>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2</a:t>
            </a:r>
            <a:endParaRPr lang="en-US" sz="850" dirty="0"/>
          </a:p>
        </p:txBody>
      </p:sp>
      <p:sp>
        <p:nvSpPr>
          <p:cNvPr id="53" name="Text 50"/>
          <p:cNvSpPr txBox="1"/>
          <p:nvPr/>
        </p:nvSpPr>
        <p:spPr>
          <a:xfrm>
            <a:off x="5870448" y="2017395"/>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2B333C"/>
                </a:solidFill>
                <a:latin typeface="Menlo" pitchFamily="34" charset="0"/>
                <a:ea typeface="Menlo" pitchFamily="34" charset="-122"/>
                <a:cs typeface="Menlo" pitchFamily="34" charset="-120"/>
              </a:rPr>
              <a:t>같은 응답을 역할별로 묶음
</a:t>
            </a:r>
            <a:r>
              <a:rPr lang="en-US" sz="950" dirty="0">
                <a:solidFill>
                  <a:srgbClr val="2B333C"/>
                </a:solidFill>
                <a:latin typeface="Pretendard Medium" pitchFamily="34" charset="0"/>
                <a:ea typeface="Pretendard Medium" pitchFamily="34" charset="-122"/>
                <a:cs typeface="Pretendard Medium" pitchFamily="34" charset="-120"/>
              </a:rPr>
              <a:t>누가 무엇을 맡았는지, 역할별로</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이걸 위해 새 API 를 만들지 않았다</a:t>
            </a:r>
            <a:endParaRPr lang="en-US" sz="850" dirty="0"/>
          </a:p>
        </p:txBody>
      </p:sp>
      <p:sp>
        <p:nvSpPr>
          <p:cNvPr id="55" name="Shape 52"/>
          <p:cNvSpPr/>
          <p:nvPr/>
        </p:nvSpPr>
        <p:spPr>
          <a:xfrm>
            <a:off x="5577840" y="2900934"/>
            <a:ext cx="192024" cy="192024"/>
          </a:xfrm>
          <a:prstGeom prst="ellipse">
            <a:avLst/>
          </a:prstGeom>
          <a:solidFill>
            <a:srgbClr val="C24A31"/>
          </a:solidFill>
          <a:ln/>
        </p:spPr>
        <p:txBody>
          <a:bodyPr/>
          <a:lstStyle/>
          <a:p>
            <a:endParaRPr/>
          </a:p>
        </p:txBody>
      </p:sp>
      <p:sp>
        <p:nvSpPr>
          <p:cNvPr id="56" name="Text 53"/>
          <p:cNvSpPr txBox="1"/>
          <p:nvPr/>
        </p:nvSpPr>
        <p:spPr>
          <a:xfrm>
            <a:off x="5577840" y="290093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3</a:t>
            </a:r>
            <a:endParaRPr lang="en-US" sz="850" dirty="0"/>
          </a:p>
        </p:txBody>
      </p:sp>
      <p:sp>
        <p:nvSpPr>
          <p:cNvPr id="57" name="Text 54"/>
          <p:cNvSpPr txBox="1"/>
          <p:nvPr/>
        </p:nvSpPr>
        <p:spPr>
          <a:xfrm>
            <a:off x="5870448" y="2846070"/>
            <a:ext cx="2706624" cy="755523"/>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GET /wards/{id}/handovers?status=SENT
</a:t>
            </a:r>
            <a:r>
              <a:rPr lang="en-US" sz="950" dirty="0">
                <a:solidFill>
                  <a:srgbClr val="2B333C"/>
                </a:solidFill>
                <a:latin typeface="Pretendard Medium" pitchFamily="34" charset="0"/>
                <a:ea typeface="Pretendard Medium" pitchFamily="34" charset="-122"/>
                <a:cs typeface="Pretendard Medium" pitchFamily="34" charset="-120"/>
              </a:rPr>
              <a:t>아직 확인 안 된 인계. 누르면 어느 건인지</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숫자와 목록이 같은 조건</a:t>
            </a:r>
            <a:endParaRPr lang="en-US" sz="850" dirty="0"/>
          </a:p>
        </p:txBody>
      </p:sp>
      <p:sp>
        <p:nvSpPr>
          <p:cNvPr id="59" name="Shape 56"/>
          <p:cNvSpPr/>
          <p:nvPr/>
        </p:nvSpPr>
        <p:spPr>
          <a:xfrm>
            <a:off x="5577840" y="3729609"/>
            <a:ext cx="192024" cy="192024"/>
          </a:xfrm>
          <a:prstGeom prst="ellipse">
            <a:avLst/>
          </a:prstGeom>
          <a:solidFill>
            <a:srgbClr val="FFFFFF"/>
          </a:solidFill>
          <a:ln w="19050">
            <a:solidFill>
              <a:srgbClr val="C24A31"/>
            </a:solidFill>
            <a:prstDash val="solid"/>
          </a:ln>
        </p:spPr>
        <p:txBody>
          <a:bodyPr/>
          <a:lstStyle/>
          <a:p>
            <a:endParaRPr/>
          </a:p>
        </p:txBody>
      </p:sp>
      <p:sp>
        <p:nvSpPr>
          <p:cNvPr id="60" name="Text 57"/>
          <p:cNvSpPr txBox="1"/>
          <p:nvPr/>
        </p:nvSpPr>
        <p:spPr>
          <a:xfrm>
            <a:off x="5577840" y="3729609"/>
            <a:ext cx="192024" cy="192024"/>
          </a:xfrm>
          <a:prstGeom prst="rect">
            <a:avLst/>
          </a:prstGeom>
          <a:noFill/>
          <a:ln/>
        </p:spPr>
        <p:txBody>
          <a:bodyPr wrap="square" lIns="0" tIns="0" rIns="0" bIns="0" rtlCol="0" anchor="ctr"/>
          <a:lstStyle/>
          <a:p>
            <a:pPr marL="0" indent="0" algn="ctr">
              <a:buNone/>
            </a:pPr>
            <a:r>
              <a:rPr lang="en-US" sz="850" dirty="0">
                <a:solidFill>
                  <a:srgbClr val="C24A31"/>
                </a:solidFill>
                <a:latin typeface="Pretendard SemiBold" pitchFamily="34" charset="0"/>
                <a:ea typeface="Pretendard SemiBold" pitchFamily="34" charset="-122"/>
                <a:cs typeface="Pretendard SemiBold" pitchFamily="34" charset="-120"/>
              </a:rPr>
              <a:t>4</a:t>
            </a:r>
            <a:endParaRPr lang="en-US" sz="850" dirty="0"/>
          </a:p>
        </p:txBody>
      </p:sp>
      <p:sp>
        <p:nvSpPr>
          <p:cNvPr id="61" name="Text 58"/>
          <p:cNvSpPr txBox="1"/>
          <p:nvPr/>
        </p:nvSpPr>
        <p:spPr>
          <a:xfrm>
            <a:off x="5870448" y="3674745"/>
            <a:ext cx="2706624" cy="755523"/>
          </a:xfrm>
          <a:prstGeom prst="rect">
            <a:avLst/>
          </a:prstGeom>
          <a:noFill/>
          <a:ln/>
        </p:spPr>
        <p:txBody>
          <a:bodyPr wrap="square" lIns="0" tIns="0" rIns="0" bIns="0" rtlCol="0" anchor="ctr"/>
          <a:lstStyle/>
          <a:p>
            <a:pPr marL="0" indent="0">
              <a:lnSpc>
                <a:spcPct val="110000"/>
              </a:lnSpc>
              <a:buNone/>
            </a:pPr>
            <a:r>
              <a:rPr lang="en-US" sz="950" dirty="0">
                <a:solidFill>
                  <a:srgbClr val="2B333C"/>
                </a:solidFill>
                <a:latin typeface="Pretendard Medium" pitchFamily="34" charset="0"/>
                <a:ea typeface="Pretendard Medium" pitchFamily="34" charset="-122"/>
                <a:cs typeface="Pretendard Medium" pitchFamily="34" charset="-120"/>
              </a:rPr>
              <a:t>결원 목록은 접지 않고 항상 보인다</a:t>
            </a:r>
            <a:endParaRPr lang="en-US" sz="9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접히면 '재배정 필요'를 놓친다. 타일을 누르면 그 자리로 내려간다</a:t>
            </a:r>
            <a:endParaRPr lang="en-US" sz="950" dirty="0"/>
          </a:p>
        </p:txBody>
      </p:sp>
      <p:sp>
        <p:nvSpPr>
          <p:cNvPr id="63" name="Text 60"/>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"인계 미작성 N건"은 안 넣었다. 병원 전산과 연결이 없어서 "썼어야 했는데 안 쓴 건"을 셀 방법이 없다</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15</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04  화면마다 도는 API</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C24A31"/>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역할과 인계 담당 정하기</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환자는 팀이 같이 본다. 여기서 정하는 건 인계를 맡을 사람</a:t>
            </a:r>
            <a:endParaRPr lang="en-US" sz="1200" dirty="0"/>
          </a:p>
        </p:txBody>
      </p:sp>
      <p:pic>
        <p:nvPicPr>
          <p:cNvPr id="37" name="Image 0" descr="/Users/hwangjaewon/skala-workspace/skala-webservice-mini/assets/4_assignment_board_manager.png"/>
          <p:cNvPicPr>
            <a:picLocks noChangeAspect="1"/>
          </p:cNvPicPr>
          <p:nvPr/>
        </p:nvPicPr>
        <p:blipFill>
          <a:blip r:embed="rId3"/>
          <a:stretch>
            <a:fillRect/>
          </a:stretch>
        </p:blipFill>
        <p:spPr>
          <a:xfrm>
            <a:off x="548640" y="1152144"/>
            <a:ext cx="4828032" cy="3017520"/>
          </a:xfrm>
          <a:prstGeom prst="rect">
            <a:avLst/>
          </a:prstGeom>
        </p:spPr>
      </p:pic>
      <p:sp>
        <p:nvSpPr>
          <p:cNvPr id="38" name="Shape 35"/>
          <p:cNvSpPr/>
          <p:nvPr/>
        </p:nvSpPr>
        <p:spPr>
          <a:xfrm>
            <a:off x="548640" y="1152144"/>
            <a:ext cx="4828032" cy="3017520"/>
          </a:xfrm>
          <a:prstGeom prst="rect">
            <a:avLst/>
          </a:prstGeom>
          <a:ln w="9525">
            <a:solidFill>
              <a:srgbClr val="E4E2DB"/>
            </a:solidFill>
            <a:prstDash val="solid"/>
          </a:ln>
        </p:spPr>
        <p:txBody>
          <a:bodyPr/>
          <a:lstStyle/>
          <a:p>
            <a:endParaRPr/>
          </a:p>
        </p:txBody>
      </p:sp>
      <p:sp>
        <p:nvSpPr>
          <p:cNvPr id="39" name="Shape 36"/>
          <p:cNvSpPr/>
          <p:nvPr/>
        </p:nvSpPr>
        <p:spPr>
          <a:xfrm>
            <a:off x="1378001" y="1733398"/>
            <a:ext cx="192024" cy="192024"/>
          </a:xfrm>
          <a:prstGeom prst="ellipse">
            <a:avLst/>
          </a:prstGeom>
          <a:solidFill>
            <a:srgbClr val="C24A31"/>
          </a:solidFill>
          <a:ln w="12700">
            <a:solidFill>
              <a:srgbClr val="FFFFFF"/>
            </a:solidFill>
            <a:prstDash val="solid"/>
          </a:ln>
        </p:spPr>
        <p:txBody>
          <a:bodyPr/>
          <a:lstStyle/>
          <a:p>
            <a:endParaRPr/>
          </a:p>
        </p:txBody>
      </p:sp>
      <p:sp>
        <p:nvSpPr>
          <p:cNvPr id="40" name="Text 37"/>
          <p:cNvSpPr txBox="1"/>
          <p:nvPr/>
        </p:nvSpPr>
        <p:spPr>
          <a:xfrm>
            <a:off x="1378001" y="1733398"/>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
        <p:nvSpPr>
          <p:cNvPr id="41" name="Shape 38"/>
          <p:cNvSpPr/>
          <p:nvPr/>
        </p:nvSpPr>
        <p:spPr>
          <a:xfrm>
            <a:off x="2896819" y="2132381"/>
            <a:ext cx="192024" cy="192024"/>
          </a:xfrm>
          <a:prstGeom prst="ellipse">
            <a:avLst/>
          </a:prstGeom>
          <a:solidFill>
            <a:srgbClr val="C24A31"/>
          </a:solidFill>
          <a:ln w="12700">
            <a:solidFill>
              <a:srgbClr val="FFFFFF"/>
            </a:solidFill>
            <a:prstDash val="solid"/>
          </a:ln>
        </p:spPr>
        <p:txBody>
          <a:bodyPr/>
          <a:lstStyle/>
          <a:p>
            <a:endParaRPr/>
          </a:p>
        </p:txBody>
      </p:sp>
      <p:sp>
        <p:nvSpPr>
          <p:cNvPr id="42" name="Text 39"/>
          <p:cNvSpPr txBox="1"/>
          <p:nvPr/>
        </p:nvSpPr>
        <p:spPr>
          <a:xfrm>
            <a:off x="2896819" y="2132381"/>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
        <p:nvSpPr>
          <p:cNvPr id="43" name="Shape 40"/>
          <p:cNvSpPr/>
          <p:nvPr/>
        </p:nvSpPr>
        <p:spPr>
          <a:xfrm>
            <a:off x="3735019" y="2129028"/>
            <a:ext cx="192024" cy="192024"/>
          </a:xfrm>
          <a:prstGeom prst="ellipse">
            <a:avLst/>
          </a:prstGeom>
          <a:solidFill>
            <a:srgbClr val="2B333C"/>
          </a:solidFill>
          <a:ln w="12700">
            <a:solidFill>
              <a:srgbClr val="FFFFFF"/>
            </a:solidFill>
            <a:prstDash val="solid"/>
          </a:ln>
        </p:spPr>
        <p:txBody>
          <a:bodyPr/>
          <a:lstStyle/>
          <a:p>
            <a:endParaRPr/>
          </a:p>
        </p:txBody>
      </p:sp>
      <p:sp>
        <p:nvSpPr>
          <p:cNvPr id="44" name="Text 41"/>
          <p:cNvSpPr txBox="1"/>
          <p:nvPr/>
        </p:nvSpPr>
        <p:spPr>
          <a:xfrm>
            <a:off x="3735019" y="2129028"/>
            <a:ext cx="192024" cy="192024"/>
          </a:xfrm>
          <a:prstGeom prst="rect">
            <a:avLst/>
          </a:prstGeom>
          <a:noFill/>
          <a:ln/>
        </p:spPr>
        <p:txBody>
          <a:bodyPr wrap="square" lIns="0" tIns="0" rIns="0" bIns="0" rtlCol="0" anchor="ctr"/>
          <a:lstStyle/>
          <a:p>
            <a:pPr marL="0" indent="0" algn="ctr">
              <a:buNone/>
            </a:pPr>
            <a:r>
              <a:rPr lang="en-US" sz="900" dirty="0">
                <a:solidFill>
                  <a:srgbClr val="FFFFFF"/>
                </a:solidFill>
                <a:latin typeface="Pretendard SemiBold" pitchFamily="34" charset="0"/>
                <a:ea typeface="Pretendard SemiBold" pitchFamily="34" charset="-122"/>
                <a:cs typeface="Pretendard SemiBold" pitchFamily="34" charset="-120"/>
              </a:rPr>
              <a:t>3</a:t>
            </a:r>
            <a:endParaRPr lang="en-US" sz="900" dirty="0"/>
          </a:p>
        </p:txBody>
      </p:sp>
      <p:sp>
        <p:nvSpPr>
          <p:cNvPr id="45" name="Shape 42"/>
          <p:cNvSpPr/>
          <p:nvPr/>
        </p:nvSpPr>
        <p:spPr>
          <a:xfrm>
            <a:off x="5577840" y="1243584"/>
            <a:ext cx="192024" cy="192024"/>
          </a:xfrm>
          <a:prstGeom prst="ellipse">
            <a:avLst/>
          </a:prstGeom>
          <a:solidFill>
            <a:srgbClr val="C24A31"/>
          </a:solidFill>
          <a:ln/>
        </p:spPr>
        <p:txBody>
          <a:bodyPr/>
          <a:lstStyle/>
          <a:p>
            <a:endParaRPr/>
          </a:p>
        </p:txBody>
      </p:sp>
      <p:sp>
        <p:nvSpPr>
          <p:cNvPr id="46" name="Text 43"/>
          <p:cNvSpPr txBox="1"/>
          <p:nvPr/>
        </p:nvSpPr>
        <p:spPr>
          <a:xfrm>
            <a:off x="5577840" y="124358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1</a:t>
            </a:r>
            <a:endParaRPr lang="en-US" sz="850" dirty="0"/>
          </a:p>
        </p:txBody>
      </p:sp>
      <p:sp>
        <p:nvSpPr>
          <p:cNvPr id="47" name="Text 44"/>
          <p:cNvSpPr txBox="1"/>
          <p:nvPr/>
        </p:nvSpPr>
        <p:spPr>
          <a:xfrm>
            <a:off x="5870448" y="1188720"/>
            <a:ext cx="2706624" cy="1031748"/>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PATCH /shift-assignments/{id}
</a:t>
            </a:r>
            <a:r>
              <a:rPr lang="en-US" sz="950" dirty="0">
                <a:solidFill>
                  <a:srgbClr val="2B333C"/>
                </a:solidFill>
                <a:latin typeface="Pretendard Medium" pitchFamily="34" charset="0"/>
                <a:ea typeface="Pretendard Medium" pitchFamily="34" charset="-122"/>
                <a:cs typeface="Pretendard Medium" pitchFamily="34" charset="-120"/>
              </a:rPr>
              <a:t>역할은 고르는 즉시 저장</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저장 버튼이 따로 없다</a:t>
            </a:r>
            <a:endParaRPr lang="en-US" sz="850" dirty="0"/>
          </a:p>
        </p:txBody>
      </p:sp>
      <p:sp>
        <p:nvSpPr>
          <p:cNvPr id="49" name="Shape 46"/>
          <p:cNvSpPr/>
          <p:nvPr/>
        </p:nvSpPr>
        <p:spPr>
          <a:xfrm>
            <a:off x="5577840" y="2348484"/>
            <a:ext cx="192024" cy="192024"/>
          </a:xfrm>
          <a:prstGeom prst="ellipse">
            <a:avLst/>
          </a:prstGeom>
          <a:solidFill>
            <a:srgbClr val="C24A31"/>
          </a:solidFill>
          <a:ln/>
        </p:spPr>
        <p:txBody>
          <a:bodyPr/>
          <a:lstStyle/>
          <a:p>
            <a:endParaRPr/>
          </a:p>
        </p:txBody>
      </p:sp>
      <p:sp>
        <p:nvSpPr>
          <p:cNvPr id="50" name="Text 47"/>
          <p:cNvSpPr txBox="1"/>
          <p:nvPr/>
        </p:nvSpPr>
        <p:spPr>
          <a:xfrm>
            <a:off x="5577840" y="234848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2</a:t>
            </a:r>
            <a:endParaRPr lang="en-US" sz="850" dirty="0"/>
          </a:p>
        </p:txBody>
      </p:sp>
      <p:sp>
        <p:nvSpPr>
          <p:cNvPr id="51" name="Text 48"/>
          <p:cNvSpPr txBox="1"/>
          <p:nvPr/>
        </p:nvSpPr>
        <p:spPr>
          <a:xfrm>
            <a:off x="5870448" y="2293620"/>
            <a:ext cx="2706624" cy="1031748"/>
          </a:xfrm>
          <a:prstGeom prst="rect">
            <a:avLst/>
          </a:prstGeom>
          <a:noFill/>
          <a:ln/>
        </p:spPr>
        <p:txBody>
          <a:bodyPr wrap="square" lIns="0" tIns="0" rIns="0" bIns="0" rtlCol="0" anchor="ctr"/>
          <a:lstStyle/>
          <a:p>
            <a:pPr marL="0" indent="0">
              <a:lnSpc>
                <a:spcPct val="110000"/>
              </a:lnSpc>
              <a:buNone/>
            </a:pPr>
            <a:r>
              <a:rPr lang="en-US" sz="850" b="1" dirty="0">
                <a:solidFill>
                  <a:srgbClr val="C24A31"/>
                </a:solidFill>
                <a:latin typeface="Menlo" pitchFamily="34" charset="0"/>
                <a:ea typeface="Menlo" pitchFamily="34" charset="-122"/>
                <a:cs typeface="Menlo" pitchFamily="34" charset="-120"/>
              </a:rPr>
              <a:t>POST /…/handover-assignments
</a:t>
            </a:r>
            <a:r>
              <a:rPr lang="en-US" sz="950" dirty="0">
                <a:solidFill>
                  <a:srgbClr val="2B333C"/>
                </a:solidFill>
                <a:latin typeface="Pretendard Medium" pitchFamily="34" charset="0"/>
                <a:ea typeface="Pretendard Medium" pitchFamily="34" charset="-122"/>
                <a:cs typeface="Pretendard Medium" pitchFamily="34" charset="-120"/>
              </a:rPr>
              <a:t>이 근무에서 누가 어느 입원 건의 인계를 맡을지</a:t>
            </a:r>
            <a:endParaRPr lang="en-US" sz="8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기본값은 그 팀의 차지</a:t>
            </a:r>
            <a:endParaRPr lang="en-US" sz="850" dirty="0"/>
          </a:p>
        </p:txBody>
      </p:sp>
      <p:sp>
        <p:nvSpPr>
          <p:cNvPr id="53" name="Shape 50"/>
          <p:cNvSpPr/>
          <p:nvPr/>
        </p:nvSpPr>
        <p:spPr>
          <a:xfrm>
            <a:off x="5577840" y="3453384"/>
            <a:ext cx="192024" cy="192024"/>
          </a:xfrm>
          <a:prstGeom prst="ellipse">
            <a:avLst/>
          </a:prstGeom>
          <a:solidFill>
            <a:srgbClr val="2B333C"/>
          </a:solidFill>
          <a:ln/>
        </p:spPr>
        <p:txBody>
          <a:bodyPr/>
          <a:lstStyle/>
          <a:p>
            <a:endParaRPr/>
          </a:p>
        </p:txBody>
      </p:sp>
      <p:sp>
        <p:nvSpPr>
          <p:cNvPr id="54" name="Text 51"/>
          <p:cNvSpPr txBox="1"/>
          <p:nvPr/>
        </p:nvSpPr>
        <p:spPr>
          <a:xfrm>
            <a:off x="5577840" y="3453384"/>
            <a:ext cx="192024" cy="192024"/>
          </a:xfrm>
          <a:prstGeom prst="rect">
            <a:avLst/>
          </a:prstGeom>
          <a:noFill/>
          <a:ln/>
        </p:spPr>
        <p:txBody>
          <a:bodyPr wrap="square" lIns="0" tIns="0" rIns="0" bIns="0" rtlCol="0" anchor="ctr"/>
          <a:lstStyle/>
          <a:p>
            <a:pPr marL="0" indent="0" algn="ctr">
              <a:buNone/>
            </a:pPr>
            <a:r>
              <a:rPr lang="en-US" sz="850" dirty="0">
                <a:solidFill>
                  <a:srgbClr val="FFFFFF"/>
                </a:solidFill>
                <a:latin typeface="Pretendard SemiBold" pitchFamily="34" charset="0"/>
                <a:ea typeface="Pretendard SemiBold" pitchFamily="34" charset="-122"/>
                <a:cs typeface="Pretendard SemiBold" pitchFamily="34" charset="-120"/>
              </a:rPr>
              <a:t>3</a:t>
            </a:r>
            <a:endParaRPr lang="en-US" sz="850" dirty="0"/>
          </a:p>
        </p:txBody>
      </p:sp>
      <p:sp>
        <p:nvSpPr>
          <p:cNvPr id="55" name="Text 52"/>
          <p:cNvSpPr txBox="1"/>
          <p:nvPr/>
        </p:nvSpPr>
        <p:spPr>
          <a:xfrm>
            <a:off x="5870448" y="3398520"/>
            <a:ext cx="2706624" cy="1031748"/>
          </a:xfrm>
          <a:prstGeom prst="rect">
            <a:avLst/>
          </a:prstGeom>
          <a:noFill/>
          <a:ln/>
        </p:spPr>
        <p:txBody>
          <a:bodyPr wrap="square" lIns="0" tIns="0" rIns="0" bIns="0" rtlCol="0" anchor="ctr"/>
          <a:lstStyle/>
          <a:p>
            <a:pPr marL="0" indent="0">
              <a:lnSpc>
                <a:spcPct val="110000"/>
              </a:lnSpc>
              <a:buNone/>
            </a:pPr>
            <a:r>
              <a:rPr lang="en-US" sz="950" dirty="0">
                <a:solidFill>
                  <a:srgbClr val="2B333C"/>
                </a:solidFill>
                <a:latin typeface="Pretendard Medium" pitchFamily="34" charset="0"/>
                <a:ea typeface="Pretendard Medium" pitchFamily="34" charset="-122"/>
                <a:cs typeface="Pretendard Medium" pitchFamily="34" charset="-120"/>
              </a:rPr>
              <a:t>담당을 더한다</a:t>
            </a:r>
            <a:endParaRPr lang="en-US" sz="950" dirty="0"/>
          </a:p>
          <a:p>
            <a:pPr marL="0" indent="0">
              <a:lnSpc>
                <a:spcPct val="110000"/>
              </a:lnSpc>
              <a:buNone/>
            </a:pPr>
            <a:r>
              <a:rPr lang="en-US" sz="850" dirty="0">
                <a:solidFill>
                  <a:srgbClr val="8C9199"/>
                </a:solidFill>
                <a:latin typeface="Pretendard" pitchFamily="34" charset="0"/>
                <a:ea typeface="Pretendard" pitchFamily="34" charset="-122"/>
                <a:cs typeface="Pretendard" pitchFamily="34" charset="-120"/>
              </a:rPr>
              <a:t>역할로 강제하지 않는다. 차지가 빠지면 누가 올라가는지 확인 못 해서</a:t>
            </a:r>
            <a:endParaRPr lang="en-US" sz="950" dirty="0"/>
          </a:p>
        </p:txBody>
      </p:sp>
      <p:sp>
        <p:nvSpPr>
          <p:cNvPr id="57" name="Text 54"/>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'담당 환자 배정'이 아니라 '인계 담당 지정'. 환자는 팀이 같이 본다</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16</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04  화면마다 도는 API</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C24A31"/>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나머지 화면 1</a:t>
            </a:r>
            <a:endParaRPr lang="en-US" sz="2500" dirty="0"/>
          </a:p>
        </p:txBody>
      </p:sp>
      <p:pic>
        <p:nvPicPr>
          <p:cNvPr id="36" name="Image 0" descr="/Users/hwangjaewon/skala-workspace/skala-webservice-mini/assets/1_login_main.png"/>
          <p:cNvPicPr>
            <a:picLocks noChangeAspect="1"/>
          </p:cNvPicPr>
          <p:nvPr/>
        </p:nvPicPr>
        <p:blipFill>
          <a:blip r:embed="rId3"/>
          <a:stretch>
            <a:fillRect/>
          </a:stretch>
        </p:blipFill>
        <p:spPr>
          <a:xfrm>
            <a:off x="548640" y="1660398"/>
            <a:ext cx="2535936" cy="1584960"/>
          </a:xfrm>
          <a:prstGeom prst="rect">
            <a:avLst/>
          </a:prstGeom>
        </p:spPr>
      </p:pic>
      <p:sp>
        <p:nvSpPr>
          <p:cNvPr id="37" name="Shape 34"/>
          <p:cNvSpPr/>
          <p:nvPr/>
        </p:nvSpPr>
        <p:spPr>
          <a:xfrm>
            <a:off x="548640" y="1660398"/>
            <a:ext cx="2535936" cy="1584960"/>
          </a:xfrm>
          <a:prstGeom prst="rect">
            <a:avLst/>
          </a:prstGeom>
          <a:ln w="9525">
            <a:solidFill>
              <a:srgbClr val="E4E2DB"/>
            </a:solidFill>
            <a:prstDash val="solid"/>
          </a:ln>
        </p:spPr>
        <p:txBody>
          <a:bodyPr/>
          <a:lstStyle/>
          <a:p>
            <a:endParaRPr/>
          </a:p>
        </p:txBody>
      </p:sp>
      <p:sp>
        <p:nvSpPr>
          <p:cNvPr id="38" name="Text 35"/>
          <p:cNvSpPr txBox="1"/>
          <p:nvPr/>
        </p:nvSpPr>
        <p:spPr>
          <a:xfrm>
            <a:off x="548640" y="3973068"/>
            <a:ext cx="2535936" cy="493776"/>
          </a:xfrm>
          <a:prstGeom prst="rect">
            <a:avLst/>
          </a:prstGeom>
          <a:noFill/>
          <a:ln/>
        </p:spPr>
        <p:txBody>
          <a:bodyPr wrap="square" lIns="0" tIns="0" rIns="0" bIns="0" rtlCol="0" anchor="t"/>
          <a:lstStyle/>
          <a:p>
            <a:pPr marL="0" indent="0" algn="l">
              <a:lnSpc>
                <a:spcPct val="110000"/>
              </a:lnSpc>
              <a:buNone/>
            </a:pPr>
            <a:r>
              <a:rPr lang="en-US" sz="1050" dirty="0">
                <a:solidFill>
                  <a:srgbClr val="2B333C"/>
                </a:solidFill>
                <a:latin typeface="Pretendard SemiBold" pitchFamily="34" charset="0"/>
                <a:ea typeface="Pretendard SemiBold" pitchFamily="34" charset="-122"/>
                <a:cs typeface="Pretendard SemiBold" pitchFamily="34" charset="-120"/>
              </a:rPr>
              <a:t>로그인
</a:t>
            </a:r>
            <a:r>
              <a:rPr lang="en-US" sz="900" dirty="0">
                <a:solidFill>
                  <a:srgbClr val="5A6069"/>
                </a:solidFill>
                <a:latin typeface="Pretendard" pitchFamily="34" charset="0"/>
                <a:ea typeface="Pretendard" pitchFamily="34" charset="-122"/>
                <a:cs typeface="Pretendard" pitchFamily="34" charset="-120"/>
              </a:rPr>
              <a:t>누구로 들어갈지 고르는 데모용 화면. 실제 인증은 병원 시스템 몫</a:t>
            </a:r>
            <a:endParaRPr lang="en-US" sz="1050" dirty="0"/>
          </a:p>
        </p:txBody>
      </p:sp>
      <p:pic>
        <p:nvPicPr>
          <p:cNvPr id="39" name="Image 1" descr="/Users/hwangjaewon/skala-workspace/skala-webservice-mini/assets/3_shift_register_manager.png"/>
          <p:cNvPicPr>
            <a:picLocks noChangeAspect="1"/>
          </p:cNvPicPr>
          <p:nvPr/>
        </p:nvPicPr>
        <p:blipFill>
          <a:blip r:embed="rId4"/>
          <a:stretch>
            <a:fillRect/>
          </a:stretch>
        </p:blipFill>
        <p:spPr>
          <a:xfrm>
            <a:off x="3304032" y="1660398"/>
            <a:ext cx="2535936" cy="1584960"/>
          </a:xfrm>
          <a:prstGeom prst="rect">
            <a:avLst/>
          </a:prstGeom>
        </p:spPr>
      </p:pic>
      <p:sp>
        <p:nvSpPr>
          <p:cNvPr id="40" name="Shape 36"/>
          <p:cNvSpPr/>
          <p:nvPr/>
        </p:nvSpPr>
        <p:spPr>
          <a:xfrm>
            <a:off x="3304032" y="1660398"/>
            <a:ext cx="2535936" cy="1584960"/>
          </a:xfrm>
          <a:prstGeom prst="rect">
            <a:avLst/>
          </a:prstGeom>
          <a:ln w="9525">
            <a:solidFill>
              <a:srgbClr val="E4E2DB"/>
            </a:solidFill>
            <a:prstDash val="solid"/>
          </a:ln>
        </p:spPr>
        <p:txBody>
          <a:bodyPr/>
          <a:lstStyle/>
          <a:p>
            <a:endParaRPr/>
          </a:p>
        </p:txBody>
      </p:sp>
      <p:sp>
        <p:nvSpPr>
          <p:cNvPr id="41" name="Text 37"/>
          <p:cNvSpPr txBox="1"/>
          <p:nvPr/>
        </p:nvSpPr>
        <p:spPr>
          <a:xfrm>
            <a:off x="3304032" y="3973068"/>
            <a:ext cx="2535936" cy="493776"/>
          </a:xfrm>
          <a:prstGeom prst="rect">
            <a:avLst/>
          </a:prstGeom>
          <a:noFill/>
          <a:ln/>
        </p:spPr>
        <p:txBody>
          <a:bodyPr wrap="square" lIns="0" tIns="0" rIns="0" bIns="0" rtlCol="0" anchor="t"/>
          <a:lstStyle/>
          <a:p>
            <a:pPr marL="0" indent="0" algn="l">
              <a:lnSpc>
                <a:spcPct val="110000"/>
              </a:lnSpc>
              <a:buNone/>
            </a:pPr>
            <a:r>
              <a:rPr lang="en-US" sz="1050" dirty="0">
                <a:solidFill>
                  <a:srgbClr val="2B333C"/>
                </a:solidFill>
                <a:latin typeface="Pretendard SemiBold" pitchFamily="34" charset="0"/>
                <a:ea typeface="Pretendard SemiBold" pitchFamily="34" charset="-122"/>
                <a:cs typeface="Pretendard SemiBold" pitchFamily="34" charset="-120"/>
              </a:rPr>
              <a:t>근무표 등록
</a:t>
            </a:r>
            <a:r>
              <a:rPr lang="en-US" sz="900" dirty="0">
                <a:solidFill>
                  <a:srgbClr val="5A6069"/>
                </a:solidFill>
                <a:latin typeface="Pretendard" pitchFamily="34" charset="0"/>
                <a:ea typeface="Pretendard" pitchFamily="34" charset="-122"/>
                <a:cs typeface="Pretendard" pitchFamily="34" charset="-120"/>
              </a:rPr>
              <a:t>역할은 여기서 안 정한다. 다른 병동 지원 근무도 등록된다</a:t>
            </a:r>
            <a:endParaRPr lang="en-US" sz="1050" dirty="0"/>
          </a:p>
        </p:txBody>
      </p:sp>
      <p:pic>
        <p:nvPicPr>
          <p:cNvPr id="42" name="Image 2" descr="/Users/hwangjaewon/skala-workspace/skala-webservice-mini/assets/5_handover_template_manager.png"/>
          <p:cNvPicPr>
            <a:picLocks noChangeAspect="1"/>
          </p:cNvPicPr>
          <p:nvPr/>
        </p:nvPicPr>
        <p:blipFill>
          <a:blip r:embed="rId5"/>
          <a:stretch>
            <a:fillRect/>
          </a:stretch>
        </p:blipFill>
        <p:spPr>
          <a:xfrm>
            <a:off x="6059424" y="1636040"/>
            <a:ext cx="2535936" cy="1633677"/>
          </a:xfrm>
          <a:prstGeom prst="rect">
            <a:avLst/>
          </a:prstGeom>
        </p:spPr>
      </p:pic>
      <p:sp>
        <p:nvSpPr>
          <p:cNvPr id="43" name="Shape 38"/>
          <p:cNvSpPr/>
          <p:nvPr/>
        </p:nvSpPr>
        <p:spPr>
          <a:xfrm>
            <a:off x="6059424" y="1636040"/>
            <a:ext cx="2535936" cy="1633677"/>
          </a:xfrm>
          <a:prstGeom prst="rect">
            <a:avLst/>
          </a:prstGeom>
          <a:ln w="9525">
            <a:solidFill>
              <a:srgbClr val="E4E2DB"/>
            </a:solidFill>
            <a:prstDash val="solid"/>
          </a:ln>
        </p:spPr>
        <p:txBody>
          <a:bodyPr/>
          <a:lstStyle/>
          <a:p>
            <a:endParaRPr/>
          </a:p>
        </p:txBody>
      </p:sp>
      <p:sp>
        <p:nvSpPr>
          <p:cNvPr id="44" name="Text 39"/>
          <p:cNvSpPr txBox="1"/>
          <p:nvPr/>
        </p:nvSpPr>
        <p:spPr>
          <a:xfrm>
            <a:off x="6059424" y="3973068"/>
            <a:ext cx="2535936" cy="493776"/>
          </a:xfrm>
          <a:prstGeom prst="rect">
            <a:avLst/>
          </a:prstGeom>
          <a:noFill/>
          <a:ln/>
        </p:spPr>
        <p:txBody>
          <a:bodyPr wrap="square" lIns="0" tIns="0" rIns="0" bIns="0" rtlCol="0" anchor="t"/>
          <a:lstStyle/>
          <a:p>
            <a:pPr marL="0" indent="0" algn="l">
              <a:lnSpc>
                <a:spcPct val="110000"/>
              </a:lnSpc>
              <a:buNone/>
            </a:pPr>
            <a:r>
              <a:rPr lang="en-US" sz="1050" dirty="0">
                <a:solidFill>
                  <a:srgbClr val="2B333C"/>
                </a:solidFill>
                <a:latin typeface="Pretendard SemiBold" pitchFamily="34" charset="0"/>
                <a:ea typeface="Pretendard SemiBold" pitchFamily="34" charset="-122"/>
                <a:cs typeface="Pretendard SemiBold" pitchFamily="34" charset="-120"/>
              </a:rPr>
              <a:t>인계 항목 정하기
</a:t>
            </a:r>
            <a:r>
              <a:rPr lang="en-US" sz="900" dirty="0">
                <a:solidFill>
                  <a:srgbClr val="5A6069"/>
                </a:solidFill>
                <a:latin typeface="Pretendard" pitchFamily="34" charset="0"/>
                <a:ea typeface="Pretendard" pitchFamily="34" charset="-122"/>
                <a:cs typeface="Pretendard" pitchFamily="34" charset="-120"/>
              </a:rPr>
              <a:t>역할 선택이 없다. 고쳐도 이미 쓴 인계는 안 바뀐다</a:t>
            </a:r>
            <a:endParaRPr lang="en-US" sz="1050" dirty="0"/>
          </a:p>
        </p:txBody>
      </p:sp>
      <p:sp>
        <p:nvSpPr>
          <p:cNvPr id="46" name="Text 41"/>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인계 항목을 병동 하나로 통일한 건 인터뷰 결과. 받는 사람이 늘 차지라서 역할별로 나눌 이유가 없었다</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17</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04  화면마다 도는 API</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C24A31"/>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나머지 화면 2</a:t>
            </a:r>
            <a:endParaRPr lang="en-US" sz="2500" dirty="0"/>
          </a:p>
        </p:txBody>
      </p:sp>
      <p:pic>
        <p:nvPicPr>
          <p:cNvPr id="36" name="Image 0" descr="/Users/hwangjaewon/skala-workspace/skala-webservice-mini/assets/7_change_history_manager.png"/>
          <p:cNvPicPr>
            <a:picLocks noChangeAspect="1"/>
          </p:cNvPicPr>
          <p:nvPr/>
        </p:nvPicPr>
        <p:blipFill>
          <a:blip r:embed="rId3"/>
          <a:stretch>
            <a:fillRect/>
          </a:stretch>
        </p:blipFill>
        <p:spPr>
          <a:xfrm>
            <a:off x="548640" y="1062562"/>
            <a:ext cx="2535936" cy="2780632"/>
          </a:xfrm>
          <a:prstGeom prst="rect">
            <a:avLst/>
          </a:prstGeom>
        </p:spPr>
      </p:pic>
      <p:sp>
        <p:nvSpPr>
          <p:cNvPr id="37" name="Shape 34"/>
          <p:cNvSpPr/>
          <p:nvPr/>
        </p:nvSpPr>
        <p:spPr>
          <a:xfrm>
            <a:off x="548640" y="1062562"/>
            <a:ext cx="2535936" cy="2780632"/>
          </a:xfrm>
          <a:prstGeom prst="rect">
            <a:avLst/>
          </a:prstGeom>
          <a:ln w="9525">
            <a:solidFill>
              <a:srgbClr val="E4E2DB"/>
            </a:solidFill>
            <a:prstDash val="solid"/>
          </a:ln>
        </p:spPr>
        <p:txBody>
          <a:bodyPr/>
          <a:lstStyle/>
          <a:p>
            <a:endParaRPr/>
          </a:p>
        </p:txBody>
      </p:sp>
      <p:sp>
        <p:nvSpPr>
          <p:cNvPr id="38" name="Text 35"/>
          <p:cNvSpPr txBox="1"/>
          <p:nvPr/>
        </p:nvSpPr>
        <p:spPr>
          <a:xfrm>
            <a:off x="548640" y="3973068"/>
            <a:ext cx="2535936" cy="493776"/>
          </a:xfrm>
          <a:prstGeom prst="rect">
            <a:avLst/>
          </a:prstGeom>
          <a:noFill/>
          <a:ln/>
        </p:spPr>
        <p:txBody>
          <a:bodyPr wrap="square" lIns="0" tIns="0" rIns="0" bIns="0" rtlCol="0" anchor="t"/>
          <a:lstStyle/>
          <a:p>
            <a:pPr marL="0" indent="0" algn="l">
              <a:lnSpc>
                <a:spcPct val="110000"/>
              </a:lnSpc>
              <a:buNone/>
            </a:pPr>
            <a:r>
              <a:rPr lang="en-US" sz="1050" dirty="0">
                <a:solidFill>
                  <a:srgbClr val="2B333C"/>
                </a:solidFill>
                <a:latin typeface="Pretendard SemiBold" pitchFamily="34" charset="0"/>
                <a:ea typeface="Pretendard SemiBold" pitchFamily="34" charset="-122"/>
                <a:cs typeface="Pretendard SemiBold" pitchFamily="34" charset="-120"/>
              </a:rPr>
              <a:t>바뀐 내역
</a:t>
            </a:r>
            <a:r>
              <a:rPr lang="en-US" sz="900" dirty="0">
                <a:solidFill>
                  <a:srgbClr val="5A6069"/>
                </a:solidFill>
                <a:latin typeface="Pretendard" pitchFamily="34" charset="0"/>
                <a:ea typeface="Pretendard" pitchFamily="34" charset="-122"/>
                <a:cs typeface="Pretendard" pitchFamily="34" charset="-120"/>
              </a:rPr>
              <a:t>사유는 한 번만 쓰고 나머지는 서버가 복사한다</a:t>
            </a:r>
            <a:endParaRPr lang="en-US" sz="1050" dirty="0"/>
          </a:p>
        </p:txBody>
      </p:sp>
      <p:pic>
        <p:nvPicPr>
          <p:cNvPr id="39" name="Image 1" descr="/Users/hwangjaewon/skala-workspace/skala-webservice-mini/assets/11_handover_history_nurse.png"/>
          <p:cNvPicPr>
            <a:picLocks noChangeAspect="1"/>
          </p:cNvPicPr>
          <p:nvPr/>
        </p:nvPicPr>
        <p:blipFill>
          <a:blip r:embed="rId4"/>
          <a:stretch>
            <a:fillRect/>
          </a:stretch>
        </p:blipFill>
        <p:spPr>
          <a:xfrm>
            <a:off x="3304032" y="1660398"/>
            <a:ext cx="2535936" cy="1584960"/>
          </a:xfrm>
          <a:prstGeom prst="rect">
            <a:avLst/>
          </a:prstGeom>
        </p:spPr>
      </p:pic>
      <p:sp>
        <p:nvSpPr>
          <p:cNvPr id="40" name="Shape 36"/>
          <p:cNvSpPr/>
          <p:nvPr/>
        </p:nvSpPr>
        <p:spPr>
          <a:xfrm>
            <a:off x="3304032" y="1660398"/>
            <a:ext cx="2535936" cy="1584960"/>
          </a:xfrm>
          <a:prstGeom prst="rect">
            <a:avLst/>
          </a:prstGeom>
          <a:ln w="9525">
            <a:solidFill>
              <a:srgbClr val="E4E2DB"/>
            </a:solidFill>
            <a:prstDash val="solid"/>
          </a:ln>
        </p:spPr>
        <p:txBody>
          <a:bodyPr/>
          <a:lstStyle/>
          <a:p>
            <a:endParaRPr/>
          </a:p>
        </p:txBody>
      </p:sp>
      <p:sp>
        <p:nvSpPr>
          <p:cNvPr id="41" name="Text 37"/>
          <p:cNvSpPr txBox="1"/>
          <p:nvPr/>
        </p:nvSpPr>
        <p:spPr>
          <a:xfrm>
            <a:off x="3304032" y="3973068"/>
            <a:ext cx="2535936" cy="493776"/>
          </a:xfrm>
          <a:prstGeom prst="rect">
            <a:avLst/>
          </a:prstGeom>
          <a:noFill/>
          <a:ln/>
        </p:spPr>
        <p:txBody>
          <a:bodyPr wrap="square" lIns="0" tIns="0" rIns="0" bIns="0" rtlCol="0" anchor="t"/>
          <a:lstStyle/>
          <a:p>
            <a:pPr marL="0" indent="0" algn="l">
              <a:lnSpc>
                <a:spcPct val="110000"/>
              </a:lnSpc>
              <a:buNone/>
            </a:pPr>
            <a:r>
              <a:rPr lang="en-US" sz="1050" dirty="0">
                <a:solidFill>
                  <a:srgbClr val="2B333C"/>
                </a:solidFill>
                <a:latin typeface="Pretendard SemiBold" pitchFamily="34" charset="0"/>
                <a:ea typeface="Pretendard SemiBold" pitchFamily="34" charset="-122"/>
                <a:cs typeface="Pretendard SemiBold" pitchFamily="34" charset="-120"/>
              </a:rPr>
              <a:t>내 인계 이력
</a:t>
            </a:r>
            <a:r>
              <a:rPr lang="en-US" sz="900" dirty="0">
                <a:solidFill>
                  <a:srgbClr val="5A6069"/>
                </a:solidFill>
                <a:latin typeface="Pretendard" pitchFamily="34" charset="0"/>
                <a:ea typeface="Pretendard" pitchFamily="34" charset="-122"/>
                <a:cs typeface="Pretendard" pitchFamily="34" charset="-120"/>
              </a:rPr>
              <a:t>'대체됨'은 읽기 전용, 미확인 수에서 빠진다</a:t>
            </a:r>
            <a:endParaRPr lang="en-US" sz="1050" dirty="0"/>
          </a:p>
        </p:txBody>
      </p:sp>
      <p:pic>
        <p:nvPicPr>
          <p:cNvPr id="42" name="Image 2" descr="/Users/hwangjaewon/skala-workspace/skala-webservice-mini/assets/8_myshift_nurse_states.png"/>
          <p:cNvPicPr>
            <a:picLocks noChangeAspect="1"/>
          </p:cNvPicPr>
          <p:nvPr/>
        </p:nvPicPr>
        <p:blipFill>
          <a:blip r:embed="rId5"/>
          <a:stretch>
            <a:fillRect/>
          </a:stretch>
        </p:blipFill>
        <p:spPr>
          <a:xfrm>
            <a:off x="6059424" y="1572864"/>
            <a:ext cx="2535936" cy="1760029"/>
          </a:xfrm>
          <a:prstGeom prst="rect">
            <a:avLst/>
          </a:prstGeom>
        </p:spPr>
      </p:pic>
      <p:sp>
        <p:nvSpPr>
          <p:cNvPr id="43" name="Shape 38"/>
          <p:cNvSpPr/>
          <p:nvPr/>
        </p:nvSpPr>
        <p:spPr>
          <a:xfrm>
            <a:off x="6059424" y="1572864"/>
            <a:ext cx="2535936" cy="1760029"/>
          </a:xfrm>
          <a:prstGeom prst="rect">
            <a:avLst/>
          </a:prstGeom>
          <a:ln w="9525">
            <a:solidFill>
              <a:srgbClr val="E4E2DB"/>
            </a:solidFill>
            <a:prstDash val="solid"/>
          </a:ln>
        </p:spPr>
        <p:txBody>
          <a:bodyPr/>
          <a:lstStyle/>
          <a:p>
            <a:endParaRPr/>
          </a:p>
        </p:txBody>
      </p:sp>
      <p:sp>
        <p:nvSpPr>
          <p:cNvPr id="44" name="Text 39"/>
          <p:cNvSpPr txBox="1"/>
          <p:nvPr/>
        </p:nvSpPr>
        <p:spPr>
          <a:xfrm>
            <a:off x="6059424" y="3973068"/>
            <a:ext cx="2535936" cy="493776"/>
          </a:xfrm>
          <a:prstGeom prst="rect">
            <a:avLst/>
          </a:prstGeom>
          <a:noFill/>
          <a:ln/>
        </p:spPr>
        <p:txBody>
          <a:bodyPr wrap="square" lIns="0" tIns="0" rIns="0" bIns="0" rtlCol="0" anchor="t"/>
          <a:lstStyle/>
          <a:p>
            <a:pPr marL="0" indent="0" algn="l">
              <a:lnSpc>
                <a:spcPct val="110000"/>
              </a:lnSpc>
              <a:buNone/>
            </a:pPr>
            <a:r>
              <a:rPr lang="en-US" sz="1050" dirty="0">
                <a:solidFill>
                  <a:srgbClr val="2B333C"/>
                </a:solidFill>
                <a:latin typeface="Pretendard SemiBold" pitchFamily="34" charset="0"/>
                <a:ea typeface="Pretendard SemiBold" pitchFamily="34" charset="-122"/>
                <a:cs typeface="Pretendard SemiBold" pitchFamily="34" charset="-120"/>
              </a:rPr>
              <a:t>비어 있을 때
</a:t>
            </a:r>
            <a:r>
              <a:rPr lang="en-US" sz="900" dirty="0">
                <a:solidFill>
                  <a:srgbClr val="5A6069"/>
                </a:solidFill>
                <a:latin typeface="Pretendard" pitchFamily="34" charset="0"/>
                <a:ea typeface="Pretendard" pitchFamily="34" charset="-122"/>
                <a:cs typeface="Pretendard" pitchFamily="34" charset="-120"/>
              </a:rPr>
              <a:t>빈 화면 대신 다음에 할 일을 적는다</a:t>
            </a:r>
            <a:endParaRPr lang="en-US" sz="1050" dirty="0"/>
          </a:p>
        </p:txBody>
      </p:sp>
      <p:sp>
        <p:nvSpPr>
          <p:cNvPr id="46" name="Text 41"/>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빈 화면을 설계했다는 것 자체가 권한을 세 갈래로 나눈 이유다. 인계 담당이 없어도 근무는 보여야 한다</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18</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05  데이터를 나눈 방법</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C24A31"/>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핵심 데이터</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인계 한 건이 만들어져 확인되기까지 거치는 표</a:t>
            </a:r>
            <a:endParaRPr lang="en-US" sz="1200" dirty="0"/>
          </a:p>
        </p:txBody>
      </p:sp>
      <p:pic>
        <p:nvPicPr>
          <p:cNvPr id="37" name="Image 0" descr="/Users/hwangjaewon/skala-workspace/skala-webservice-mini/assets/erd_core.png"/>
          <p:cNvPicPr>
            <a:picLocks noChangeAspect="1"/>
          </p:cNvPicPr>
          <p:nvPr/>
        </p:nvPicPr>
        <p:blipFill>
          <a:blip r:embed="rId3"/>
          <a:stretch>
            <a:fillRect/>
          </a:stretch>
        </p:blipFill>
        <p:spPr>
          <a:xfrm>
            <a:off x="548640" y="1080809"/>
            <a:ext cx="2789190" cy="3534156"/>
          </a:xfrm>
          <a:prstGeom prst="rect">
            <a:avLst/>
          </a:prstGeom>
        </p:spPr>
      </p:pic>
      <p:sp>
        <p:nvSpPr>
          <p:cNvPr id="38" name="Text 35"/>
          <p:cNvSpPr txBox="1"/>
          <p:nvPr/>
        </p:nvSpPr>
        <p:spPr>
          <a:xfrm>
            <a:off x="3630438" y="1188720"/>
            <a:ext cx="4964922" cy="810387"/>
          </a:xfrm>
          <a:prstGeom prst="rect">
            <a:avLst/>
          </a:prstGeom>
          <a:noFill/>
          <a:ln/>
        </p:spPr>
        <p:txBody>
          <a:bodyPr wrap="square" lIns="0" tIns="0" rIns="0" bIns="0" rtlCol="0" anchor="ctr"/>
          <a:lstStyle/>
          <a:p>
            <a:pPr marL="0" indent="0">
              <a:lnSpc>
                <a:spcPct val="112000"/>
              </a:lnSpc>
              <a:buNone/>
            </a:pPr>
            <a:r>
              <a:rPr lang="en-US" sz="1150" dirty="0">
                <a:solidFill>
                  <a:srgbClr val="2B333C"/>
                </a:solidFill>
                <a:latin typeface="Pretendard SemiBold" pitchFamily="34" charset="0"/>
                <a:ea typeface="Pretendard SemiBold" pitchFamily="34" charset="-122"/>
                <a:cs typeface="Pretendard SemiBold" pitchFamily="34" charset="-120"/>
              </a:rPr>
              <a:t>근무, 담당, 인계
</a:t>
            </a:r>
            <a:r>
              <a:rPr lang="en-US" sz="950" dirty="0">
                <a:solidFill>
                  <a:srgbClr val="5A6069"/>
                </a:solidFill>
                <a:latin typeface="Pretendard" pitchFamily="34" charset="0"/>
                <a:ea typeface="Pretendard" pitchFamily="34" charset="-122"/>
                <a:cs typeface="Pretendard" pitchFamily="34" charset="-120"/>
              </a:rPr>
              <a:t>"그 근무에서 이 환자의 인계를 맡는다"를 한 줄로. 사람이 아니라 근무에 붙는다</a:t>
            </a:r>
            <a:endParaRPr lang="en-US" sz="1150" dirty="0"/>
          </a:p>
        </p:txBody>
      </p:sp>
      <p:sp>
        <p:nvSpPr>
          <p:cNvPr id="40" name="Text 37"/>
          <p:cNvSpPr txBox="1"/>
          <p:nvPr/>
        </p:nvSpPr>
        <p:spPr>
          <a:xfrm>
            <a:off x="3630438" y="2072259"/>
            <a:ext cx="4964922" cy="810387"/>
          </a:xfrm>
          <a:prstGeom prst="rect">
            <a:avLst/>
          </a:prstGeom>
          <a:noFill/>
          <a:ln/>
        </p:spPr>
        <p:txBody>
          <a:bodyPr wrap="square" lIns="0" tIns="0" rIns="0" bIns="0" rtlCol="0" anchor="ctr"/>
          <a:lstStyle/>
          <a:p>
            <a:pPr marL="0" indent="0">
              <a:lnSpc>
                <a:spcPct val="112000"/>
              </a:lnSpc>
              <a:buNone/>
            </a:pPr>
            <a:r>
              <a:rPr lang="en-US" sz="1150" dirty="0">
                <a:solidFill>
                  <a:srgbClr val="2B333C"/>
                </a:solidFill>
                <a:latin typeface="Pretendard SemiBold" pitchFamily="34" charset="0"/>
                <a:ea typeface="Pretendard SemiBold" pitchFamily="34" charset="-122"/>
                <a:cs typeface="Pretendard SemiBold" pitchFamily="34" charset="-120"/>
              </a:rPr>
              <a:t>받았다는 기록을 따로
</a:t>
            </a:r>
            <a:r>
              <a:rPr lang="en-US" sz="950" dirty="0">
                <a:solidFill>
                  <a:srgbClr val="5A6069"/>
                </a:solidFill>
                <a:latin typeface="Pretendard" pitchFamily="34" charset="0"/>
                <a:ea typeface="Pretendard" pitchFamily="34" charset="-122"/>
                <a:cs typeface="Pretendard" pitchFamily="34" charset="-120"/>
              </a:rPr>
              <a:t>열어본 시각, 자기 말로 쓴 요약, 확인한 시각. 이 셋이 첫 번째 불편의 답</a:t>
            </a:r>
            <a:endParaRPr lang="en-US" sz="1150" dirty="0"/>
          </a:p>
        </p:txBody>
      </p:sp>
      <p:sp>
        <p:nvSpPr>
          <p:cNvPr id="42" name="Text 39"/>
          <p:cNvSpPr txBox="1"/>
          <p:nvPr/>
        </p:nvSpPr>
        <p:spPr>
          <a:xfrm>
            <a:off x="3630438" y="2955798"/>
            <a:ext cx="4964922" cy="810387"/>
          </a:xfrm>
          <a:prstGeom prst="rect">
            <a:avLst/>
          </a:prstGeom>
          <a:noFill/>
          <a:ln/>
        </p:spPr>
        <p:txBody>
          <a:bodyPr wrap="square" lIns="0" tIns="0" rIns="0" bIns="0" rtlCol="0" anchor="ctr"/>
          <a:lstStyle/>
          <a:p>
            <a:pPr marL="0" indent="0">
              <a:lnSpc>
                <a:spcPct val="112000"/>
              </a:lnSpc>
              <a:buNone/>
            </a:pPr>
            <a:r>
              <a:rPr lang="en-US" sz="1150" dirty="0">
                <a:solidFill>
                  <a:srgbClr val="2B333C"/>
                </a:solidFill>
                <a:latin typeface="Pretendard SemiBold" pitchFamily="34" charset="0"/>
                <a:ea typeface="Pretendard SemiBold" pitchFamily="34" charset="-122"/>
                <a:cs typeface="Pretendard SemiBold" pitchFamily="34" charset="-120"/>
              </a:rPr>
              <a:t>항목은 복사본
</a:t>
            </a:r>
            <a:r>
              <a:rPr lang="en-US" sz="950" dirty="0">
                <a:solidFill>
                  <a:srgbClr val="5A6069"/>
                </a:solidFill>
                <a:latin typeface="Pretendard" pitchFamily="34" charset="0"/>
                <a:ea typeface="Pretendard" pitchFamily="34" charset="-122"/>
                <a:cs typeface="Pretendard" pitchFamily="34" charset="-120"/>
              </a:rPr>
              <a:t>병동 양식을 고쳐도 이미 쓴 인계는 그대로. 지난 기록이 나중에 바뀌면 안 된다</a:t>
            </a:r>
            <a:endParaRPr lang="en-US" sz="1150" dirty="0"/>
          </a:p>
        </p:txBody>
      </p:sp>
      <p:sp>
        <p:nvSpPr>
          <p:cNvPr id="44" name="Text 41"/>
          <p:cNvSpPr txBox="1"/>
          <p:nvPr/>
        </p:nvSpPr>
        <p:spPr>
          <a:xfrm>
            <a:off x="3630438" y="3839337"/>
            <a:ext cx="4964922" cy="810387"/>
          </a:xfrm>
          <a:prstGeom prst="rect">
            <a:avLst/>
          </a:prstGeom>
          <a:noFill/>
          <a:ln/>
        </p:spPr>
        <p:txBody>
          <a:bodyPr wrap="square" lIns="0" tIns="0" rIns="0" bIns="0" rtlCol="0" anchor="ctr"/>
          <a:lstStyle/>
          <a:p>
            <a:pPr marL="0" indent="0">
              <a:lnSpc>
                <a:spcPct val="112000"/>
              </a:lnSpc>
              <a:buNone/>
            </a:pPr>
            <a:r>
              <a:rPr lang="en-US" sz="1150" dirty="0">
                <a:solidFill>
                  <a:srgbClr val="2B333C"/>
                </a:solidFill>
                <a:latin typeface="Pretendard SemiBold" pitchFamily="34" charset="0"/>
                <a:ea typeface="Pretendard SemiBold" pitchFamily="34" charset="-122"/>
                <a:cs typeface="Pretendard SemiBold" pitchFamily="34" charset="-120"/>
              </a:rPr>
              <a:t>지우지 않는다
</a:t>
            </a:r>
            <a:r>
              <a:rPr lang="en-US" sz="950" dirty="0">
                <a:solidFill>
                  <a:srgbClr val="5A6069"/>
                </a:solidFill>
                <a:latin typeface="Pretendard" pitchFamily="34" charset="0"/>
                <a:ea typeface="Pretendard" pitchFamily="34" charset="-122"/>
                <a:cs typeface="Pretendard" pitchFamily="34" charset="-120"/>
              </a:rPr>
              <a:t>담당이 바뀌면 옛 줄을 '이관됨'으로 남기고 새 줄을 만든다. 누가 언제 맡았는지가 기록</a:t>
            </a:r>
            <a:endParaRPr lang="en-US" sz="1150" dirty="0"/>
          </a:p>
        </p:txBody>
      </p:sp>
      <p:sp>
        <p:nvSpPr>
          <p:cNvPr id="46" name="Text 43"/>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PK·FK 와 관계(1:N, 1:1)는 그림에, 속성 타입·unique·not null 같은 제약조건은 DBML 에. 수신 기록은 인계당 1건(unique)</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19</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05  데이터를 나눈 방법</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C24A31"/>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전체 12개</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자세히 읽는 그림이 아니라 얼마나 나뉘어 있는지 보는 지도</a:t>
            </a:r>
            <a:endParaRPr lang="en-US" sz="1200" dirty="0"/>
          </a:p>
        </p:txBody>
      </p:sp>
      <p:pic>
        <p:nvPicPr>
          <p:cNvPr id="37" name="Image 0" descr="/Users/hwangjaewon/skala-workspace/skala-webservice-mini/assets/erd_full.png"/>
          <p:cNvPicPr>
            <a:picLocks noChangeAspect="1"/>
          </p:cNvPicPr>
          <p:nvPr/>
        </p:nvPicPr>
        <p:blipFill>
          <a:blip r:embed="rId3"/>
          <a:stretch>
            <a:fillRect/>
          </a:stretch>
        </p:blipFill>
        <p:spPr>
          <a:xfrm>
            <a:off x="548640" y="1894277"/>
            <a:ext cx="8046720" cy="1830433"/>
          </a:xfrm>
          <a:prstGeom prst="rect">
            <a:avLst/>
          </a:prstGeom>
        </p:spPr>
      </p:pic>
      <p:sp>
        <p:nvSpPr>
          <p:cNvPr id="39" name="Text 36"/>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12 테이블, 7 Enum, 외래키 23. 여러 대 여러로 얽히는 관계는 '인계 담당' 하나로 풀었다</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20</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06  API 24개와 막는 규칙</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C24A31"/>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API 명세</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24개 전부. 주소 21개, 명세 오류 0</a:t>
            </a:r>
            <a:endParaRPr lang="en-US" sz="1200" dirty="0"/>
          </a:p>
        </p:txBody>
      </p:sp>
      <p:pic>
        <p:nvPicPr>
          <p:cNvPr id="37" name="Image 0" descr="/Users/hwangjaewon/skala-workspace/skala-webservice-mini/assets/swagger_full.png"/>
          <p:cNvPicPr>
            <a:picLocks noChangeAspect="1"/>
          </p:cNvPicPr>
          <p:nvPr/>
        </p:nvPicPr>
        <p:blipFill>
          <a:blip r:embed="rId3"/>
          <a:stretch>
            <a:fillRect/>
          </a:stretch>
        </p:blipFill>
        <p:spPr>
          <a:xfrm>
            <a:off x="1875295" y="1152144"/>
            <a:ext cx="5393410" cy="3314700"/>
          </a:xfrm>
          <a:prstGeom prst="rect">
            <a:avLst/>
          </a:prstGeom>
        </p:spPr>
      </p:pic>
      <p:sp>
        <p:nvSpPr>
          <p:cNvPr id="39" name="Text 36"/>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공통 응답 봉투·오류 형식·스키마 24개를 components 에 두고 $ref 로 164회 재사용했다. 로그인·인증은 병원 시스템 몫이라 명세에 없다</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21</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06  API 24개와 막는 규칙</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C24A31"/>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API 24개</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화면에서 보이던 주소가 그대로 명세의 주소</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170432"/>
          <a:ext cx="3913632" cy="2827020"/>
        </p:xfrm>
        <a:graphic>
          <a:graphicData uri="http://schemas.openxmlformats.org/drawingml/2006/table">
            <a:tbl>
              <a:tblPr/>
              <a:tblGrid>
                <a:gridCol w="384048">
                  <a:extLst>
                    <a:ext uri="{9D8B030D-6E8A-4147-A177-3AD203B41FA5}">
                      <a16:colId xmlns:a16="http://schemas.microsoft.com/office/drawing/2014/main" val="20000"/>
                    </a:ext>
                  </a:extLst>
                </a:gridCol>
                <a:gridCol w="2478024">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tblGrid>
              <a:tr h="0">
                <a:tc>
                  <a:txBody>
                    <a:bodyPr/>
                    <a:lstStyle/>
                    <a:p>
                      <a:pPr marL="0" indent="0">
                        <a:buNone/>
                      </a:pPr>
                      <a:r>
                        <a:rPr lang="en-US" sz="850" dirty="0">
                          <a:solidFill>
                            <a:srgbClr val="2B333C"/>
                          </a:solidFill>
                          <a:latin typeface="Pretendard Medium" pitchFamily="34" charset="0"/>
                          <a:ea typeface="Pretendard Medium" pitchFamily="34" charset="-122"/>
                          <a:cs typeface="Pretendard Medium" pitchFamily="34" charset="-120"/>
                        </a:rPr>
                        <a:t>화면</a:t>
                      </a:r>
                      <a:endParaRPr lang="en-US" sz="85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buNone/>
                      </a:pPr>
                      <a:r>
                        <a:rPr lang="en-US" sz="850" dirty="0">
                          <a:solidFill>
                            <a:srgbClr val="2B333C"/>
                          </a:solidFill>
                          <a:latin typeface="Pretendard Medium" pitchFamily="34" charset="0"/>
                          <a:ea typeface="Pretendard Medium" pitchFamily="34" charset="-122"/>
                          <a:cs typeface="Pretendard Medium" pitchFamily="34" charset="-120"/>
                        </a:rPr>
                        <a:t>메서드와 주소</a:t>
                      </a:r>
                      <a:endParaRPr lang="en-US" sz="85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buNone/>
                      </a:pPr>
                      <a:r>
                        <a:rPr lang="en-US" sz="850" dirty="0">
                          <a:solidFill>
                            <a:srgbClr val="2B333C"/>
                          </a:solidFill>
                          <a:latin typeface="Pretendard Medium" pitchFamily="34" charset="0"/>
                          <a:ea typeface="Pretendard Medium" pitchFamily="34" charset="-122"/>
                          <a:cs typeface="Pretendard Medium" pitchFamily="34" charset="-120"/>
                        </a:rPr>
                        <a:t>무엇을</a:t>
                      </a:r>
                      <a:endParaRPr lang="en-US" sz="85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3</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GET  /wards/{id}/shift-assignments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근무 목록</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3</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POST /wards/{id}/shift-assignments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근무 등록</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4</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GET  /wards/{id}/assignment-board</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배정 보드</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4</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PATCH /shift-assignments/{id}</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역할 지정</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4</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POST /…/handover-assignments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인계 담당 지정</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5</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GET  /wards/{id}/handover-template-items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항목 조회</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5</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PUT  /wards/{id}/handover-template-items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항목 교체</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7"/>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6</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GET  /…/reassignment-context</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재배정 진입</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8"/>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6</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POST /…/absence</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결원 등록</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9"/>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6</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POST /…/substitute</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대체자 배정</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10"/>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6</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POST /…/handover-transfer</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인계 담당 이관</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11"/>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6</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POST /…/coverage-confirmation</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대체 완료 확인</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12"/>
                  </a:ext>
                </a:extLst>
              </a:tr>
            </a:tbl>
          </a:graphicData>
        </a:graphic>
      </p:graphicFrame>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4681728" y="1170432"/>
          <a:ext cx="3913632" cy="2583180"/>
        </p:xfrm>
        <a:graphic>
          <a:graphicData uri="http://schemas.openxmlformats.org/drawingml/2006/table">
            <a:tbl>
              <a:tblPr/>
              <a:tblGrid>
                <a:gridCol w="384048">
                  <a:extLst>
                    <a:ext uri="{9D8B030D-6E8A-4147-A177-3AD203B41FA5}">
                      <a16:colId xmlns:a16="http://schemas.microsoft.com/office/drawing/2014/main" val="20000"/>
                    </a:ext>
                  </a:extLst>
                </a:gridCol>
                <a:gridCol w="2478024">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tblGrid>
              <a:tr h="0">
                <a:tc>
                  <a:txBody>
                    <a:bodyPr/>
                    <a:lstStyle/>
                    <a:p>
                      <a:pPr marL="0" indent="0">
                        <a:buNone/>
                      </a:pPr>
                      <a:r>
                        <a:rPr lang="en-US" sz="850" dirty="0">
                          <a:solidFill>
                            <a:srgbClr val="2B333C"/>
                          </a:solidFill>
                          <a:latin typeface="Pretendard Medium" pitchFamily="34" charset="0"/>
                          <a:ea typeface="Pretendard Medium" pitchFamily="34" charset="-122"/>
                          <a:cs typeface="Pretendard Medium" pitchFamily="34" charset="-120"/>
                        </a:rPr>
                        <a:t>화면</a:t>
                      </a:r>
                      <a:endParaRPr lang="en-US" sz="85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buNone/>
                      </a:pPr>
                      <a:r>
                        <a:rPr lang="en-US" sz="850" dirty="0">
                          <a:solidFill>
                            <a:srgbClr val="2B333C"/>
                          </a:solidFill>
                          <a:latin typeface="Pretendard Medium" pitchFamily="34" charset="0"/>
                          <a:ea typeface="Pretendard Medium" pitchFamily="34" charset="-122"/>
                          <a:cs typeface="Pretendard Medium" pitchFamily="34" charset="-120"/>
                        </a:rPr>
                        <a:t>메서드와 주소</a:t>
                      </a:r>
                      <a:endParaRPr lang="en-US" sz="85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buNone/>
                      </a:pPr>
                      <a:r>
                        <a:rPr lang="en-US" sz="850" dirty="0">
                          <a:solidFill>
                            <a:srgbClr val="2B333C"/>
                          </a:solidFill>
                          <a:latin typeface="Pretendard Medium" pitchFamily="34" charset="0"/>
                          <a:ea typeface="Pretendard Medium" pitchFamily="34" charset="-122"/>
                          <a:cs typeface="Pretendard Medium" pitchFamily="34" charset="-120"/>
                        </a:rPr>
                        <a:t>무엇을</a:t>
                      </a:r>
                      <a:endParaRPr lang="en-US" sz="85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7</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GET  /wards/{id}/reassignment-logs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바뀐 내역</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8</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GET  /me/shifts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내 근무, 우리 팀 환자</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11</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GET  /me/handovers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내 인계 이력</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9</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POST /handovers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인계 작성 시작</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9·10</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GET  /handovers/{id}</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인계 상세</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9</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PATCH /handovers/{id}/items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임시저장</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9</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POST /handovers/{id}/send</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인계 넘기기</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7"/>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10</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POST /handovers/{id}/receipt</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열람 기록</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8"/>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10</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PATCH /handovers/{id}/receipt</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요약 저장</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9"/>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10</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POST /…/receipt/confirmation</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확인 처리</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10"/>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2</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GET  /wards/{id}/handovers</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미확인 목록</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11"/>
                  </a:ext>
                </a:extLst>
              </a:tr>
              <a:tr h="0">
                <a:tc>
                  <a:txBody>
                    <a:bodyPr/>
                    <a:lstStyle/>
                    <a:p>
                      <a:pPr marL="0" indent="0" algn="ctr">
                        <a:buNone/>
                      </a:pPr>
                      <a:r>
                        <a:rPr lang="en-US" sz="800" dirty="0">
                          <a:solidFill>
                            <a:srgbClr val="8C9199"/>
                          </a:solidFill>
                          <a:latin typeface="Pretendard Medium" pitchFamily="34" charset="0"/>
                          <a:ea typeface="Pretendard Medium" pitchFamily="34" charset="-122"/>
                          <a:cs typeface="Pretendard Medium" pitchFamily="34" charset="-120"/>
                        </a:rPr>
                        <a:t>2</a:t>
                      </a:r>
                      <a:endParaRPr lang="en-US" sz="800" dirty="0">
                        <a:latin typeface="Pretendard Medium" charset="0"/>
                        <a:ea typeface="Pretendard Medium" charset="0"/>
                        <a:cs typeface="Pretendard Medium"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2B333C"/>
                          </a:solidFill>
                          <a:latin typeface="Menlo" pitchFamily="34" charset="0"/>
                          <a:ea typeface="Menlo" pitchFamily="34" charset="-122"/>
                          <a:cs typeface="Menlo" pitchFamily="34" charset="-120"/>
                        </a:rPr>
                        <a:t>GET  /wards/{id}/dashboard</a:t>
                      </a:r>
                      <a:endParaRPr lang="en-US" sz="800" dirty="0">
                        <a:latin typeface="Menlo" charset="0"/>
                        <a:ea typeface="Menlo" charset="0"/>
                        <a:cs typeface="Menlo"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800" dirty="0">
                          <a:solidFill>
                            <a:srgbClr val="5A6069"/>
                          </a:solidFill>
                          <a:latin typeface="Pretendard" pitchFamily="34" charset="0"/>
                          <a:ea typeface="Pretendard" pitchFamily="34" charset="-122"/>
                          <a:cs typeface="Pretendard" pitchFamily="34" charset="-120"/>
                        </a:rPr>
                        <a:t>대시보드 집계</a:t>
                      </a:r>
                      <a:endParaRPr lang="en-US" sz="800" dirty="0">
                        <a:latin typeface="Pretendard" charset="0"/>
                        <a:ea typeface="Pretendard" charset="0"/>
                        <a:cs typeface="Pretendard" charset="0"/>
                      </a:endParaRPr>
                    </a:p>
                  </a:txBody>
                  <a:tcPr marL="50800" marR="50800" marT="38100" marB="381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12"/>
                  </a:ext>
                </a:extLst>
              </a:tr>
            </a:tbl>
          </a:graphicData>
        </a:graphic>
      </p:graphicFrame>
      <p:sp>
        <p:nvSpPr>
          <p:cNvPr id="40" name="Text 36"/>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화면 11개의 동작 25가지를 먼저 세고, 겹치는 것(역할 지정은 배정 화면과 재배정 화면이 같이 쓴다)을 빼서 24개</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22</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06  API 24개와 막는 규칙</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C24A31"/>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일부러 요청에서 안 받는 값</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Path·Query·Body 중, 화면이 정하게 두면 깨지는 것들</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170432"/>
          <a:ext cx="5029200" cy="2679192"/>
        </p:xfrm>
        <a:graphic>
          <a:graphicData uri="http://schemas.openxmlformats.org/drawingml/2006/table">
            <a:tbl>
              <a:tblPr/>
              <a:tblGrid>
                <a:gridCol w="1371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47472">
                <a:tc>
                  <a:txBody>
                    <a:bodyPr/>
                    <a:lstStyle/>
                    <a:p>
                      <a:pPr marL="0" indent="0">
                        <a:buNone/>
                      </a:pPr>
                      <a:r>
                        <a:rPr lang="en-US" sz="950" dirty="0">
                          <a:solidFill>
                            <a:srgbClr val="2B333C"/>
                          </a:solidFill>
                          <a:latin typeface="Pretendard Medium" pitchFamily="34" charset="0"/>
                          <a:ea typeface="Pretendard Medium" pitchFamily="34" charset="-122"/>
                          <a:cs typeface="Pretendard Medium" pitchFamily="34" charset="-120"/>
                        </a:rPr>
                        <a:t>값</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buNone/>
                      </a:pPr>
                      <a:r>
                        <a:rPr lang="en-US" sz="950" dirty="0">
                          <a:solidFill>
                            <a:srgbClr val="2B333C"/>
                          </a:solidFill>
                          <a:latin typeface="Pretendard Medium" pitchFamily="34" charset="0"/>
                          <a:ea typeface="Pretendard Medium" pitchFamily="34" charset="-122"/>
                          <a:cs typeface="Pretendard Medium" pitchFamily="34" charset="-120"/>
                        </a:rPr>
                        <a:t>왜 서버가 정하나</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extLst>
                  <a:ext uri="{0D108BD9-81ED-4DB2-BD59-A6C34878D82A}">
                    <a16:rowId xmlns:a16="http://schemas.microsoft.com/office/drawing/2014/main" val="10000"/>
                  </a:ext>
                </a:extLst>
              </a:tr>
              <a:tr h="777240">
                <a:tc>
                  <a:txBody>
                    <a:bodyPr/>
                    <a:lstStyle/>
                    <a:p>
                      <a:pPr marL="0" indent="0">
                        <a:buNone/>
                      </a:pPr>
                      <a:r>
                        <a:rPr lang="en-US" sz="1050" dirty="0">
                          <a:solidFill>
                            <a:srgbClr val="2B333C"/>
                          </a:solidFill>
                          <a:latin typeface="Pretendard SemiBold" pitchFamily="34" charset="0"/>
                          <a:ea typeface="Pretendard SemiBold" pitchFamily="34" charset="-122"/>
                          <a:cs typeface="Pretendard SemiBold" pitchFamily="34" charset="-120"/>
                        </a:rPr>
                        <a:t>인계를 받을 사람</a:t>
                      </a:r>
                      <a:endParaRPr lang="en-US" sz="105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1050" dirty="0">
                          <a:solidFill>
                            <a:srgbClr val="5A6069"/>
                          </a:solidFill>
                          <a:latin typeface="Pretendard" pitchFamily="34" charset="0"/>
                          <a:ea typeface="Pretendard" pitchFamily="34" charset="-122"/>
                          <a:cs typeface="Pretendard" pitchFamily="34" charset="-120"/>
                        </a:rPr>
                        <a:t>화면이 정하게 두면 아무 근무로나 인계를 보낼 수 있다</a:t>
                      </a:r>
                      <a:endParaRPr lang="en-US" sz="1050" dirty="0">
                        <a:latin typeface="Pretendard" charset="0"/>
                        <a:ea typeface="Pretendard" charset="0"/>
                        <a:cs typeface="Pretendard" charset="0"/>
                      </a:endParaRPr>
                    </a:p>
                    <a:p>
                      <a:pPr marL="0" indent="0">
                        <a:buNone/>
                      </a:pPr>
                      <a:r>
                        <a:rPr lang="en-US" sz="1050" dirty="0">
                          <a:solidFill>
                            <a:srgbClr val="5A6069"/>
                          </a:solidFill>
                          <a:latin typeface="Pretendard" pitchFamily="34" charset="0"/>
                          <a:ea typeface="Pretendard" pitchFamily="34" charset="-122"/>
                          <a:cs typeface="Pretendard" pitchFamily="34" charset="-120"/>
                        </a:rPr>
                        <a:t>같은 환자의 다음 근무 담당을 서버가 고른다. 없으면 막는다(422)</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050" dirty="0">
                          <a:solidFill>
                            <a:srgbClr val="2B333C"/>
                          </a:solidFill>
                          <a:latin typeface="Pretendard SemiBold" pitchFamily="34" charset="0"/>
                          <a:ea typeface="Pretendard SemiBold" pitchFamily="34" charset="-122"/>
                          <a:cs typeface="Pretendard SemiBold" pitchFamily="34" charset="-120"/>
                        </a:rPr>
                        <a:t>결원 사유</a:t>
                      </a:r>
                      <a:endParaRPr lang="en-US" sz="105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1050" dirty="0">
                          <a:solidFill>
                            <a:srgbClr val="5A6069"/>
                          </a:solidFill>
                          <a:latin typeface="Pretendard" pitchFamily="34" charset="0"/>
                          <a:ea typeface="Pretendard" pitchFamily="34" charset="-122"/>
                          <a:cs typeface="Pretendard" pitchFamily="34" charset="-120"/>
                        </a:rPr>
                        <a:t>사람이 쓰는 자리는 결원 등록 하나뿐. 나머지 기록은 복사</a:t>
                      </a:r>
                      <a:endParaRPr lang="en-US" sz="1050" dirty="0">
                        <a:latin typeface="Pretendard" charset="0"/>
                        <a:ea typeface="Pretendard" charset="0"/>
                        <a:cs typeface="Pretendard" charset="0"/>
                      </a:endParaRPr>
                    </a:p>
                    <a:p>
                      <a:pPr marL="0" indent="0">
                        <a:buNone/>
                      </a:pPr>
                      <a:r>
                        <a:rPr lang="en-US" sz="1050" dirty="0">
                          <a:solidFill>
                            <a:srgbClr val="5A6069"/>
                          </a:solidFill>
                          <a:latin typeface="Pretendard" pitchFamily="34" charset="0"/>
                          <a:ea typeface="Pretendard" pitchFamily="34" charset="-122"/>
                          <a:cs typeface="Pretendard" pitchFamily="34" charset="-120"/>
                        </a:rPr>
                        <a:t>사유가 서로 달라지면 한 사건의 이력을 이어서 읽을 수 없다</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050" dirty="0">
                          <a:solidFill>
                            <a:srgbClr val="2B333C"/>
                          </a:solidFill>
                          <a:latin typeface="Pretendard SemiBold" pitchFamily="34" charset="0"/>
                          <a:ea typeface="Pretendard SemiBold" pitchFamily="34" charset="-122"/>
                          <a:cs typeface="Pretendard SemiBold" pitchFamily="34" charset="-120"/>
                        </a:rPr>
                        <a:t>화면 버튼 판정</a:t>
                      </a:r>
                      <a:endParaRPr lang="en-US" sz="105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buNone/>
                      </a:pPr>
                      <a:r>
                        <a:rPr lang="en-US" sz="1050" dirty="0">
                          <a:solidFill>
                            <a:srgbClr val="5A6069"/>
                          </a:solidFill>
                          <a:latin typeface="Pretendard" pitchFamily="34" charset="0"/>
                          <a:ea typeface="Pretendard" pitchFamily="34" charset="-122"/>
                          <a:cs typeface="Pretendard" pitchFamily="34" charset="-120"/>
                        </a:rPr>
                        <a:t>쓰기, 확인, 읽기 중 무엇을 보여줄지를 서버가 정해서 내려준다</a:t>
                      </a:r>
                      <a:endParaRPr lang="en-US" sz="1050" dirty="0">
                        <a:latin typeface="Pretendard" charset="0"/>
                        <a:ea typeface="Pretendard" charset="0"/>
                        <a:cs typeface="Pretendard" charset="0"/>
                      </a:endParaRPr>
                    </a:p>
                    <a:p>
                      <a:pPr marL="0" indent="0">
                        <a:buNone/>
                      </a:pPr>
                      <a:r>
                        <a:rPr lang="en-US" sz="1050" dirty="0">
                          <a:solidFill>
                            <a:srgbClr val="5A6069"/>
                          </a:solidFill>
                          <a:latin typeface="Pretendard" pitchFamily="34" charset="0"/>
                          <a:ea typeface="Pretendard" pitchFamily="34" charset="-122"/>
                          <a:cs typeface="Pretendard" pitchFamily="34" charset="-120"/>
                        </a:rPr>
                        <a:t>화면마다 따로 판단하면 규칙이 흩어진다</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pic>
        <p:nvPicPr>
          <p:cNvPr id="38" name="Image 0" descr="/Users/hwangjaewon/skala-workspace/skala-webservice-mini/assets/swagger_handover.png"/>
          <p:cNvPicPr>
            <a:picLocks noChangeAspect="1"/>
          </p:cNvPicPr>
          <p:nvPr/>
        </p:nvPicPr>
        <p:blipFill>
          <a:blip r:embed="rId3"/>
          <a:stretch>
            <a:fillRect/>
          </a:stretch>
        </p:blipFill>
        <p:spPr>
          <a:xfrm>
            <a:off x="5852160" y="1170432"/>
            <a:ext cx="2743200" cy="2651760"/>
          </a:xfrm>
          <a:prstGeom prst="rect">
            <a:avLst/>
          </a:prstGeom>
        </p:spPr>
      </p:pic>
      <p:sp>
        <p:nvSpPr>
          <p:cNvPr id="39" name="Shape 35"/>
          <p:cNvSpPr/>
          <p:nvPr/>
        </p:nvSpPr>
        <p:spPr>
          <a:xfrm>
            <a:off x="5852160" y="1170432"/>
            <a:ext cx="2743200" cy="2651760"/>
          </a:xfrm>
          <a:prstGeom prst="rect">
            <a:avLst/>
          </a:prstGeom>
          <a:ln w="9525">
            <a:solidFill>
              <a:srgbClr val="E4E2DB"/>
            </a:solidFill>
            <a:prstDash val="solid"/>
          </a:ln>
        </p:spPr>
        <p:txBody>
          <a:bodyPr/>
          <a:lstStyle/>
          <a:p>
            <a:endParaRPr/>
          </a:p>
        </p:txBody>
      </p:sp>
      <p:sp>
        <p:nvSpPr>
          <p:cNvPr id="40" name="Text 36"/>
          <p:cNvSpPr txBox="1"/>
          <p:nvPr/>
        </p:nvSpPr>
        <p:spPr>
          <a:xfrm>
            <a:off x="5852160" y="3895344"/>
            <a:ext cx="2743200" cy="256032"/>
          </a:xfrm>
          <a:prstGeom prst="rect">
            <a:avLst/>
          </a:prstGeom>
          <a:noFill/>
          <a:ln/>
        </p:spPr>
        <p:txBody>
          <a:bodyPr wrap="square" lIns="0" tIns="0" rIns="0" bIns="0" rtlCol="0" anchor="ctr"/>
          <a:lstStyle/>
          <a:p>
            <a:pPr marL="0" indent="0">
              <a:buNone/>
            </a:pPr>
            <a:r>
              <a:rPr lang="en-US" sz="950" dirty="0">
                <a:solidFill>
                  <a:srgbClr val="8C9199"/>
                </a:solidFill>
                <a:latin typeface="Pretendard" pitchFamily="34" charset="0"/>
                <a:ea typeface="Pretendard" pitchFamily="34" charset="-122"/>
                <a:cs typeface="Pretendard" pitchFamily="34" charset="-120"/>
              </a:rPr>
              <a:t>인계 작성 요청. 받을 사람 칸이 없다</a:t>
            </a:r>
            <a:endParaRPr lang="en-US" sz="950" dirty="0"/>
          </a:p>
        </p:txBody>
      </p:sp>
      <p:sp>
        <p:nvSpPr>
          <p:cNvPr id="42" name="Text 38"/>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화면이 요청에 넣는 번호는 반드시 어떤 조회 API 가 돌려준 값이어야 한다. 이 규칙이 없어 생긴 구멍을 검증 단계에서 찾았다</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23</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06  API 24개와 막는 규칙</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C24A31"/>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ECEAE3"/>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막을 때 주는 답</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막는 이유가 다르면 답도 달라야 한다</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3241547"/>
        </p:xfrm>
        <a:graphic>
          <a:graphicData uri="http://schemas.openxmlformats.org/drawingml/2006/table">
            <a:tbl>
              <a:tblPr/>
              <a:tblGrid>
                <a:gridCol w="73152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5029200">
                  <a:extLst>
                    <a:ext uri="{9D8B030D-6E8A-4147-A177-3AD203B41FA5}">
                      <a16:colId xmlns:a16="http://schemas.microsoft.com/office/drawing/2014/main" val="20002"/>
                    </a:ext>
                  </a:extLst>
                </a:gridCol>
              </a:tblGrid>
              <a:tr h="347472">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답</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뜻</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tc>
                  <a:txBody>
                    <a:bodyPr/>
                    <a:lstStyle/>
                    <a:p>
                      <a:pPr marL="0" indent="0" algn="l">
                        <a:buNone/>
                      </a:pPr>
                      <a:r>
                        <a:rPr lang="en-US" sz="950" dirty="0">
                          <a:solidFill>
                            <a:srgbClr val="2B333C"/>
                          </a:solidFill>
                          <a:latin typeface="Pretendard Medium" pitchFamily="34" charset="0"/>
                          <a:ea typeface="Pretendard Medium" pitchFamily="34" charset="-122"/>
                          <a:cs typeface="Pretendard Medium" pitchFamily="34" charset="-120"/>
                        </a:rPr>
                        <a:t>이 서비스에서는</a:t>
                      </a:r>
                      <a:endParaRPr lang="en-US" sz="950" dirty="0">
                        <a:latin typeface="Pretendard Medium" charset="0"/>
                        <a:ea typeface="Pretendard Medium" charset="0"/>
                        <a:cs typeface="Pretendard Medium" charset="0"/>
                      </a:endParaRPr>
                    </a:p>
                  </a:txBody>
                  <a:tcPr marL="101600" marR="101600" marT="76200" marB="76200" anchor="ctr">
                    <a:lnL w="0" cap="flat" cmpd="sng" algn="ctr">
                      <a:noFill/>
                    </a:lnL>
                    <a:lnR w="0" cap="flat" cmpd="sng" algn="ctr">
                      <a:noFill/>
                    </a:lnR>
                    <a:lnT w="0" cap="flat" cmpd="sng" algn="ctr">
                      <a:noFill/>
                    </a:lnT>
                    <a:lnB w="12700" cap="flat" cmpd="sng" algn="ctr">
                      <a:solidFill>
                        <a:srgbClr val="2B333C"/>
                      </a:solidFill>
                      <a:prstDash val="solid"/>
                      <a:round/>
                      <a:headEnd type="none" w="med" len="med"/>
                      <a:tailEnd type="none" w="med" len="med"/>
                    </a:lnB>
                  </a:tcPr>
                </a:tc>
                <a:extLst>
                  <a:ext uri="{0D108BD9-81ED-4DB2-BD59-A6C34878D82A}">
                    <a16:rowId xmlns:a16="http://schemas.microsoft.com/office/drawing/2014/main" val="10000"/>
                  </a:ext>
                </a:extLst>
              </a:tr>
              <a:tr h="578815">
                <a:tc>
                  <a:txBody>
                    <a:bodyPr/>
                    <a:lstStyle/>
                    <a:p>
                      <a:pPr marL="0" indent="0" algn="l">
                        <a:buNone/>
                      </a:pPr>
                      <a:r>
                        <a:rPr lang="en-US" sz="1800" dirty="0">
                          <a:solidFill>
                            <a:srgbClr val="2B333C"/>
                          </a:solidFill>
                          <a:latin typeface="Pretendard Light" pitchFamily="34" charset="0"/>
                          <a:ea typeface="Pretendard Light" pitchFamily="34" charset="-122"/>
                          <a:cs typeface="Pretendard Light" pitchFamily="34" charset="-120"/>
                        </a:rPr>
                        <a:t>401</a:t>
                      </a:r>
                      <a:endParaRPr lang="en-US" sz="1800" dirty="0">
                        <a:latin typeface="Pretendard Light" charset="0"/>
                        <a:ea typeface="Pretendard Light" charset="0"/>
                        <a:cs typeface="Pretendard Light"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50" dirty="0">
                          <a:solidFill>
                            <a:srgbClr val="5A6069"/>
                          </a:solidFill>
                          <a:latin typeface="Pretendard" pitchFamily="34" charset="0"/>
                          <a:ea typeface="Pretendard" pitchFamily="34" charset="-122"/>
                          <a:cs typeface="Pretendard" pitchFamily="34" charset="-120"/>
                        </a:rPr>
                        <a:t>로그인 안 됨</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50" dirty="0">
                          <a:solidFill>
                            <a:srgbClr val="5A6069"/>
                          </a:solidFill>
                          <a:latin typeface="Pretendard" pitchFamily="34" charset="0"/>
                          <a:ea typeface="Pretendard" pitchFamily="34" charset="-122"/>
                          <a:cs typeface="Pretendard" pitchFamily="34" charset="-120"/>
                        </a:rPr>
                        <a:t>모든 요청의 기본</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12700" cap="flat" cmpd="sng" algn="ctr">
                      <a:solidFill>
                        <a:srgbClr val="2B333C"/>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1"/>
                  </a:ext>
                </a:extLst>
              </a:tr>
              <a:tr h="578815">
                <a:tc>
                  <a:txBody>
                    <a:bodyPr/>
                    <a:lstStyle/>
                    <a:p>
                      <a:pPr marL="0" indent="0" algn="l">
                        <a:buNone/>
                      </a:pPr>
                      <a:r>
                        <a:rPr lang="en-US" sz="1800" dirty="0">
                          <a:solidFill>
                            <a:srgbClr val="2B333C"/>
                          </a:solidFill>
                          <a:latin typeface="Pretendard Light" pitchFamily="34" charset="0"/>
                          <a:ea typeface="Pretendard Light" pitchFamily="34" charset="-122"/>
                          <a:cs typeface="Pretendard Light" pitchFamily="34" charset="-120"/>
                        </a:rPr>
                        <a:t>403</a:t>
                      </a:r>
                      <a:endParaRPr lang="en-US" sz="1800" dirty="0">
                        <a:latin typeface="Pretendard Light" charset="0"/>
                        <a:ea typeface="Pretendard Light" charset="0"/>
                        <a:cs typeface="Pretendard Light"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50" dirty="0">
                          <a:solidFill>
                            <a:srgbClr val="5A6069"/>
                          </a:solidFill>
                          <a:latin typeface="Pretendard" pitchFamily="34" charset="0"/>
                          <a:ea typeface="Pretendard" pitchFamily="34" charset="-122"/>
                          <a:cs typeface="Pretendard" pitchFamily="34" charset="-120"/>
                        </a:rPr>
                        <a:t>있긴 한데 당신은 못 본다</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50" dirty="0">
                          <a:solidFill>
                            <a:srgbClr val="5A6069"/>
                          </a:solidFill>
                          <a:latin typeface="Pretendard" pitchFamily="34" charset="0"/>
                          <a:ea typeface="Pretendard" pitchFamily="34" charset="-122"/>
                          <a:cs typeface="Pretendard" pitchFamily="34" charset="-120"/>
                        </a:rPr>
                        <a:t>다른 병동, 내 인계가 아님, 액팅이 쓰려고 할 때</a:t>
                      </a:r>
                      <a:endParaRPr lang="en-US" sz="1050" dirty="0">
                        <a:latin typeface="Pretendard" charset="0"/>
                        <a:ea typeface="Pretendard" charset="0"/>
                        <a:cs typeface="Pretendard" charset="0"/>
                      </a:endParaRPr>
                    </a:p>
                    <a:p>
                      <a:pPr marL="0" indent="0" algn="l">
                        <a:buNone/>
                      </a:pPr>
                      <a:r>
                        <a:rPr lang="en-US" sz="1050" dirty="0">
                          <a:solidFill>
                            <a:srgbClr val="5A6069"/>
                          </a:solidFill>
                          <a:latin typeface="Pretendard" pitchFamily="34" charset="0"/>
                          <a:ea typeface="Pretendard" pitchFamily="34" charset="-122"/>
                          <a:cs typeface="Pretendard" pitchFamily="34" charset="-120"/>
                        </a:rPr>
                        <a:t>결원으로 등록된 사람이 받으려 할 때</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2"/>
                  </a:ext>
                </a:extLst>
              </a:tr>
              <a:tr h="578815">
                <a:tc>
                  <a:txBody>
                    <a:bodyPr/>
                    <a:lstStyle/>
                    <a:p>
                      <a:pPr marL="0" indent="0" algn="l">
                        <a:buNone/>
                      </a:pPr>
                      <a:r>
                        <a:rPr lang="en-US" sz="1800" dirty="0">
                          <a:solidFill>
                            <a:srgbClr val="2B333C"/>
                          </a:solidFill>
                          <a:latin typeface="Pretendard Light" pitchFamily="34" charset="0"/>
                          <a:ea typeface="Pretendard Light" pitchFamily="34" charset="-122"/>
                          <a:cs typeface="Pretendard Light" pitchFamily="34" charset="-120"/>
                        </a:rPr>
                        <a:t>404</a:t>
                      </a:r>
                      <a:endParaRPr lang="en-US" sz="1800" dirty="0">
                        <a:latin typeface="Pretendard Light" charset="0"/>
                        <a:ea typeface="Pretendard Light" charset="0"/>
                        <a:cs typeface="Pretendard Light"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50" dirty="0">
                          <a:solidFill>
                            <a:srgbClr val="5A6069"/>
                          </a:solidFill>
                          <a:latin typeface="Pretendard" pitchFamily="34" charset="0"/>
                          <a:ea typeface="Pretendard" pitchFamily="34" charset="-122"/>
                          <a:cs typeface="Pretendard" pitchFamily="34" charset="-120"/>
                        </a:rPr>
                        <a:t>그런 건 없다</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50" dirty="0">
                          <a:solidFill>
                            <a:srgbClr val="5A6069"/>
                          </a:solidFill>
                          <a:latin typeface="Pretendard" pitchFamily="34" charset="0"/>
                          <a:ea typeface="Pretendard" pitchFamily="34" charset="-122"/>
                          <a:cs typeface="Pretendard" pitchFamily="34" charset="-120"/>
                        </a:rPr>
                        <a:t>없는 번호. 다른 병동을 404 로 숨기지 않았다. 둘을 섞지 않는다</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3"/>
                  </a:ext>
                </a:extLst>
              </a:tr>
              <a:tr h="578815">
                <a:tc>
                  <a:txBody>
                    <a:bodyPr/>
                    <a:lstStyle/>
                    <a:p>
                      <a:pPr marL="0" indent="0" algn="l">
                        <a:buNone/>
                      </a:pPr>
                      <a:r>
                        <a:rPr lang="en-US" sz="1800" dirty="0">
                          <a:solidFill>
                            <a:srgbClr val="C24A31"/>
                          </a:solidFill>
                          <a:latin typeface="Pretendard Light" pitchFamily="34" charset="0"/>
                          <a:ea typeface="Pretendard Light" pitchFamily="34" charset="-122"/>
                          <a:cs typeface="Pretendard Light" pitchFamily="34" charset="-120"/>
                        </a:rPr>
                        <a:t>409</a:t>
                      </a:r>
                      <a:endParaRPr lang="en-US" sz="1800" dirty="0">
                        <a:latin typeface="Pretendard Light" charset="0"/>
                        <a:ea typeface="Pretendard Light" charset="0"/>
                        <a:cs typeface="Pretendard Light"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50" dirty="0">
                          <a:solidFill>
                            <a:srgbClr val="2B333C"/>
                          </a:solidFill>
                          <a:latin typeface="Pretendard SemiBold" pitchFamily="34" charset="0"/>
                          <a:ea typeface="Pretendard SemiBold" pitchFamily="34" charset="-122"/>
                          <a:cs typeface="Pretendard SemiBold" pitchFamily="34" charset="-120"/>
                        </a:rPr>
                        <a:t>지금 상태에서는 그 일을 할 수 없다</a:t>
                      </a:r>
                      <a:endParaRPr lang="en-US" sz="105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50" dirty="0">
                          <a:solidFill>
                            <a:srgbClr val="5A6069"/>
                          </a:solidFill>
                          <a:latin typeface="Pretendard" pitchFamily="34" charset="0"/>
                          <a:ea typeface="Pretendard" pitchFamily="34" charset="-122"/>
                          <a:cs typeface="Pretendard" pitchFamily="34" charset="-120"/>
                        </a:rPr>
                        <a:t>이미 확인된 인계를 또 확인, 대체된 인계를 고치기</a:t>
                      </a:r>
                      <a:endParaRPr lang="en-US" sz="1050" dirty="0">
                        <a:latin typeface="Pretendard" charset="0"/>
                        <a:ea typeface="Pretendard" charset="0"/>
                        <a:cs typeface="Pretendard" charset="0"/>
                      </a:endParaRPr>
                    </a:p>
                    <a:p>
                      <a:pPr marL="0" indent="0" algn="l">
                        <a:buNone/>
                      </a:pPr>
                      <a:r>
                        <a:rPr lang="en-US" sz="1050" dirty="0">
                          <a:solidFill>
                            <a:srgbClr val="5A6069"/>
                          </a:solidFill>
                          <a:latin typeface="Pretendard" pitchFamily="34" charset="0"/>
                          <a:ea typeface="Pretendard" pitchFamily="34" charset="-122"/>
                          <a:cs typeface="Pretendard" pitchFamily="34" charset="-120"/>
                        </a:rPr>
                        <a:t>퇴원한 환자에게 새 인계, 같은 사람을 같은 근무에 두 번</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4"/>
                  </a:ext>
                </a:extLst>
              </a:tr>
              <a:tr h="578815">
                <a:tc>
                  <a:txBody>
                    <a:bodyPr/>
                    <a:lstStyle/>
                    <a:p>
                      <a:pPr marL="0" indent="0" algn="l">
                        <a:buNone/>
                      </a:pPr>
                      <a:r>
                        <a:rPr lang="en-US" sz="1800" dirty="0">
                          <a:solidFill>
                            <a:srgbClr val="C24A31"/>
                          </a:solidFill>
                          <a:latin typeface="Pretendard Light" pitchFamily="34" charset="0"/>
                          <a:ea typeface="Pretendard Light" pitchFamily="34" charset="-122"/>
                          <a:cs typeface="Pretendard Light" pitchFamily="34" charset="-120"/>
                        </a:rPr>
                        <a:t>422</a:t>
                      </a:r>
                      <a:endParaRPr lang="en-US" sz="1800" dirty="0">
                        <a:latin typeface="Pretendard Light" charset="0"/>
                        <a:ea typeface="Pretendard Light" charset="0"/>
                        <a:cs typeface="Pretendard Light"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50" dirty="0">
                          <a:solidFill>
                            <a:srgbClr val="2B333C"/>
                          </a:solidFill>
                          <a:latin typeface="Pretendard SemiBold" pitchFamily="34" charset="0"/>
                          <a:ea typeface="Pretendard SemiBold" pitchFamily="34" charset="-122"/>
                          <a:cs typeface="Pretendard SemiBold" pitchFamily="34" charset="-120"/>
                        </a:rPr>
                        <a:t>보낸 내용이 모자라다</a:t>
                      </a:r>
                      <a:endParaRPr lang="en-US" sz="1050" dirty="0">
                        <a:latin typeface="Pretendard SemiBold" charset="0"/>
                        <a:ea typeface="Pretendard SemiBold" charset="0"/>
                        <a:cs typeface="Pretendard SemiBol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tc>
                  <a:txBody>
                    <a:bodyPr/>
                    <a:lstStyle/>
                    <a:p>
                      <a:pPr marL="0" indent="0" algn="l">
                        <a:buNone/>
                      </a:pPr>
                      <a:r>
                        <a:rPr lang="en-US" sz="1050" dirty="0">
                          <a:solidFill>
                            <a:srgbClr val="5A6069"/>
                          </a:solidFill>
                          <a:latin typeface="Pretendard" pitchFamily="34" charset="0"/>
                          <a:ea typeface="Pretendard" pitchFamily="34" charset="-122"/>
                          <a:cs typeface="Pretendard" pitchFamily="34" charset="-120"/>
                        </a:rPr>
                        <a:t>필수 항목이 비었음, 요약을 안 썼음</a:t>
                      </a:r>
                      <a:endParaRPr lang="en-US" sz="1050" dirty="0">
                        <a:latin typeface="Pretendard" charset="0"/>
                        <a:ea typeface="Pretendard" charset="0"/>
                        <a:cs typeface="Pretendard" charset="0"/>
                      </a:endParaRPr>
                    </a:p>
                    <a:p>
                      <a:pPr marL="0" indent="0" algn="l">
                        <a:buNone/>
                      </a:pPr>
                      <a:r>
                        <a:rPr lang="en-US" sz="1050" dirty="0">
                          <a:solidFill>
                            <a:srgbClr val="5A6069"/>
                          </a:solidFill>
                          <a:latin typeface="Pretendard" pitchFamily="34" charset="0"/>
                          <a:ea typeface="Pretendard" pitchFamily="34" charset="-122"/>
                          <a:cs typeface="Pretendard" pitchFamily="34" charset="-120"/>
                        </a:rPr>
                        <a:t>대체자 없이 완료 확인, 다음 근무 담당이 아직 없음</a:t>
                      </a:r>
                      <a:endParaRPr lang="en-US" sz="1050" dirty="0">
                        <a:latin typeface="Pretendard" charset="0"/>
                        <a:ea typeface="Pretendard" charset="0"/>
                        <a:cs typeface="Pretendard" charset="0"/>
                      </a:endParaRPr>
                    </a:p>
                  </a:txBody>
                  <a:tcPr marL="101600" marR="101600" marT="76200" marB="76200" anchor="ctr">
                    <a:lnL w="0" cap="flat" cmpd="sng" algn="ctr">
                      <a:noFill/>
                    </a:lnL>
                    <a:lnR w="0" cap="flat" cmpd="sng" algn="ctr">
                      <a:noFill/>
                    </a:lnR>
                    <a:lnT w="6350" cap="flat" cmpd="sng" algn="ctr">
                      <a:solidFill>
                        <a:srgbClr val="E4E2DB"/>
                      </a:solidFill>
                      <a:prstDash val="solid"/>
                      <a:round/>
                      <a:headEnd type="none" w="med" len="med"/>
                      <a:tailEnd type="none" w="med" len="med"/>
                    </a:lnT>
                    <a:lnB w="6350" cap="flat" cmpd="sng" algn="ctr">
                      <a:solidFill>
                        <a:srgbClr val="E4E2DB"/>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39" name="Text 36"/>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형식이 깨진 요청(400)은 프레임워크 기본 처리이고, 명세는 뜻이 모자란 요청을 422 로 통일했다. 인계 상태는 작성 중, 전달됨, 확인됨 순서로만 간다</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24</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07  고민한 것, 못 한 것</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C24A31"/>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2331720" cy="1188720"/>
          </a:xfrm>
          <a:prstGeom prst="rect">
            <a:avLst/>
          </a:prstGeom>
          <a:noFill/>
          <a:ln/>
        </p:spPr>
        <p:txBody>
          <a:bodyPr wrap="square" lIns="0" tIns="0" rIns="0" bIns="0" rtlCol="0" anchor="t"/>
          <a:lstStyle/>
          <a:p>
            <a:pPr marL="0" indent="0">
              <a:lnSpc>
                <a:spcPct val="105000"/>
              </a:lnSpc>
              <a:buNone/>
            </a:pPr>
            <a:r>
              <a:rPr lang="en-US" sz="2200" kern="0" spc="-60" dirty="0">
                <a:solidFill>
                  <a:srgbClr val="2B333C"/>
                </a:solidFill>
                <a:latin typeface="Pretendard ExtraBold" pitchFamily="34" charset="0"/>
                <a:ea typeface="Pretendard ExtraBold" pitchFamily="34" charset="-122"/>
                <a:cs typeface="Pretendard ExtraBold" pitchFamily="34" charset="-120"/>
              </a:rPr>
              <a:t>고민했던 것</a:t>
            </a:r>
            <a:endParaRPr lang="en-US" sz="2200" dirty="0"/>
          </a:p>
        </p:txBody>
      </p:sp>
      <p:sp>
        <p:nvSpPr>
          <p:cNvPr id="36" name="Text 34"/>
          <p:cNvSpPr txBox="1"/>
          <p:nvPr/>
        </p:nvSpPr>
        <p:spPr>
          <a:xfrm>
            <a:off x="3200400" y="365760"/>
            <a:ext cx="457200" cy="864108"/>
          </a:xfrm>
          <a:prstGeom prst="rect">
            <a:avLst/>
          </a:prstGeom>
          <a:noFill/>
          <a:ln/>
        </p:spPr>
        <p:txBody>
          <a:bodyPr wrap="square" lIns="0" tIns="0" rIns="0" bIns="0" rtlCol="0" anchor="ctr"/>
          <a:lstStyle/>
          <a:p>
            <a:pPr marL="0" indent="0">
              <a:buNone/>
            </a:pPr>
            <a:r>
              <a:rPr lang="en-US" sz="2400" dirty="0">
                <a:solidFill>
                  <a:srgbClr val="2B333C"/>
                </a:solidFill>
                <a:latin typeface="Pretendard Light" pitchFamily="34" charset="0"/>
                <a:ea typeface="Pretendard Light" pitchFamily="34" charset="-122"/>
                <a:cs typeface="Pretendard Light" pitchFamily="34" charset="-120"/>
              </a:rPr>
              <a:t>1</a:t>
            </a:r>
            <a:endParaRPr lang="en-US" sz="2400" dirty="0"/>
          </a:p>
        </p:txBody>
      </p:sp>
      <p:sp>
        <p:nvSpPr>
          <p:cNvPr id="37" name="Text 35"/>
          <p:cNvSpPr txBox="1"/>
          <p:nvPr/>
        </p:nvSpPr>
        <p:spPr>
          <a:xfrm>
            <a:off x="3703320" y="365760"/>
            <a:ext cx="4892040" cy="864108"/>
          </a:xfrm>
          <a:prstGeom prst="rect">
            <a:avLst/>
          </a:prstGeom>
          <a:noFill/>
          <a:ln/>
        </p:spPr>
        <p:txBody>
          <a:bodyPr wrap="square" lIns="0" tIns="0" rIns="0" bIns="0" rtlCol="0" anchor="ctr"/>
          <a:lstStyle/>
          <a:p>
            <a:pPr marL="0" indent="0">
              <a:lnSpc>
                <a:spcPct val="115000"/>
              </a:lnSpc>
              <a:buNone/>
            </a:pPr>
            <a:r>
              <a:rPr lang="en-US" sz="1200" dirty="0">
                <a:solidFill>
                  <a:srgbClr val="2B333C"/>
                </a:solidFill>
                <a:latin typeface="Pretendard SemiBold" pitchFamily="34" charset="0"/>
                <a:ea typeface="Pretendard SemiBold" pitchFamily="34" charset="-122"/>
                <a:cs typeface="Pretendard SemiBold" pitchFamily="34" charset="-120"/>
              </a:rPr>
              <a:t>대시보드만 화면 전용 API
</a:t>
            </a:r>
            <a:r>
              <a:rPr lang="en-US" sz="1000" dirty="0">
                <a:solidFill>
                  <a:srgbClr val="5A6069"/>
                </a:solidFill>
                <a:latin typeface="Pretendard" pitchFamily="34" charset="0"/>
                <a:ea typeface="Pretendard" pitchFamily="34" charset="-122"/>
                <a:cs typeface="Pretendard" pitchFamily="34" charset="-120"/>
              </a:rPr>
              <a:t>네 군데 데이터를 합친다. 나누면 화면이 네 번 요청하고, 세는 규칙이 화면 쪽으로 흩어진다</a:t>
            </a:r>
            <a:endParaRPr lang="en-US" sz="1200" dirty="0"/>
          </a:p>
        </p:txBody>
      </p:sp>
      <p:sp>
        <p:nvSpPr>
          <p:cNvPr id="39" name="Text 37"/>
          <p:cNvSpPr txBox="1"/>
          <p:nvPr/>
        </p:nvSpPr>
        <p:spPr>
          <a:xfrm>
            <a:off x="3200400" y="1229868"/>
            <a:ext cx="457200" cy="864108"/>
          </a:xfrm>
          <a:prstGeom prst="rect">
            <a:avLst/>
          </a:prstGeom>
          <a:noFill/>
          <a:ln/>
        </p:spPr>
        <p:txBody>
          <a:bodyPr wrap="square" lIns="0" tIns="0" rIns="0" bIns="0" rtlCol="0" anchor="ctr"/>
          <a:lstStyle/>
          <a:p>
            <a:pPr marL="0" indent="0">
              <a:buNone/>
            </a:pPr>
            <a:r>
              <a:rPr lang="en-US" sz="2400" dirty="0">
                <a:solidFill>
                  <a:srgbClr val="2B333C"/>
                </a:solidFill>
                <a:latin typeface="Pretendard Light" pitchFamily="34" charset="0"/>
                <a:ea typeface="Pretendard Light" pitchFamily="34" charset="-122"/>
                <a:cs typeface="Pretendard Light" pitchFamily="34" charset="-120"/>
              </a:rPr>
              <a:t>2</a:t>
            </a:r>
            <a:endParaRPr lang="en-US" sz="2400" dirty="0"/>
          </a:p>
        </p:txBody>
      </p:sp>
      <p:sp>
        <p:nvSpPr>
          <p:cNvPr id="40" name="Text 38"/>
          <p:cNvSpPr txBox="1"/>
          <p:nvPr/>
        </p:nvSpPr>
        <p:spPr>
          <a:xfrm>
            <a:off x="3703320" y="1229868"/>
            <a:ext cx="4892040" cy="864108"/>
          </a:xfrm>
          <a:prstGeom prst="rect">
            <a:avLst/>
          </a:prstGeom>
          <a:noFill/>
          <a:ln/>
        </p:spPr>
        <p:txBody>
          <a:bodyPr wrap="square" lIns="0" tIns="0" rIns="0" bIns="0" rtlCol="0" anchor="ctr"/>
          <a:lstStyle/>
          <a:p>
            <a:pPr marL="0" indent="0">
              <a:lnSpc>
                <a:spcPct val="115000"/>
              </a:lnSpc>
              <a:buNone/>
            </a:pPr>
            <a:r>
              <a:rPr lang="en-US" sz="1200" dirty="0">
                <a:solidFill>
                  <a:srgbClr val="2B333C"/>
                </a:solidFill>
                <a:latin typeface="Pretendard SemiBold" pitchFamily="34" charset="0"/>
                <a:ea typeface="Pretendard SemiBold" pitchFamily="34" charset="-122"/>
                <a:cs typeface="Pretendard SemiBold" pitchFamily="34" charset="-120"/>
              </a:rPr>
              <a:t>펼쳐 보는 목록은 기존 API 를 다시 쓴다
</a:t>
            </a:r>
            <a:r>
              <a:rPr lang="en-US" sz="1000" dirty="0">
                <a:solidFill>
                  <a:srgbClr val="5A6069"/>
                </a:solidFill>
                <a:latin typeface="Pretendard" pitchFamily="34" charset="0"/>
                <a:ea typeface="Pretendard" pitchFamily="34" charset="-122"/>
                <a:cs typeface="Pretendard" pitchFamily="34" charset="-120"/>
              </a:rPr>
              <a:t>명단은 근무 조회가 이미 돌려주는 값. 또 만들면 같은 데이터가 두 곳에 정의된다</a:t>
            </a:r>
            <a:endParaRPr lang="en-US" sz="1200" dirty="0"/>
          </a:p>
        </p:txBody>
      </p:sp>
      <p:sp>
        <p:nvSpPr>
          <p:cNvPr id="42" name="Text 40"/>
          <p:cNvSpPr txBox="1"/>
          <p:nvPr/>
        </p:nvSpPr>
        <p:spPr>
          <a:xfrm>
            <a:off x="3200400" y="2093976"/>
            <a:ext cx="457200" cy="864108"/>
          </a:xfrm>
          <a:prstGeom prst="rect">
            <a:avLst/>
          </a:prstGeom>
          <a:noFill/>
          <a:ln/>
        </p:spPr>
        <p:txBody>
          <a:bodyPr wrap="square" lIns="0" tIns="0" rIns="0" bIns="0" rtlCol="0" anchor="ctr"/>
          <a:lstStyle/>
          <a:p>
            <a:pPr marL="0" indent="0">
              <a:buNone/>
            </a:pPr>
            <a:r>
              <a:rPr lang="en-US" sz="2400" dirty="0">
                <a:solidFill>
                  <a:srgbClr val="2B333C"/>
                </a:solidFill>
                <a:latin typeface="Pretendard Light" pitchFamily="34" charset="0"/>
                <a:ea typeface="Pretendard Light" pitchFamily="34" charset="-122"/>
                <a:cs typeface="Pretendard Light" pitchFamily="34" charset="-120"/>
              </a:rPr>
              <a:t>3</a:t>
            </a:r>
            <a:endParaRPr lang="en-US" sz="2400" dirty="0"/>
          </a:p>
        </p:txBody>
      </p:sp>
      <p:sp>
        <p:nvSpPr>
          <p:cNvPr id="43" name="Text 41"/>
          <p:cNvSpPr txBox="1"/>
          <p:nvPr/>
        </p:nvSpPr>
        <p:spPr>
          <a:xfrm>
            <a:off x="3703320" y="2093976"/>
            <a:ext cx="4892040" cy="864108"/>
          </a:xfrm>
          <a:prstGeom prst="rect">
            <a:avLst/>
          </a:prstGeom>
          <a:noFill/>
          <a:ln/>
        </p:spPr>
        <p:txBody>
          <a:bodyPr wrap="square" lIns="0" tIns="0" rIns="0" bIns="0" rtlCol="0" anchor="ctr"/>
          <a:lstStyle/>
          <a:p>
            <a:pPr marL="0" indent="0">
              <a:lnSpc>
                <a:spcPct val="115000"/>
              </a:lnSpc>
              <a:buNone/>
            </a:pPr>
            <a:r>
              <a:rPr lang="en-US" sz="1200" dirty="0">
                <a:solidFill>
                  <a:srgbClr val="2B333C"/>
                </a:solidFill>
                <a:latin typeface="Pretendard SemiBold" pitchFamily="34" charset="0"/>
                <a:ea typeface="Pretendard SemiBold" pitchFamily="34" charset="-122"/>
                <a:cs typeface="Pretendard SemiBold" pitchFamily="34" charset="-120"/>
              </a:rPr>
              <a:t>열어본 기록은 조회와 따로
</a:t>
            </a:r>
            <a:r>
              <a:rPr lang="en-US" sz="1000" dirty="0">
                <a:solidFill>
                  <a:srgbClr val="5A6069"/>
                </a:solidFill>
                <a:latin typeface="Pretendard" pitchFamily="34" charset="0"/>
                <a:ea typeface="Pretendard" pitchFamily="34" charset="-122"/>
                <a:cs typeface="Pretendard" pitchFamily="34" charset="-120"/>
              </a:rPr>
              <a:t>조회에 붙이면 수간호사나 액팅이 봐도 '받았다'가 된다. 그러면 확인의 뜻이 깨진다</a:t>
            </a:r>
            <a:endParaRPr lang="en-US" sz="1200" dirty="0"/>
          </a:p>
        </p:txBody>
      </p:sp>
      <p:sp>
        <p:nvSpPr>
          <p:cNvPr id="45" name="Text 43"/>
          <p:cNvSpPr txBox="1"/>
          <p:nvPr/>
        </p:nvSpPr>
        <p:spPr>
          <a:xfrm>
            <a:off x="3200400" y="2958084"/>
            <a:ext cx="457200" cy="864108"/>
          </a:xfrm>
          <a:prstGeom prst="rect">
            <a:avLst/>
          </a:prstGeom>
          <a:noFill/>
          <a:ln/>
        </p:spPr>
        <p:txBody>
          <a:bodyPr wrap="square" lIns="0" tIns="0" rIns="0" bIns="0" rtlCol="0" anchor="ctr"/>
          <a:lstStyle/>
          <a:p>
            <a:pPr marL="0" indent="0">
              <a:buNone/>
            </a:pPr>
            <a:r>
              <a:rPr lang="en-US" sz="2400" dirty="0">
                <a:solidFill>
                  <a:srgbClr val="C24A31"/>
                </a:solidFill>
                <a:latin typeface="Pretendard Light" pitchFamily="34" charset="0"/>
                <a:ea typeface="Pretendard Light" pitchFamily="34" charset="-122"/>
                <a:cs typeface="Pretendard Light" pitchFamily="34" charset="-120"/>
              </a:rPr>
              <a:t>4</a:t>
            </a:r>
            <a:endParaRPr lang="en-US" sz="2400" dirty="0"/>
          </a:p>
        </p:txBody>
      </p:sp>
      <p:sp>
        <p:nvSpPr>
          <p:cNvPr id="46" name="Text 44"/>
          <p:cNvSpPr txBox="1"/>
          <p:nvPr/>
        </p:nvSpPr>
        <p:spPr>
          <a:xfrm>
            <a:off x="3703320" y="2958084"/>
            <a:ext cx="4892040" cy="864108"/>
          </a:xfrm>
          <a:prstGeom prst="rect">
            <a:avLst/>
          </a:prstGeom>
          <a:noFill/>
          <a:ln/>
        </p:spPr>
        <p:txBody>
          <a:bodyPr wrap="square" lIns="0" tIns="0" rIns="0" bIns="0" rtlCol="0" anchor="ctr"/>
          <a:lstStyle/>
          <a:p>
            <a:pPr marL="0" indent="0">
              <a:lnSpc>
                <a:spcPct val="115000"/>
              </a:lnSpc>
              <a:buNone/>
            </a:pPr>
            <a:r>
              <a:rPr lang="en-US" sz="1200" dirty="0">
                <a:solidFill>
                  <a:srgbClr val="2B333C"/>
                </a:solidFill>
                <a:latin typeface="Pretendard SemiBold" pitchFamily="34" charset="0"/>
                <a:ea typeface="Pretendard SemiBold" pitchFamily="34" charset="-122"/>
                <a:cs typeface="Pretendard SemiBold" pitchFamily="34" charset="-120"/>
              </a:rPr>
              <a:t>남은 인계는 시스템이 막지 않는다
</a:t>
            </a:r>
            <a:r>
              <a:rPr lang="en-US" sz="1000" dirty="0">
                <a:solidFill>
                  <a:srgbClr val="5A6069"/>
                </a:solidFill>
                <a:latin typeface="Pretendard" pitchFamily="34" charset="0"/>
                <a:ea typeface="Pretendard" pitchFamily="34" charset="-122"/>
                <a:cs typeface="Pretendard" pitchFamily="34" charset="-120"/>
              </a:rPr>
              <a:t>안 넘기는 게 정상인 경우가 있다(그 사이 퇴원 등). 대신 화면이 "남은 N건"을 보여주고 사람이 판단</a:t>
            </a:r>
            <a:endParaRPr lang="en-US" sz="1200" dirty="0"/>
          </a:p>
        </p:txBody>
      </p:sp>
      <p:sp>
        <p:nvSpPr>
          <p:cNvPr id="48" name="Text 46"/>
          <p:cNvSpPr txBox="1"/>
          <p:nvPr/>
        </p:nvSpPr>
        <p:spPr>
          <a:xfrm>
            <a:off x="3200400" y="3822192"/>
            <a:ext cx="457200" cy="864108"/>
          </a:xfrm>
          <a:prstGeom prst="rect">
            <a:avLst/>
          </a:prstGeom>
          <a:noFill/>
          <a:ln/>
        </p:spPr>
        <p:txBody>
          <a:bodyPr wrap="square" lIns="0" tIns="0" rIns="0" bIns="0" rtlCol="0" anchor="ctr"/>
          <a:lstStyle/>
          <a:p>
            <a:pPr marL="0" indent="0">
              <a:buNone/>
            </a:pPr>
            <a:r>
              <a:rPr lang="en-US" sz="2400" dirty="0">
                <a:solidFill>
                  <a:srgbClr val="C24A31"/>
                </a:solidFill>
                <a:latin typeface="Pretendard Light" pitchFamily="34" charset="0"/>
                <a:ea typeface="Pretendard Light" pitchFamily="34" charset="-122"/>
                <a:cs typeface="Pretendard Light" pitchFamily="34" charset="-120"/>
              </a:rPr>
              <a:t>5</a:t>
            </a:r>
            <a:endParaRPr lang="en-US" sz="2400" dirty="0"/>
          </a:p>
        </p:txBody>
      </p:sp>
      <p:sp>
        <p:nvSpPr>
          <p:cNvPr id="49" name="Text 47"/>
          <p:cNvSpPr txBox="1"/>
          <p:nvPr/>
        </p:nvSpPr>
        <p:spPr>
          <a:xfrm>
            <a:off x="3703320" y="3822192"/>
            <a:ext cx="4892040" cy="864108"/>
          </a:xfrm>
          <a:prstGeom prst="rect">
            <a:avLst/>
          </a:prstGeom>
          <a:noFill/>
          <a:ln/>
        </p:spPr>
        <p:txBody>
          <a:bodyPr wrap="square" lIns="0" tIns="0" rIns="0" bIns="0" rtlCol="0" anchor="ctr"/>
          <a:lstStyle/>
          <a:p>
            <a:pPr marL="0" indent="0">
              <a:lnSpc>
                <a:spcPct val="115000"/>
              </a:lnSpc>
              <a:buNone/>
            </a:pPr>
            <a:r>
              <a:rPr lang="en-US" sz="1200" dirty="0">
                <a:solidFill>
                  <a:srgbClr val="2B333C"/>
                </a:solidFill>
                <a:latin typeface="Pretendard SemiBold" pitchFamily="34" charset="0"/>
                <a:ea typeface="Pretendard SemiBold" pitchFamily="34" charset="-122"/>
                <a:cs typeface="Pretendard SemiBold" pitchFamily="34" charset="-120"/>
              </a:rPr>
              <a:t>다른 병동은 403
</a:t>
            </a:r>
            <a:r>
              <a:rPr lang="en-US" sz="1000" dirty="0">
                <a:solidFill>
                  <a:srgbClr val="5A6069"/>
                </a:solidFill>
                <a:latin typeface="Pretendard" pitchFamily="34" charset="0"/>
                <a:ea typeface="Pretendard" pitchFamily="34" charset="-122"/>
                <a:cs typeface="Pretendard" pitchFamily="34" charset="-120"/>
              </a:rPr>
              <a:t>404 로 숨기는 게 더 방어적이지만, 권한 경계를 분명히 드러내는 쪽을 골랐다</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25</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07  고민한 것, 못 한 것</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C24A31"/>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2331720" cy="1188720"/>
          </a:xfrm>
          <a:prstGeom prst="rect">
            <a:avLst/>
          </a:prstGeom>
          <a:noFill/>
          <a:ln/>
        </p:spPr>
        <p:txBody>
          <a:bodyPr wrap="square" lIns="0" tIns="0" rIns="0" bIns="0" rtlCol="0" anchor="t"/>
          <a:lstStyle/>
          <a:p>
            <a:pPr marL="0" indent="0">
              <a:lnSpc>
                <a:spcPct val="105000"/>
              </a:lnSpc>
              <a:buNone/>
            </a:pPr>
            <a:r>
              <a:rPr lang="en-US" sz="2200" kern="0" spc="-60" dirty="0">
                <a:solidFill>
                  <a:srgbClr val="2B333C"/>
                </a:solidFill>
                <a:latin typeface="Pretendard ExtraBold" pitchFamily="34" charset="0"/>
                <a:ea typeface="Pretendard ExtraBold" pitchFamily="34" charset="-122"/>
                <a:cs typeface="Pretendard ExtraBold" pitchFamily="34" charset="-120"/>
              </a:rPr>
              <a:t>못 한 것</a:t>
            </a:r>
            <a:endParaRPr lang="en-US" sz="2200" dirty="0"/>
          </a:p>
        </p:txBody>
      </p:sp>
      <p:sp>
        <p:nvSpPr>
          <p:cNvPr id="36" name="Text 34"/>
          <p:cNvSpPr txBox="1"/>
          <p:nvPr/>
        </p:nvSpPr>
        <p:spPr>
          <a:xfrm>
            <a:off x="3200400" y="365760"/>
            <a:ext cx="457200" cy="864108"/>
          </a:xfrm>
          <a:prstGeom prst="rect">
            <a:avLst/>
          </a:prstGeom>
          <a:noFill/>
          <a:ln/>
        </p:spPr>
        <p:txBody>
          <a:bodyPr wrap="square" lIns="0" tIns="0" rIns="0" bIns="0" rtlCol="0" anchor="ctr"/>
          <a:lstStyle/>
          <a:p>
            <a:pPr marL="0" indent="0">
              <a:buNone/>
            </a:pPr>
            <a:r>
              <a:rPr lang="en-US" sz="2400" dirty="0">
                <a:solidFill>
                  <a:srgbClr val="2B333C"/>
                </a:solidFill>
                <a:latin typeface="Pretendard Light" pitchFamily="34" charset="0"/>
                <a:ea typeface="Pretendard Light" pitchFamily="34" charset="-122"/>
                <a:cs typeface="Pretendard Light" pitchFamily="34" charset="-120"/>
              </a:rPr>
              <a:t>1</a:t>
            </a:r>
            <a:endParaRPr lang="en-US" sz="2400" dirty="0"/>
          </a:p>
        </p:txBody>
      </p:sp>
      <p:sp>
        <p:nvSpPr>
          <p:cNvPr id="37" name="Text 35"/>
          <p:cNvSpPr txBox="1"/>
          <p:nvPr/>
        </p:nvSpPr>
        <p:spPr>
          <a:xfrm>
            <a:off x="3703320" y="365760"/>
            <a:ext cx="4892040" cy="864108"/>
          </a:xfrm>
          <a:prstGeom prst="rect">
            <a:avLst/>
          </a:prstGeom>
          <a:noFill/>
          <a:ln/>
        </p:spPr>
        <p:txBody>
          <a:bodyPr wrap="square" lIns="0" tIns="0" rIns="0" bIns="0" rtlCol="0" anchor="ctr"/>
          <a:lstStyle/>
          <a:p>
            <a:pPr marL="0" indent="0">
              <a:lnSpc>
                <a:spcPct val="115000"/>
              </a:lnSpc>
              <a:buNone/>
            </a:pPr>
            <a:r>
              <a:rPr lang="en-US" sz="1200" dirty="0">
                <a:solidFill>
                  <a:srgbClr val="2B333C"/>
                </a:solidFill>
                <a:latin typeface="Pretendard SemiBold" pitchFamily="34" charset="0"/>
                <a:ea typeface="Pretendard SemiBold" pitchFamily="34" charset="-122"/>
                <a:cs typeface="Pretendard SemiBold" pitchFamily="34" charset="-120"/>
              </a:rPr>
              <a:t>병원 전산(EMR)과 연결이 없다
</a:t>
            </a:r>
            <a:r>
              <a:rPr lang="en-US" sz="1000" dirty="0">
                <a:solidFill>
                  <a:srgbClr val="5A6069"/>
                </a:solidFill>
                <a:latin typeface="Pretendard" pitchFamily="34" charset="0"/>
                <a:ea typeface="Pretendard" pitchFamily="34" charset="-122"/>
                <a:cs typeface="Pretendard" pitchFamily="34" charset="-120"/>
              </a:rPr>
              <a:t>공식 의무기록은 병원 전산이 맡고, 이 설계는 인계 메모만. 카덱스를 대체하는지는 "통합적으로 작용한다면"이 조건인 긍정 [C]. 통합이 안 되면 병행이고 두 번 입력하게 된다</a:t>
            </a:r>
            <a:endParaRPr lang="en-US" sz="1200" dirty="0"/>
          </a:p>
        </p:txBody>
      </p:sp>
      <p:sp>
        <p:nvSpPr>
          <p:cNvPr id="39" name="Text 37"/>
          <p:cNvSpPr txBox="1"/>
          <p:nvPr/>
        </p:nvSpPr>
        <p:spPr>
          <a:xfrm>
            <a:off x="3200400" y="1229868"/>
            <a:ext cx="457200" cy="864108"/>
          </a:xfrm>
          <a:prstGeom prst="rect">
            <a:avLst/>
          </a:prstGeom>
          <a:noFill/>
          <a:ln/>
        </p:spPr>
        <p:txBody>
          <a:bodyPr wrap="square" lIns="0" tIns="0" rIns="0" bIns="0" rtlCol="0" anchor="ctr"/>
          <a:lstStyle/>
          <a:p>
            <a:pPr marL="0" indent="0">
              <a:buNone/>
            </a:pPr>
            <a:r>
              <a:rPr lang="en-US" sz="2400" dirty="0">
                <a:solidFill>
                  <a:srgbClr val="2B333C"/>
                </a:solidFill>
                <a:latin typeface="Pretendard Light" pitchFamily="34" charset="0"/>
                <a:ea typeface="Pretendard Light" pitchFamily="34" charset="-122"/>
                <a:cs typeface="Pretendard Light" pitchFamily="34" charset="-120"/>
              </a:rPr>
              <a:t>2</a:t>
            </a:r>
            <a:endParaRPr lang="en-US" sz="2400" dirty="0"/>
          </a:p>
        </p:txBody>
      </p:sp>
      <p:sp>
        <p:nvSpPr>
          <p:cNvPr id="40" name="Text 38"/>
          <p:cNvSpPr txBox="1"/>
          <p:nvPr/>
        </p:nvSpPr>
        <p:spPr>
          <a:xfrm>
            <a:off x="3703320" y="1229868"/>
            <a:ext cx="4892040" cy="864108"/>
          </a:xfrm>
          <a:prstGeom prst="rect">
            <a:avLst/>
          </a:prstGeom>
          <a:noFill/>
          <a:ln/>
        </p:spPr>
        <p:txBody>
          <a:bodyPr wrap="square" lIns="0" tIns="0" rIns="0" bIns="0" rtlCol="0" anchor="ctr"/>
          <a:lstStyle/>
          <a:p>
            <a:pPr marL="0" indent="0">
              <a:lnSpc>
                <a:spcPct val="115000"/>
              </a:lnSpc>
              <a:buNone/>
            </a:pPr>
            <a:r>
              <a:rPr lang="en-US" sz="1200" dirty="0">
                <a:solidFill>
                  <a:srgbClr val="2B333C"/>
                </a:solidFill>
                <a:latin typeface="Pretendard SemiBold" pitchFamily="34" charset="0"/>
                <a:ea typeface="Pretendard SemiBold" pitchFamily="34" charset="-122"/>
                <a:cs typeface="Pretendard SemiBold" pitchFamily="34" charset="-120"/>
              </a:rPr>
              <a:t>요약을 성의 있게 썼는지는 못 본다
</a:t>
            </a:r>
            <a:r>
              <a:rPr lang="en-US" sz="1000" dirty="0">
                <a:solidFill>
                  <a:srgbClr val="5A6069"/>
                </a:solidFill>
                <a:latin typeface="Pretendard" pitchFamily="34" charset="0"/>
                <a:ea typeface="Pretendard" pitchFamily="34" charset="-122"/>
                <a:cs typeface="Pretendard" pitchFamily="34" charset="-120"/>
              </a:rPr>
              <a:t>칸이 비었는지만 검사. 한 글자만 적어도 '확인됨'이 된다. 남기는 건 "누가 언제 자기 말로 적었는가"까지</a:t>
            </a:r>
            <a:endParaRPr lang="en-US" sz="1200" dirty="0"/>
          </a:p>
        </p:txBody>
      </p:sp>
      <p:sp>
        <p:nvSpPr>
          <p:cNvPr id="42" name="Text 40"/>
          <p:cNvSpPr txBox="1"/>
          <p:nvPr/>
        </p:nvSpPr>
        <p:spPr>
          <a:xfrm>
            <a:off x="3200400" y="2093976"/>
            <a:ext cx="457200" cy="864108"/>
          </a:xfrm>
          <a:prstGeom prst="rect">
            <a:avLst/>
          </a:prstGeom>
          <a:noFill/>
          <a:ln/>
        </p:spPr>
        <p:txBody>
          <a:bodyPr wrap="square" lIns="0" tIns="0" rIns="0" bIns="0" rtlCol="0" anchor="ctr"/>
          <a:lstStyle/>
          <a:p>
            <a:pPr marL="0" indent="0">
              <a:buNone/>
            </a:pPr>
            <a:r>
              <a:rPr lang="en-US" sz="2400" dirty="0">
                <a:solidFill>
                  <a:srgbClr val="2B333C"/>
                </a:solidFill>
                <a:latin typeface="Pretendard Light" pitchFamily="34" charset="0"/>
                <a:ea typeface="Pretendard Light" pitchFamily="34" charset="-122"/>
                <a:cs typeface="Pretendard Light" pitchFamily="34" charset="-120"/>
              </a:rPr>
              <a:t>3</a:t>
            </a:r>
            <a:endParaRPr lang="en-US" sz="2400" dirty="0"/>
          </a:p>
        </p:txBody>
      </p:sp>
      <p:sp>
        <p:nvSpPr>
          <p:cNvPr id="43" name="Text 41"/>
          <p:cNvSpPr txBox="1"/>
          <p:nvPr/>
        </p:nvSpPr>
        <p:spPr>
          <a:xfrm>
            <a:off x="3703320" y="2093976"/>
            <a:ext cx="4892040" cy="864108"/>
          </a:xfrm>
          <a:prstGeom prst="rect">
            <a:avLst/>
          </a:prstGeom>
          <a:noFill/>
          <a:ln/>
        </p:spPr>
        <p:txBody>
          <a:bodyPr wrap="square" lIns="0" tIns="0" rIns="0" bIns="0" rtlCol="0" anchor="ctr"/>
          <a:lstStyle/>
          <a:p>
            <a:pPr marL="0" indent="0">
              <a:lnSpc>
                <a:spcPct val="115000"/>
              </a:lnSpc>
              <a:buNone/>
            </a:pPr>
            <a:r>
              <a:rPr lang="en-US" sz="1200" dirty="0">
                <a:solidFill>
                  <a:srgbClr val="2B333C"/>
                </a:solidFill>
                <a:latin typeface="Pretendard SemiBold" pitchFamily="34" charset="0"/>
                <a:ea typeface="Pretendard SemiBold" pitchFamily="34" charset="-122"/>
                <a:cs typeface="Pretendard SemiBold" pitchFamily="34" charset="-120"/>
              </a:rPr>
              <a:t>차지가 인계를 안 써도 못 막는다
</a:t>
            </a:r>
            <a:r>
              <a:rPr lang="en-US" sz="1000" dirty="0">
                <a:solidFill>
                  <a:srgbClr val="5A6069"/>
                </a:solidFill>
                <a:latin typeface="Pretendard" pitchFamily="34" charset="0"/>
                <a:ea typeface="Pretendard" pitchFamily="34" charset="-122"/>
                <a:cs typeface="Pretendard" pitchFamily="34" charset="-120"/>
              </a:rPr>
              <a:t>액팅이 "이건 적어 주세요"라고 한 걸 반영했는지 이력으로 남기는 건 범위 밖</a:t>
            </a:r>
            <a:endParaRPr lang="en-US" sz="1200" dirty="0"/>
          </a:p>
        </p:txBody>
      </p:sp>
      <p:sp>
        <p:nvSpPr>
          <p:cNvPr id="45" name="Text 43"/>
          <p:cNvSpPr txBox="1"/>
          <p:nvPr/>
        </p:nvSpPr>
        <p:spPr>
          <a:xfrm>
            <a:off x="3200400" y="2958084"/>
            <a:ext cx="457200" cy="864108"/>
          </a:xfrm>
          <a:prstGeom prst="rect">
            <a:avLst/>
          </a:prstGeom>
          <a:noFill/>
          <a:ln/>
        </p:spPr>
        <p:txBody>
          <a:bodyPr wrap="square" lIns="0" tIns="0" rIns="0" bIns="0" rtlCol="0" anchor="ctr"/>
          <a:lstStyle/>
          <a:p>
            <a:pPr marL="0" indent="0">
              <a:buNone/>
            </a:pPr>
            <a:r>
              <a:rPr lang="en-US" sz="2400" dirty="0">
                <a:solidFill>
                  <a:srgbClr val="2B333C"/>
                </a:solidFill>
                <a:latin typeface="Pretendard Light" pitchFamily="34" charset="0"/>
                <a:ea typeface="Pretendard Light" pitchFamily="34" charset="-122"/>
                <a:cs typeface="Pretendard Light" pitchFamily="34" charset="-120"/>
              </a:rPr>
              <a:t>4</a:t>
            </a:r>
            <a:endParaRPr lang="en-US" sz="2400" dirty="0"/>
          </a:p>
        </p:txBody>
      </p:sp>
      <p:sp>
        <p:nvSpPr>
          <p:cNvPr id="46" name="Text 44"/>
          <p:cNvSpPr txBox="1"/>
          <p:nvPr/>
        </p:nvSpPr>
        <p:spPr>
          <a:xfrm>
            <a:off x="3703320" y="2958084"/>
            <a:ext cx="4892040" cy="864108"/>
          </a:xfrm>
          <a:prstGeom prst="rect">
            <a:avLst/>
          </a:prstGeom>
          <a:noFill/>
          <a:ln/>
        </p:spPr>
        <p:txBody>
          <a:bodyPr wrap="square" lIns="0" tIns="0" rIns="0" bIns="0" rtlCol="0" anchor="ctr"/>
          <a:lstStyle/>
          <a:p>
            <a:pPr marL="0" indent="0">
              <a:lnSpc>
                <a:spcPct val="115000"/>
              </a:lnSpc>
              <a:buNone/>
            </a:pPr>
            <a:r>
              <a:rPr lang="en-US" sz="1200" dirty="0">
                <a:solidFill>
                  <a:srgbClr val="2B333C"/>
                </a:solidFill>
                <a:latin typeface="Pretendard SemiBold" pitchFamily="34" charset="0"/>
                <a:ea typeface="Pretendard SemiBold" pitchFamily="34" charset="-122"/>
                <a:cs typeface="Pretendard SemiBold" pitchFamily="34" charset="-120"/>
              </a:rPr>
              <a:t>확인해 준 분이 한 명
</a:t>
            </a:r>
            <a:r>
              <a:rPr lang="en-US" sz="1000" dirty="0">
                <a:solidFill>
                  <a:srgbClr val="5A6069"/>
                </a:solidFill>
                <a:latin typeface="Pretendard" pitchFamily="34" charset="0"/>
                <a:ea typeface="Pretendard" pitchFamily="34" charset="-122"/>
                <a:cs typeface="Pretendard" pitchFamily="34" charset="-120"/>
              </a:rPr>
              <a:t>간호사 화면은 한 분께 확인받았고, 수간호사 화면은 아직 가설</a:t>
            </a:r>
            <a:endParaRPr lang="en-US" sz="1200" dirty="0"/>
          </a:p>
        </p:txBody>
      </p:sp>
      <p:sp>
        <p:nvSpPr>
          <p:cNvPr id="48" name="Text 46"/>
          <p:cNvSpPr txBox="1"/>
          <p:nvPr/>
        </p:nvSpPr>
        <p:spPr>
          <a:xfrm>
            <a:off x="3200400" y="3792475"/>
            <a:ext cx="457200" cy="864108"/>
          </a:xfrm>
          <a:prstGeom prst="rect">
            <a:avLst/>
          </a:prstGeom>
          <a:noFill/>
          <a:ln/>
        </p:spPr>
        <p:txBody>
          <a:bodyPr wrap="square" lIns="0" tIns="0" rIns="0" bIns="0" rtlCol="0" anchor="ctr"/>
          <a:lstStyle/>
          <a:p>
            <a:pPr marL="0" indent="0">
              <a:buNone/>
            </a:pPr>
            <a:r>
              <a:rPr lang="en-US" sz="2400" dirty="0">
                <a:solidFill>
                  <a:srgbClr val="8C9199"/>
                </a:solidFill>
                <a:latin typeface="Pretendard Light" pitchFamily="34" charset="0"/>
                <a:ea typeface="Pretendard Light" pitchFamily="34" charset="-122"/>
                <a:cs typeface="Pretendard Light" pitchFamily="34" charset="-120"/>
              </a:rPr>
              <a:t>5</a:t>
            </a:r>
            <a:endParaRPr lang="en-US" sz="2400" dirty="0"/>
          </a:p>
        </p:txBody>
      </p:sp>
      <p:sp>
        <p:nvSpPr>
          <p:cNvPr id="49" name="Text 47"/>
          <p:cNvSpPr txBox="1"/>
          <p:nvPr/>
        </p:nvSpPr>
        <p:spPr>
          <a:xfrm>
            <a:off x="3703320" y="3822192"/>
            <a:ext cx="4892040" cy="864108"/>
          </a:xfrm>
          <a:prstGeom prst="rect">
            <a:avLst/>
          </a:prstGeom>
          <a:noFill/>
          <a:ln/>
        </p:spPr>
        <p:txBody>
          <a:bodyPr wrap="square" lIns="0" tIns="0" rIns="0" bIns="0" rtlCol="0" anchor="ctr"/>
          <a:lstStyle/>
          <a:p>
            <a:pPr marL="0" indent="0">
              <a:lnSpc>
                <a:spcPct val="115000"/>
              </a:lnSpc>
              <a:buNone/>
            </a:pPr>
            <a:r>
              <a:rPr lang="en-US" sz="1200" dirty="0">
                <a:solidFill>
                  <a:srgbClr val="2B333C"/>
                </a:solidFill>
                <a:latin typeface="Pretendard SemiBold" pitchFamily="34" charset="0"/>
                <a:ea typeface="Pretendard SemiBold" pitchFamily="34" charset="-122"/>
                <a:cs typeface="Pretendard SemiBold" pitchFamily="34" charset="-120"/>
              </a:rPr>
              <a:t>앞으로
</a:t>
            </a:r>
            <a:r>
              <a:rPr lang="en-US" sz="1000" dirty="0">
                <a:solidFill>
                  <a:srgbClr val="5A6069"/>
                </a:solidFill>
                <a:latin typeface="Pretendard" pitchFamily="34" charset="0"/>
                <a:ea typeface="Pretendard" pitchFamily="34" charset="-122"/>
                <a:cs typeface="Pretendard" pitchFamily="34" charset="-120"/>
              </a:rPr>
              <a:t>질문과 답변(참여자가 가장 먼저 요청한 것), 접근 기록, 팀원 명단, 역할 교환 이력. 누가 뭘 열어봤는지 남기는 기록이 없고, 같은 근무 팀원이 "오늘 우리 팀 차지가 누구인지" 보는 화면도 없다</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26</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07  고민한 것, 못 한 것</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C24A31"/>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써 본 사람의 말</a:t>
            </a:r>
            <a:endParaRPr lang="en-US" sz="2500" dirty="0"/>
          </a:p>
        </p:txBody>
      </p:sp>
      <p:sp>
        <p:nvSpPr>
          <p:cNvPr id="36" name="Text 34"/>
          <p:cNvSpPr txBox="1"/>
          <p:nvPr/>
        </p:nvSpPr>
        <p:spPr>
          <a:xfrm>
            <a:off x="548640" y="804672"/>
            <a:ext cx="8046720" cy="237744"/>
          </a:xfrm>
          <a:prstGeom prst="rect">
            <a:avLst/>
          </a:prstGeom>
          <a:noFill/>
          <a:ln/>
        </p:spPr>
        <p:txBody>
          <a:bodyPr wrap="square" lIns="0" tIns="0" rIns="0" bIns="0" rtlCol="0" anchor="ctr"/>
          <a:lstStyle/>
          <a:p>
            <a:pPr marL="0" indent="0">
              <a:buNone/>
            </a:pPr>
            <a:r>
              <a:rPr lang="en-US" sz="1200" dirty="0">
                <a:solidFill>
                  <a:srgbClr val="5A6069"/>
                </a:solidFill>
                <a:latin typeface="Pretendard Light" pitchFamily="34" charset="0"/>
                <a:ea typeface="Pretendard Light" pitchFamily="34" charset="-122"/>
                <a:cs typeface="Pretendard Light" pitchFamily="34" charset="-120"/>
              </a:rPr>
              <a:t>말한 그대로 옮겼다</a:t>
            </a:r>
            <a:endParaRPr lang="en-US" sz="1200" dirty="0"/>
          </a:p>
        </p:txBody>
      </p:sp>
      <p:sp>
        <p:nvSpPr>
          <p:cNvPr id="37" name="Shape 35"/>
          <p:cNvSpPr/>
          <p:nvPr/>
        </p:nvSpPr>
        <p:spPr>
          <a:xfrm rot="-90000">
            <a:off x="548640" y="1207008"/>
            <a:ext cx="4754880" cy="2743200"/>
          </a:xfrm>
          <a:prstGeom prst="rect">
            <a:avLst/>
          </a:prstGeom>
          <a:solidFill>
            <a:srgbClr val="FFF3B3"/>
          </a:solidFill>
          <a:ln/>
        </p:spPr>
        <p:txBody>
          <a:bodyPr/>
          <a:lstStyle/>
          <a:p>
            <a:endParaRPr/>
          </a:p>
        </p:txBody>
      </p:sp>
      <p:sp>
        <p:nvSpPr>
          <p:cNvPr id="38" name="Text 36"/>
          <p:cNvSpPr txBox="1"/>
          <p:nvPr/>
        </p:nvSpPr>
        <p:spPr>
          <a:xfrm rot="-90000">
            <a:off x="777240" y="1344168"/>
            <a:ext cx="4297680" cy="2468880"/>
          </a:xfrm>
          <a:prstGeom prst="rect">
            <a:avLst/>
          </a:prstGeom>
          <a:noFill/>
          <a:ln/>
        </p:spPr>
        <p:txBody>
          <a:bodyPr wrap="square" lIns="0" tIns="0" rIns="0" bIns="0" rtlCol="0" anchor="t"/>
          <a:lstStyle/>
          <a:p>
            <a:pPr marL="0" indent="0">
              <a:lnSpc>
                <a:spcPct val="115000"/>
              </a:lnSpc>
              <a:buNone/>
            </a:pPr>
            <a:r>
              <a:rPr lang="en-US" sz="1850" dirty="0">
                <a:solidFill>
                  <a:srgbClr val="2B333C"/>
                </a:solidFill>
                <a:latin typeface="Nanum Pen" pitchFamily="34" charset="0"/>
                <a:ea typeface="Nanum Pen" pitchFamily="34" charset="-122"/>
                <a:cs typeface="Nanum Pen" pitchFamily="34" charset="-120"/>
              </a:rPr>
              <a:t>UI는 불편함 없이 오히려 한눈에 인계를 확인할 수 </a:t>
            </a:r>
            <a:r>
              <a:rPr lang="en-US" sz="1850" dirty="0" err="1">
                <a:solidFill>
                  <a:srgbClr val="2B333C"/>
                </a:solidFill>
                <a:latin typeface="Nanum Pen" pitchFamily="34" charset="0"/>
                <a:ea typeface="Nanum Pen" pitchFamily="34" charset="-122"/>
                <a:cs typeface="Nanum Pen" pitchFamily="34" charset="-120"/>
              </a:rPr>
              <a:t>있어서</a:t>
            </a:r>
            <a:r>
              <a:rPr lang="en-US" sz="1850" dirty="0">
                <a:solidFill>
                  <a:srgbClr val="2B333C"/>
                </a:solidFill>
                <a:latin typeface="Nanum Pen" pitchFamily="34" charset="0"/>
                <a:ea typeface="Nanum Pen" pitchFamily="34" charset="-122"/>
                <a:cs typeface="Nanum Pen" pitchFamily="34" charset="-120"/>
              </a:rPr>
              <a:t> </a:t>
            </a:r>
            <a:r>
              <a:rPr lang="en-US" sz="1850" dirty="0" err="1">
                <a:solidFill>
                  <a:srgbClr val="2B333C"/>
                </a:solidFill>
                <a:latin typeface="Nanum Pen" pitchFamily="34" charset="0"/>
                <a:ea typeface="Nanum Pen" pitchFamily="34" charset="-122"/>
                <a:cs typeface="Nanum Pen" pitchFamily="34" charset="-120"/>
              </a:rPr>
              <a:t>좋았</a:t>
            </a:r>
            <a:r>
              <a:rPr lang="ko-KR" altLang="en-US" sz="1850" dirty="0">
                <a:solidFill>
                  <a:srgbClr val="2B333C"/>
                </a:solidFill>
                <a:latin typeface="Nanum Pen" pitchFamily="34" charset="0"/>
                <a:ea typeface="Nanum Pen" pitchFamily="34" charset="-122"/>
                <a:cs typeface="Nanum Pen" pitchFamily="34" charset="-120"/>
              </a:rPr>
              <a:t>어</a:t>
            </a:r>
            <a:r>
              <a:rPr lang="en-US" sz="1850" dirty="0">
                <a:solidFill>
                  <a:srgbClr val="2B333C"/>
                </a:solidFill>
                <a:latin typeface="Nanum Pen" pitchFamily="34" charset="0"/>
                <a:ea typeface="Nanum Pen" pitchFamily="34" charset="-122"/>
                <a:cs typeface="Nanum Pen" pitchFamily="34" charset="-120"/>
              </a:rPr>
              <a:t>. 다만 꼭 있으면 좋겠는 </a:t>
            </a:r>
            <a:r>
              <a:rPr lang="en-US" sz="1850" dirty="0" err="1">
                <a:solidFill>
                  <a:srgbClr val="2B333C"/>
                </a:solidFill>
                <a:latin typeface="Nanum Pen" pitchFamily="34" charset="0"/>
                <a:ea typeface="Nanum Pen" pitchFamily="34" charset="-122"/>
                <a:cs typeface="Nanum Pen" pitchFamily="34" charset="-120"/>
              </a:rPr>
              <a:t>기능이</a:t>
            </a:r>
            <a:r>
              <a:rPr lang="en-US" sz="1850" dirty="0">
                <a:solidFill>
                  <a:srgbClr val="2B333C"/>
                </a:solidFill>
                <a:latin typeface="Nanum Pen" pitchFamily="34" charset="0"/>
                <a:ea typeface="Nanum Pen" pitchFamily="34" charset="-122"/>
                <a:cs typeface="Nanum Pen" pitchFamily="34" charset="-120"/>
              </a:rPr>
              <a:t> </a:t>
            </a:r>
            <a:r>
              <a:rPr lang="en-US" sz="1850" dirty="0" err="1">
                <a:solidFill>
                  <a:srgbClr val="2B333C"/>
                </a:solidFill>
                <a:latin typeface="Nanum Pen" pitchFamily="34" charset="0"/>
                <a:ea typeface="Nanum Pen" pitchFamily="34" charset="-122"/>
                <a:cs typeface="Nanum Pen" pitchFamily="34" charset="-120"/>
              </a:rPr>
              <a:t>있</a:t>
            </a:r>
            <a:r>
              <a:rPr lang="ko-KR" altLang="en-US" sz="1850" dirty="0">
                <a:solidFill>
                  <a:srgbClr val="2B333C"/>
                </a:solidFill>
                <a:latin typeface="Nanum Pen" pitchFamily="34" charset="0"/>
                <a:ea typeface="Nanum Pen" pitchFamily="34" charset="-122"/>
                <a:cs typeface="Nanum Pen" pitchFamily="34" charset="-120"/>
              </a:rPr>
              <a:t>는데</a:t>
            </a:r>
            <a:r>
              <a:rPr lang="en-US" altLang="ko-KR" sz="1850" dirty="0">
                <a:solidFill>
                  <a:srgbClr val="2B333C"/>
                </a:solidFill>
                <a:latin typeface="Nanum Pen" pitchFamily="34" charset="0"/>
                <a:ea typeface="Nanum Pen" pitchFamily="34" charset="-122"/>
                <a:cs typeface="Nanum Pen" pitchFamily="34" charset="-120"/>
              </a:rPr>
              <a:t>..</a:t>
            </a:r>
            <a:r>
              <a:rPr lang="en-US" sz="1850" dirty="0">
                <a:solidFill>
                  <a:srgbClr val="2B333C"/>
                </a:solidFill>
                <a:latin typeface="Nanum Pen" pitchFamily="34" charset="0"/>
                <a:ea typeface="Nanum Pen" pitchFamily="34" charset="-122"/>
                <a:cs typeface="Nanum Pen" pitchFamily="34" charset="-120"/>
              </a:rPr>
              <a:t>. 인계 해준 사람한테 질문을 할 수 있는 </a:t>
            </a:r>
            <a:r>
              <a:rPr lang="en-US" sz="1850" dirty="0" err="1">
                <a:solidFill>
                  <a:srgbClr val="2B333C"/>
                </a:solidFill>
                <a:latin typeface="Nanum Pen" pitchFamily="34" charset="0"/>
                <a:ea typeface="Nanum Pen" pitchFamily="34" charset="-122"/>
                <a:cs typeface="Nanum Pen" pitchFamily="34" charset="-120"/>
              </a:rPr>
              <a:t>기능을</a:t>
            </a:r>
            <a:r>
              <a:rPr lang="en-US" sz="1850" dirty="0">
                <a:solidFill>
                  <a:srgbClr val="2B333C"/>
                </a:solidFill>
                <a:latin typeface="Nanum Pen" pitchFamily="34" charset="0"/>
                <a:ea typeface="Nanum Pen" pitchFamily="34" charset="-122"/>
                <a:cs typeface="Nanum Pen" pitchFamily="34" charset="-120"/>
              </a:rPr>
              <a:t> </a:t>
            </a:r>
            <a:r>
              <a:rPr lang="en-US" sz="1850" dirty="0" err="1">
                <a:solidFill>
                  <a:srgbClr val="2B333C"/>
                </a:solidFill>
                <a:latin typeface="Nanum Pen" pitchFamily="34" charset="0"/>
                <a:ea typeface="Nanum Pen" pitchFamily="34" charset="-122"/>
                <a:cs typeface="Nanum Pen" pitchFamily="34" charset="-120"/>
              </a:rPr>
              <a:t>추가</a:t>
            </a:r>
            <a:r>
              <a:rPr lang="ko-KR" altLang="en-US" sz="1850" dirty="0">
                <a:solidFill>
                  <a:srgbClr val="2B333C"/>
                </a:solidFill>
                <a:latin typeface="Nanum Pen" pitchFamily="34" charset="0"/>
                <a:ea typeface="Nanum Pen" pitchFamily="34" charset="-122"/>
                <a:cs typeface="Nanum Pen" pitchFamily="34" charset="-120"/>
              </a:rPr>
              <a:t>해줘</a:t>
            </a:r>
            <a:r>
              <a:rPr lang="en-US" sz="1850" dirty="0">
                <a:solidFill>
                  <a:srgbClr val="2B333C"/>
                </a:solidFill>
                <a:latin typeface="Nanum Pen" pitchFamily="34" charset="0"/>
                <a:ea typeface="Nanum Pen" pitchFamily="34" charset="-122"/>
                <a:cs typeface="Nanum Pen" pitchFamily="34" charset="-120"/>
              </a:rPr>
              <a:t>. 수간호사한테 결원 배정을 쉽게 할 수 있는 기능도 너무 도움이 될 것 같아. 옆에서 지켜봤을 때, 근무표 만드는 것도 힘들어 보이긴 했지만 그것보다 심사과에서 심사하러 올 때 잘보여야 되는데 처방 누락건이 종종 있어서 이거에 대하여 누락건 잡아내는 시스템이 있으면 </a:t>
            </a:r>
            <a:r>
              <a:rPr lang="en-US" sz="1850" dirty="0" err="1">
                <a:solidFill>
                  <a:srgbClr val="2B333C"/>
                </a:solidFill>
                <a:latin typeface="Nanum Pen" pitchFamily="34" charset="0"/>
                <a:ea typeface="Nanum Pen" pitchFamily="34" charset="-122"/>
                <a:cs typeface="Nanum Pen" pitchFamily="34" charset="-120"/>
              </a:rPr>
              <a:t>너무</a:t>
            </a:r>
            <a:r>
              <a:rPr lang="en-US" sz="1850" dirty="0">
                <a:solidFill>
                  <a:srgbClr val="2B333C"/>
                </a:solidFill>
                <a:latin typeface="Nanum Pen" pitchFamily="34" charset="0"/>
                <a:ea typeface="Nanum Pen" pitchFamily="34" charset="-122"/>
                <a:cs typeface="Nanum Pen" pitchFamily="34" charset="-120"/>
              </a:rPr>
              <a:t> </a:t>
            </a:r>
            <a:r>
              <a:rPr lang="en-US" sz="1850" dirty="0" err="1">
                <a:solidFill>
                  <a:srgbClr val="2B333C"/>
                </a:solidFill>
                <a:latin typeface="Nanum Pen" pitchFamily="34" charset="0"/>
                <a:ea typeface="Nanum Pen" pitchFamily="34" charset="-122"/>
                <a:cs typeface="Nanum Pen" pitchFamily="34" charset="-120"/>
              </a:rPr>
              <a:t>좋겠</a:t>
            </a:r>
            <a:r>
              <a:rPr lang="ko-KR" altLang="en-US" sz="1850" dirty="0" err="1">
                <a:solidFill>
                  <a:srgbClr val="2B333C"/>
                </a:solidFill>
                <a:latin typeface="Nanum Pen" pitchFamily="34" charset="0"/>
                <a:ea typeface="Nanum Pen" pitchFamily="34" charset="-122"/>
                <a:cs typeface="Nanum Pen" pitchFamily="34" charset="-120"/>
              </a:rPr>
              <a:t>엉</a:t>
            </a:r>
            <a:r>
              <a:rPr lang="en-US" sz="1850" dirty="0">
                <a:solidFill>
                  <a:srgbClr val="2B333C"/>
                </a:solidFill>
                <a:latin typeface="Nanum Pen" pitchFamily="34" charset="0"/>
                <a:ea typeface="Nanum Pen" pitchFamily="34" charset="-122"/>
                <a:cs typeface="Nanum Pen" pitchFamily="34" charset="-120"/>
              </a:rPr>
              <a:t>.</a:t>
            </a:r>
            <a:endParaRPr lang="en-US" sz="1850" dirty="0"/>
          </a:p>
        </p:txBody>
      </p:sp>
      <p:sp>
        <p:nvSpPr>
          <p:cNvPr id="39" name="Text 37"/>
          <p:cNvSpPr txBox="1"/>
          <p:nvPr/>
        </p:nvSpPr>
        <p:spPr>
          <a:xfrm>
            <a:off x="5669280" y="1207008"/>
            <a:ext cx="2926080" cy="274320"/>
          </a:xfrm>
          <a:prstGeom prst="rect">
            <a:avLst/>
          </a:prstGeom>
          <a:noFill/>
          <a:ln/>
        </p:spPr>
        <p:txBody>
          <a:bodyPr wrap="square" lIns="0" tIns="0" rIns="0" bIns="0" rtlCol="0" anchor="ctr"/>
          <a:lstStyle/>
          <a:p>
            <a:pPr marL="0" indent="0">
              <a:buNone/>
            </a:pPr>
            <a:r>
              <a:rPr lang="en-US" sz="1100" dirty="0">
                <a:solidFill>
                  <a:srgbClr val="2B333C"/>
                </a:solidFill>
                <a:latin typeface="Pretendard SemiBold" pitchFamily="34" charset="0"/>
                <a:ea typeface="Pretendard SemiBold" pitchFamily="34" charset="-122"/>
                <a:cs typeface="Pretendard SemiBold" pitchFamily="34" charset="-120"/>
              </a:rPr>
              <a:t>인계 기록에 대해 더 들은 것</a:t>
            </a:r>
            <a:endParaRPr lang="en-US" sz="1100" dirty="0"/>
          </a:p>
        </p:txBody>
      </p:sp>
      <p:sp>
        <p:nvSpPr>
          <p:cNvPr id="41" name="Text 39"/>
          <p:cNvSpPr txBox="1"/>
          <p:nvPr/>
        </p:nvSpPr>
        <p:spPr>
          <a:xfrm>
            <a:off x="5669280" y="1591056"/>
            <a:ext cx="2926080" cy="402336"/>
          </a:xfrm>
          <a:prstGeom prst="rect">
            <a:avLst/>
          </a:prstGeom>
          <a:noFill/>
          <a:ln/>
        </p:spPr>
        <p:txBody>
          <a:bodyPr wrap="square" lIns="0" tIns="0" rIns="0" bIns="0" rtlCol="0" anchor="ctr"/>
          <a:lstStyle/>
          <a:p>
            <a:pPr marL="0" indent="0">
              <a:lnSpc>
                <a:spcPct val="112000"/>
              </a:lnSpc>
              <a:buNone/>
            </a:pPr>
            <a:r>
              <a:rPr lang="en-US" sz="950" dirty="0">
                <a:solidFill>
                  <a:srgbClr val="5A6069"/>
                </a:solidFill>
                <a:latin typeface="Pretendard" pitchFamily="34" charset="0"/>
                <a:ea typeface="Pretendard" pitchFamily="34" charset="-122"/>
                <a:cs typeface="Pretendard" pitchFamily="34" charset="-120"/>
              </a:rPr>
              <a:t>실제로 인계 기록은 같은 병동이면 열람 자체는 권한이 필요 없다</a:t>
            </a:r>
            <a:endParaRPr lang="en-US" sz="950" dirty="0"/>
          </a:p>
        </p:txBody>
      </p:sp>
      <p:sp>
        <p:nvSpPr>
          <p:cNvPr id="43" name="Text 41"/>
          <p:cNvSpPr txBox="1"/>
          <p:nvPr/>
        </p:nvSpPr>
        <p:spPr>
          <a:xfrm>
            <a:off x="5669280" y="2048256"/>
            <a:ext cx="2926080" cy="402336"/>
          </a:xfrm>
          <a:prstGeom prst="rect">
            <a:avLst/>
          </a:prstGeom>
          <a:noFill/>
          <a:ln/>
        </p:spPr>
        <p:txBody>
          <a:bodyPr wrap="square" lIns="0" tIns="0" rIns="0" bIns="0" rtlCol="0" anchor="ctr"/>
          <a:lstStyle/>
          <a:p>
            <a:pPr marL="0" indent="0">
              <a:lnSpc>
                <a:spcPct val="112000"/>
              </a:lnSpc>
              <a:buNone/>
            </a:pPr>
            <a:r>
              <a:rPr lang="en-US" sz="950" dirty="0">
                <a:solidFill>
                  <a:srgbClr val="5A6069"/>
                </a:solidFill>
                <a:latin typeface="Pretendard" pitchFamily="34" charset="0"/>
                <a:ea typeface="Pretendard" pitchFamily="34" charset="-122"/>
                <a:cs typeface="Pretendard" pitchFamily="34" charset="-120"/>
              </a:rPr>
              <a:t>다만 당연히 차지가 써야 하고, 액팅은 암묵적으로 건드리지 않는다</a:t>
            </a:r>
            <a:endParaRPr lang="en-US" sz="950" dirty="0"/>
          </a:p>
        </p:txBody>
      </p:sp>
      <p:sp>
        <p:nvSpPr>
          <p:cNvPr id="45" name="Text 43"/>
          <p:cNvSpPr txBox="1"/>
          <p:nvPr/>
        </p:nvSpPr>
        <p:spPr>
          <a:xfrm>
            <a:off x="5669280" y="2505456"/>
            <a:ext cx="2926080" cy="694944"/>
          </a:xfrm>
          <a:prstGeom prst="rect">
            <a:avLst/>
          </a:prstGeom>
          <a:noFill/>
          <a:ln/>
        </p:spPr>
        <p:txBody>
          <a:bodyPr wrap="square" lIns="0" tIns="0" rIns="0" bIns="0" rtlCol="0" anchor="ctr"/>
          <a:lstStyle/>
          <a:p>
            <a:pPr marL="0" indent="0">
              <a:lnSpc>
                <a:spcPct val="112000"/>
              </a:lnSpc>
              <a:buNone/>
            </a:pPr>
            <a:r>
              <a:rPr lang="en-US" sz="950" dirty="0">
                <a:solidFill>
                  <a:srgbClr val="5A6069"/>
                </a:solidFill>
                <a:latin typeface="Pretendard" pitchFamily="34" charset="0"/>
                <a:ea typeface="Pretendard" pitchFamily="34" charset="-122"/>
                <a:cs typeface="Pretendard" pitchFamily="34" charset="-120"/>
              </a:rPr>
              <a:t>한 번 차지가 카덱스에서 "이거는 굳이 필요 없겠는데" 싶어 혼자 임의로 지운 기록이 나중에 알고 보니 진짜 중요한 기록이어서 문제가 된 적이 있었다</a:t>
            </a:r>
            <a:endParaRPr lang="en-US" sz="950" dirty="0"/>
          </a:p>
        </p:txBody>
      </p:sp>
      <p:sp>
        <p:nvSpPr>
          <p:cNvPr id="47" name="Text 45"/>
          <p:cNvSpPr txBox="1"/>
          <p:nvPr/>
        </p:nvSpPr>
        <p:spPr>
          <a:xfrm>
            <a:off x="5669280" y="3255264"/>
            <a:ext cx="2926080" cy="950976"/>
          </a:xfrm>
          <a:prstGeom prst="rect">
            <a:avLst/>
          </a:prstGeom>
          <a:noFill/>
          <a:ln/>
        </p:spPr>
        <p:txBody>
          <a:bodyPr wrap="square" lIns="0" tIns="0" rIns="0" bIns="0" rtlCol="0" anchor="ctr"/>
          <a:lstStyle/>
          <a:p>
            <a:pPr marL="0" indent="0">
              <a:lnSpc>
                <a:spcPct val="112000"/>
              </a:lnSpc>
              <a:buNone/>
            </a:pPr>
            <a:r>
              <a:rPr lang="en-US" sz="950" dirty="0">
                <a:solidFill>
                  <a:srgbClr val="5A6069"/>
                </a:solidFill>
                <a:latin typeface="Pretendard" pitchFamily="34" charset="0"/>
                <a:ea typeface="Pretendard" pitchFamily="34" charset="-122"/>
                <a:cs typeface="Pretendard" pitchFamily="34" charset="-120"/>
              </a:rPr>
              <a:t>그래서 인계 기록은 수간호사도 수정 없이, 오직 본인이 작성한 인계 기록만 수정 권한이 있으면 좋겠다. 시점상 인계를 넘기기 직전까지만 수정 가능하고, 넘기고 확인 후에는 본인도 수정·삭제 불가능한 게 올바르다고 동의</a:t>
            </a:r>
            <a:endParaRPr lang="en-US" sz="950" dirty="0"/>
          </a:p>
        </p:txBody>
      </p:sp>
      <p:sp>
        <p:nvSpPr>
          <p:cNvPr id="49" name="Text 47"/>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err="1">
                <a:solidFill>
                  <a:srgbClr val="8C9199"/>
                </a:solidFill>
                <a:latin typeface="Pretendard" pitchFamily="34" charset="0"/>
                <a:ea typeface="Pretendard" pitchFamily="34" charset="-122"/>
                <a:cs typeface="Pretendard" pitchFamily="34" charset="-120"/>
              </a:rPr>
              <a:t>현직</a:t>
            </a:r>
            <a:r>
              <a:rPr lang="en-US" sz="900" dirty="0">
                <a:solidFill>
                  <a:srgbClr val="8C9199"/>
                </a:solidFill>
                <a:latin typeface="Pretendard" pitchFamily="34" charset="0"/>
                <a:ea typeface="Pretendard" pitchFamily="34" charset="-122"/>
                <a:cs typeface="Pretendard" pitchFamily="34" charset="-120"/>
              </a:rPr>
              <a:t> 간호사 1명 · 데모를 써 본 뒤 대면으로 · 편의표본 · </a:t>
            </a:r>
            <a:r>
              <a:rPr lang="en-US" sz="900" dirty="0" err="1">
                <a:solidFill>
                  <a:srgbClr val="8C9199"/>
                </a:solidFill>
                <a:latin typeface="Pretendard" pitchFamily="34" charset="0"/>
                <a:ea typeface="Pretendard" pitchFamily="34" charset="-122"/>
                <a:cs typeface="Pretendard" pitchFamily="34" charset="-120"/>
              </a:rPr>
              <a:t>말한</a:t>
            </a:r>
            <a:r>
              <a:rPr lang="en-US" sz="900" dirty="0">
                <a:solidFill>
                  <a:srgbClr val="8C9199"/>
                </a:solidFill>
                <a:latin typeface="Pretendard" pitchFamily="34" charset="0"/>
                <a:ea typeface="Pretendard" pitchFamily="34" charset="-122"/>
                <a:cs typeface="Pretendard" pitchFamily="34" charset="-120"/>
              </a:rPr>
              <a:t> </a:t>
            </a:r>
            <a:r>
              <a:rPr lang="en-US" sz="900" dirty="0" err="1">
                <a:solidFill>
                  <a:srgbClr val="8C9199"/>
                </a:solidFill>
                <a:latin typeface="Pretendard" pitchFamily="34" charset="0"/>
                <a:ea typeface="Pretendard" pitchFamily="34" charset="-122"/>
                <a:cs typeface="Pretendard" pitchFamily="34" charset="-120"/>
              </a:rPr>
              <a:t>그대로</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19" name="Text 17"/>
          <p:cNvSpPr txBox="1"/>
          <p:nvPr/>
        </p:nvSpPr>
        <p:spPr>
          <a:xfrm>
            <a:off x="8138160" y="4832604"/>
            <a:ext cx="457200" cy="182880"/>
          </a:xfrm>
          <a:prstGeom prst="rect">
            <a:avLst/>
          </a:prstGeom>
          <a:noFill/>
          <a:ln/>
        </p:spPr>
        <p:txBody>
          <a:bodyPr wrap="square" lIns="0" tIns="0" rIns="0" bIns="0" rtlCol="0" anchor="ctr"/>
          <a:lstStyle/>
          <a:p>
            <a:pPr marL="0" indent="0" algn="r">
              <a:buNone/>
            </a:pPr>
            <a:r>
              <a:rPr lang="en-US" sz="800" dirty="0">
                <a:solidFill>
                  <a:srgbClr val="8C9199"/>
                </a:solidFill>
                <a:latin typeface="Pretendard Medium" pitchFamily="34" charset="0"/>
                <a:ea typeface="Pretendard Medium" pitchFamily="34" charset="-122"/>
                <a:cs typeface="Pretendard Medium" pitchFamily="34" charset="-120"/>
              </a:rPr>
              <a:t>27</a:t>
            </a:r>
            <a:endParaRPr lang="en-US" sz="800" dirty="0"/>
          </a:p>
        </p:txBody>
      </p:sp>
      <p:sp>
        <p:nvSpPr>
          <p:cNvPr id="20" name="Text 18"/>
          <p:cNvSpPr txBox="1"/>
          <p:nvPr/>
        </p:nvSpPr>
        <p:spPr>
          <a:xfrm>
            <a:off x="548640" y="4832604"/>
            <a:ext cx="4572000" cy="182880"/>
          </a:xfrm>
          <a:prstGeom prst="rect">
            <a:avLst/>
          </a:prstGeom>
          <a:noFill/>
          <a:ln/>
        </p:spPr>
        <p:txBody>
          <a:bodyPr wrap="square" lIns="0" tIns="0" rIns="0" bIns="0" rtlCol="0" anchor="ctr"/>
          <a:lstStyle/>
          <a:p>
            <a:pPr marL="0" indent="0">
              <a:buNone/>
            </a:pPr>
            <a:r>
              <a:rPr lang="en-US" sz="800" dirty="0">
                <a:solidFill>
                  <a:srgbClr val="8C9199"/>
                </a:solidFill>
                <a:latin typeface="Pretendard Medium" pitchFamily="34" charset="0"/>
                <a:ea typeface="Pretendard Medium" pitchFamily="34" charset="-122"/>
                <a:cs typeface="Pretendard Medium" pitchFamily="34" charset="-120"/>
              </a:rPr>
              <a:t>07  고민한 것, 못 한 것</a:t>
            </a:r>
            <a:endParaRPr lang="en-US" sz="800" dirty="0"/>
          </a:p>
        </p:txBody>
      </p:sp>
      <p:sp>
        <p:nvSpPr>
          <p:cNvPr id="21" name="Shape 19"/>
          <p:cNvSpPr/>
          <p:nvPr/>
        </p:nvSpPr>
        <p:spPr>
          <a:xfrm>
            <a:off x="73152" y="640080"/>
            <a:ext cx="182880" cy="420624"/>
          </a:xfrm>
          <a:prstGeom prst="rect">
            <a:avLst/>
          </a:prstGeom>
          <a:solidFill>
            <a:srgbClr val="ECEAE3"/>
          </a:solidFill>
          <a:ln/>
        </p:spPr>
        <p:txBody>
          <a:bodyPr/>
          <a:lstStyle/>
          <a:p>
            <a:endParaRPr/>
          </a:p>
        </p:txBody>
      </p:sp>
      <p:sp>
        <p:nvSpPr>
          <p:cNvPr id="22" name="Text 20"/>
          <p:cNvSpPr txBox="1"/>
          <p:nvPr/>
        </p:nvSpPr>
        <p:spPr>
          <a:xfrm>
            <a:off x="73152" y="64008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01</a:t>
            </a:r>
            <a:endParaRPr lang="en-US" sz="700" dirty="0"/>
          </a:p>
        </p:txBody>
      </p:sp>
      <p:sp>
        <p:nvSpPr>
          <p:cNvPr id="23" name="Shape 21"/>
          <p:cNvSpPr/>
          <p:nvPr/>
        </p:nvSpPr>
        <p:spPr>
          <a:xfrm>
            <a:off x="73152" y="1115568"/>
            <a:ext cx="182880" cy="420624"/>
          </a:xfrm>
          <a:prstGeom prst="rect">
            <a:avLst/>
          </a:prstGeom>
          <a:solidFill>
            <a:srgbClr val="ECEAE3"/>
          </a:solidFill>
          <a:ln/>
        </p:spPr>
        <p:txBody>
          <a:bodyPr/>
          <a:lstStyle/>
          <a:p>
            <a:endParaRPr/>
          </a:p>
        </p:txBody>
      </p:sp>
      <p:sp>
        <p:nvSpPr>
          <p:cNvPr id="24" name="Text 22"/>
          <p:cNvSpPr txBox="1"/>
          <p:nvPr/>
        </p:nvSpPr>
        <p:spPr>
          <a:xfrm>
            <a:off x="73152" y="1115568"/>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02</a:t>
            </a:r>
            <a:endParaRPr lang="en-US" sz="700" dirty="0"/>
          </a:p>
        </p:txBody>
      </p:sp>
      <p:sp>
        <p:nvSpPr>
          <p:cNvPr id="25" name="Shape 23"/>
          <p:cNvSpPr/>
          <p:nvPr/>
        </p:nvSpPr>
        <p:spPr>
          <a:xfrm>
            <a:off x="73152" y="1591056"/>
            <a:ext cx="182880" cy="420624"/>
          </a:xfrm>
          <a:prstGeom prst="rect">
            <a:avLst/>
          </a:prstGeom>
          <a:solidFill>
            <a:srgbClr val="ECEAE3"/>
          </a:solidFill>
          <a:ln/>
        </p:spPr>
        <p:txBody>
          <a:bodyPr/>
          <a:lstStyle/>
          <a:p>
            <a:endParaRPr/>
          </a:p>
        </p:txBody>
      </p:sp>
      <p:sp>
        <p:nvSpPr>
          <p:cNvPr id="26" name="Text 24"/>
          <p:cNvSpPr txBox="1"/>
          <p:nvPr/>
        </p:nvSpPr>
        <p:spPr>
          <a:xfrm>
            <a:off x="73152" y="1591056"/>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03</a:t>
            </a:r>
            <a:endParaRPr lang="en-US" sz="700" dirty="0"/>
          </a:p>
        </p:txBody>
      </p:sp>
      <p:sp>
        <p:nvSpPr>
          <p:cNvPr id="27" name="Shape 25"/>
          <p:cNvSpPr/>
          <p:nvPr/>
        </p:nvSpPr>
        <p:spPr>
          <a:xfrm>
            <a:off x="73152" y="2066544"/>
            <a:ext cx="182880" cy="420624"/>
          </a:xfrm>
          <a:prstGeom prst="rect">
            <a:avLst/>
          </a:prstGeom>
          <a:solidFill>
            <a:srgbClr val="ECEAE3"/>
          </a:solidFill>
          <a:ln/>
        </p:spPr>
        <p:txBody>
          <a:bodyPr/>
          <a:lstStyle/>
          <a:p>
            <a:endParaRPr/>
          </a:p>
        </p:txBody>
      </p:sp>
      <p:sp>
        <p:nvSpPr>
          <p:cNvPr id="28" name="Text 26"/>
          <p:cNvSpPr txBox="1"/>
          <p:nvPr/>
        </p:nvSpPr>
        <p:spPr>
          <a:xfrm>
            <a:off x="73152" y="2066544"/>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04</a:t>
            </a:r>
            <a:endParaRPr lang="en-US" sz="700" dirty="0"/>
          </a:p>
        </p:txBody>
      </p:sp>
      <p:sp>
        <p:nvSpPr>
          <p:cNvPr id="29" name="Shape 27"/>
          <p:cNvSpPr/>
          <p:nvPr/>
        </p:nvSpPr>
        <p:spPr>
          <a:xfrm>
            <a:off x="73152" y="2542032"/>
            <a:ext cx="182880" cy="420624"/>
          </a:xfrm>
          <a:prstGeom prst="rect">
            <a:avLst/>
          </a:prstGeom>
          <a:solidFill>
            <a:srgbClr val="ECEAE3"/>
          </a:solidFill>
          <a:ln/>
        </p:spPr>
        <p:txBody>
          <a:bodyPr/>
          <a:lstStyle/>
          <a:p>
            <a:endParaRPr/>
          </a:p>
        </p:txBody>
      </p:sp>
      <p:sp>
        <p:nvSpPr>
          <p:cNvPr id="30" name="Text 28"/>
          <p:cNvSpPr txBox="1"/>
          <p:nvPr/>
        </p:nvSpPr>
        <p:spPr>
          <a:xfrm>
            <a:off x="73152" y="2542032"/>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05</a:t>
            </a:r>
            <a:endParaRPr lang="en-US" sz="700" dirty="0"/>
          </a:p>
        </p:txBody>
      </p:sp>
      <p:sp>
        <p:nvSpPr>
          <p:cNvPr id="31" name="Shape 29"/>
          <p:cNvSpPr/>
          <p:nvPr/>
        </p:nvSpPr>
        <p:spPr>
          <a:xfrm>
            <a:off x="73152" y="3017520"/>
            <a:ext cx="182880" cy="420624"/>
          </a:xfrm>
          <a:prstGeom prst="rect">
            <a:avLst/>
          </a:prstGeom>
          <a:solidFill>
            <a:srgbClr val="ECEAE3"/>
          </a:solidFill>
          <a:ln/>
        </p:spPr>
        <p:txBody>
          <a:bodyPr/>
          <a:lstStyle/>
          <a:p>
            <a:endParaRPr/>
          </a:p>
        </p:txBody>
      </p:sp>
      <p:sp>
        <p:nvSpPr>
          <p:cNvPr id="32" name="Text 30"/>
          <p:cNvSpPr txBox="1"/>
          <p:nvPr/>
        </p:nvSpPr>
        <p:spPr>
          <a:xfrm>
            <a:off x="73152" y="3017520"/>
            <a:ext cx="182880" cy="420624"/>
          </a:xfrm>
          <a:prstGeom prst="rect">
            <a:avLst/>
          </a:prstGeom>
          <a:noFill/>
          <a:ln/>
        </p:spPr>
        <p:txBody>
          <a:bodyPr wrap="square" lIns="0" tIns="0" rIns="0" bIns="0" rtlCol="0" anchor="ctr"/>
          <a:lstStyle/>
          <a:p>
            <a:pPr marL="0" indent="0" algn="ctr">
              <a:buNone/>
            </a:pPr>
            <a:r>
              <a:rPr lang="en-US" sz="700" dirty="0">
                <a:solidFill>
                  <a:srgbClr val="8C9199"/>
                </a:solidFill>
                <a:latin typeface="Pretendard Medium" pitchFamily="34" charset="0"/>
                <a:ea typeface="Pretendard Medium" pitchFamily="34" charset="-122"/>
                <a:cs typeface="Pretendard Medium" pitchFamily="34" charset="-120"/>
              </a:rPr>
              <a:t>06</a:t>
            </a:r>
            <a:endParaRPr lang="en-US" sz="700" dirty="0"/>
          </a:p>
        </p:txBody>
      </p:sp>
      <p:sp>
        <p:nvSpPr>
          <p:cNvPr id="33" name="Shape 31"/>
          <p:cNvSpPr/>
          <p:nvPr/>
        </p:nvSpPr>
        <p:spPr>
          <a:xfrm>
            <a:off x="73152" y="3493008"/>
            <a:ext cx="182880" cy="420624"/>
          </a:xfrm>
          <a:prstGeom prst="rect">
            <a:avLst/>
          </a:prstGeom>
          <a:solidFill>
            <a:srgbClr val="C24A31"/>
          </a:solidFill>
          <a:ln/>
        </p:spPr>
        <p:txBody>
          <a:bodyPr/>
          <a:lstStyle/>
          <a:p>
            <a:endParaRPr/>
          </a:p>
        </p:txBody>
      </p:sp>
      <p:sp>
        <p:nvSpPr>
          <p:cNvPr id="34" name="Text 32"/>
          <p:cNvSpPr txBox="1"/>
          <p:nvPr/>
        </p:nvSpPr>
        <p:spPr>
          <a:xfrm>
            <a:off x="73152" y="3493008"/>
            <a:ext cx="182880" cy="420624"/>
          </a:xfrm>
          <a:prstGeom prst="rect">
            <a:avLst/>
          </a:prstGeom>
          <a:noFill/>
          <a:ln/>
        </p:spPr>
        <p:txBody>
          <a:bodyPr wrap="square" lIns="0" tIns="0" rIns="0" bIns="0" rtlCol="0" anchor="ctr"/>
          <a:lstStyle/>
          <a:p>
            <a:pPr marL="0" indent="0" algn="ctr">
              <a:buNone/>
            </a:pPr>
            <a:r>
              <a:rPr lang="en-US" sz="700" dirty="0">
                <a:solidFill>
                  <a:srgbClr val="FFFFFF"/>
                </a:solidFill>
                <a:latin typeface="Pretendard Medium" pitchFamily="34" charset="0"/>
                <a:ea typeface="Pretendard Medium" pitchFamily="34" charset="-122"/>
                <a:cs typeface="Pretendard Medium" pitchFamily="34" charset="-120"/>
              </a:rPr>
              <a:t>07</a:t>
            </a:r>
            <a:endParaRPr lang="en-US" sz="700" dirty="0"/>
          </a:p>
        </p:txBody>
      </p:sp>
      <p:sp>
        <p:nvSpPr>
          <p:cNvPr id="35" name="Text 33"/>
          <p:cNvSpPr txBox="1"/>
          <p:nvPr/>
        </p:nvSpPr>
        <p:spPr>
          <a:xfrm>
            <a:off x="548640" y="292608"/>
            <a:ext cx="8046720" cy="457200"/>
          </a:xfrm>
          <a:prstGeom prst="rect">
            <a:avLst/>
          </a:prstGeom>
          <a:noFill/>
          <a:ln/>
        </p:spPr>
        <p:txBody>
          <a:bodyPr wrap="square" lIns="0" tIns="0" rIns="0" bIns="0" rtlCol="0" anchor="ctr"/>
          <a:lstStyle/>
          <a:p>
            <a:pPr marL="0" indent="0">
              <a:buNone/>
            </a:pPr>
            <a:r>
              <a:rPr lang="en-US" sz="2500" kern="0" spc="-60" dirty="0">
                <a:solidFill>
                  <a:srgbClr val="2B333C"/>
                </a:solidFill>
                <a:latin typeface="Pretendard ExtraBold" pitchFamily="34" charset="0"/>
                <a:ea typeface="Pretendard ExtraBold" pitchFamily="34" charset="-122"/>
                <a:cs typeface="Pretendard ExtraBold" pitchFamily="34" charset="-120"/>
              </a:rPr>
              <a:t>어떻게 확인했나</a:t>
            </a:r>
            <a:endParaRPr lang="en-US" sz="2500" dirty="0"/>
          </a:p>
        </p:txBody>
      </p:sp>
      <p:sp>
        <p:nvSpPr>
          <p:cNvPr id="37" name="Text 35"/>
          <p:cNvSpPr txBox="1"/>
          <p:nvPr/>
        </p:nvSpPr>
        <p:spPr>
          <a:xfrm>
            <a:off x="548640" y="1097280"/>
            <a:ext cx="2499360" cy="512064"/>
          </a:xfrm>
          <a:prstGeom prst="rect">
            <a:avLst/>
          </a:prstGeom>
          <a:noFill/>
          <a:ln/>
        </p:spPr>
        <p:txBody>
          <a:bodyPr wrap="square" lIns="0" tIns="0" rIns="0" bIns="0" rtlCol="0" anchor="ctr"/>
          <a:lstStyle/>
          <a:p>
            <a:pPr marL="0" indent="0">
              <a:buNone/>
            </a:pPr>
            <a:r>
              <a:rPr lang="en-US" sz="3400" dirty="0">
                <a:solidFill>
                  <a:srgbClr val="C24A31"/>
                </a:solidFill>
                <a:latin typeface="Pretendard Light" pitchFamily="34" charset="0"/>
                <a:ea typeface="Pretendard Light" pitchFamily="34" charset="-122"/>
                <a:cs typeface="Pretendard Light" pitchFamily="34" charset="-120"/>
              </a:rPr>
              <a:t>1명</a:t>
            </a:r>
            <a:endParaRPr lang="en-US" sz="3400" dirty="0"/>
          </a:p>
        </p:txBody>
      </p:sp>
      <p:sp>
        <p:nvSpPr>
          <p:cNvPr id="38" name="Text 36"/>
          <p:cNvSpPr txBox="1"/>
          <p:nvPr/>
        </p:nvSpPr>
        <p:spPr>
          <a:xfrm>
            <a:off x="548640" y="1627632"/>
            <a:ext cx="2499360" cy="237744"/>
          </a:xfrm>
          <a:prstGeom prst="rect">
            <a:avLst/>
          </a:prstGeom>
          <a:noFill/>
          <a:ln/>
        </p:spPr>
        <p:txBody>
          <a:bodyPr wrap="square" lIns="0" tIns="0" rIns="0" bIns="0" rtlCol="0" anchor="ctr"/>
          <a:lstStyle/>
          <a:p>
            <a:pPr marL="0" indent="0">
              <a:buNone/>
            </a:pPr>
            <a:r>
              <a:rPr lang="en-US" sz="1150" dirty="0">
                <a:solidFill>
                  <a:srgbClr val="2B333C"/>
                </a:solidFill>
                <a:latin typeface="Pretendard SemiBold" pitchFamily="34" charset="0"/>
                <a:ea typeface="Pretendard SemiBold" pitchFamily="34" charset="-122"/>
                <a:cs typeface="Pretendard SemiBold" pitchFamily="34" charset="-120"/>
              </a:rPr>
              <a:t>인터뷰 1회 + 대면 세션 1회</a:t>
            </a:r>
            <a:endParaRPr lang="en-US" sz="1150" dirty="0"/>
          </a:p>
        </p:txBody>
      </p:sp>
      <p:sp>
        <p:nvSpPr>
          <p:cNvPr id="39" name="Text 37"/>
          <p:cNvSpPr txBox="1"/>
          <p:nvPr/>
        </p:nvSpPr>
        <p:spPr>
          <a:xfrm>
            <a:off x="548640" y="1883664"/>
            <a:ext cx="2499360" cy="548640"/>
          </a:xfrm>
          <a:prstGeom prst="rect">
            <a:avLst/>
          </a:prstGeom>
          <a:noFill/>
          <a:ln/>
        </p:spPr>
        <p:txBody>
          <a:bodyPr wrap="square" lIns="0" tIns="0" rIns="0" bIns="0" rtlCol="0" anchor="ctr"/>
          <a:lstStyle/>
          <a:p>
            <a:pPr marL="0" indent="0">
              <a:lnSpc>
                <a:spcPct val="120000"/>
              </a:lnSpc>
              <a:buNone/>
            </a:pPr>
            <a:r>
              <a:rPr lang="en-US" sz="1000" dirty="0">
                <a:solidFill>
                  <a:srgbClr val="5A6069"/>
                </a:solidFill>
                <a:latin typeface="Pretendard" pitchFamily="34" charset="0"/>
                <a:ea typeface="Pretendard" pitchFamily="34" charset="-122"/>
                <a:cs typeface="Pretendard" pitchFamily="34" charset="-120"/>
              </a:rPr>
              <a:t>국내 종합병원 병동 한 곳</a:t>
            </a:r>
            <a:endParaRPr lang="en-US" sz="1000" dirty="0"/>
          </a:p>
          <a:p>
            <a:pPr marL="0" indent="0">
              <a:lnSpc>
                <a:spcPct val="120000"/>
              </a:lnSpc>
              <a:buNone/>
            </a:pPr>
            <a:r>
              <a:rPr lang="en-US" sz="1000" dirty="0">
                <a:solidFill>
                  <a:srgbClr val="5A6069"/>
                </a:solidFill>
                <a:latin typeface="Pretendard" pitchFamily="34" charset="0"/>
                <a:ea typeface="Pretendard" pitchFamily="34" charset="-122"/>
                <a:cs typeface="Pretendard" pitchFamily="34" charset="-120"/>
              </a:rPr>
              <a:t>데모를 직접 써 </a:t>
            </a:r>
            <a:r>
              <a:rPr lang="en-US" sz="1000" dirty="0" err="1">
                <a:solidFill>
                  <a:srgbClr val="5A6069"/>
                </a:solidFill>
                <a:latin typeface="Pretendard" pitchFamily="34" charset="0"/>
                <a:ea typeface="Pretendard" pitchFamily="34" charset="-122"/>
                <a:cs typeface="Pretendard" pitchFamily="34" charset="-120"/>
              </a:rPr>
              <a:t>보게</a:t>
            </a:r>
            <a:r>
              <a:rPr lang="en-US" sz="1000" dirty="0">
                <a:solidFill>
                  <a:srgbClr val="5A6069"/>
                </a:solidFill>
                <a:latin typeface="Pretendard" pitchFamily="34" charset="0"/>
                <a:ea typeface="Pretendard" pitchFamily="34" charset="-122"/>
                <a:cs typeface="Pretendard" pitchFamily="34" charset="-120"/>
              </a:rPr>
              <a:t> </a:t>
            </a:r>
            <a:r>
              <a:rPr lang="en-US" sz="1000" dirty="0" err="1">
                <a:solidFill>
                  <a:srgbClr val="5A6069"/>
                </a:solidFill>
                <a:latin typeface="Pretendard" pitchFamily="34" charset="0"/>
                <a:ea typeface="Pretendard" pitchFamily="34" charset="-122"/>
                <a:cs typeface="Pretendard" pitchFamily="34" charset="-120"/>
              </a:rPr>
              <a:t>했다</a:t>
            </a:r>
            <a:endParaRPr lang="en-US" sz="1000" dirty="0"/>
          </a:p>
        </p:txBody>
      </p:sp>
      <p:sp>
        <p:nvSpPr>
          <p:cNvPr id="41" name="Text 39"/>
          <p:cNvSpPr txBox="1"/>
          <p:nvPr/>
        </p:nvSpPr>
        <p:spPr>
          <a:xfrm>
            <a:off x="3322320" y="1097280"/>
            <a:ext cx="2499360" cy="512064"/>
          </a:xfrm>
          <a:prstGeom prst="rect">
            <a:avLst/>
          </a:prstGeom>
          <a:noFill/>
          <a:ln/>
        </p:spPr>
        <p:txBody>
          <a:bodyPr wrap="square" lIns="0" tIns="0" rIns="0" bIns="0" rtlCol="0" anchor="ctr"/>
          <a:lstStyle/>
          <a:p>
            <a:pPr marL="0" indent="0">
              <a:buNone/>
            </a:pPr>
            <a:r>
              <a:rPr lang="en-US" sz="3400" dirty="0">
                <a:solidFill>
                  <a:srgbClr val="C24A31"/>
                </a:solidFill>
                <a:latin typeface="Pretendard Light" pitchFamily="34" charset="0"/>
                <a:ea typeface="Pretendard Light" pitchFamily="34" charset="-122"/>
                <a:cs typeface="Pretendard Light" pitchFamily="34" charset="-120"/>
              </a:rPr>
              <a:t>31</a:t>
            </a:r>
            <a:endParaRPr lang="en-US" sz="3400" dirty="0"/>
          </a:p>
        </p:txBody>
      </p:sp>
      <p:sp>
        <p:nvSpPr>
          <p:cNvPr id="42" name="Text 40"/>
          <p:cNvSpPr txBox="1"/>
          <p:nvPr/>
        </p:nvSpPr>
        <p:spPr>
          <a:xfrm>
            <a:off x="3322320" y="1627632"/>
            <a:ext cx="2499360" cy="237744"/>
          </a:xfrm>
          <a:prstGeom prst="rect">
            <a:avLst/>
          </a:prstGeom>
          <a:noFill/>
          <a:ln/>
        </p:spPr>
        <p:txBody>
          <a:bodyPr wrap="square" lIns="0" tIns="0" rIns="0" bIns="0" rtlCol="0" anchor="ctr"/>
          <a:lstStyle/>
          <a:p>
            <a:pPr marL="0" indent="0">
              <a:buNone/>
            </a:pPr>
            <a:r>
              <a:rPr lang="en-US" sz="1150" dirty="0">
                <a:solidFill>
                  <a:srgbClr val="2B333C"/>
                </a:solidFill>
                <a:latin typeface="Pretendard SemiBold" pitchFamily="34" charset="0"/>
                <a:ea typeface="Pretendard SemiBold" pitchFamily="34" charset="-122"/>
                <a:cs typeface="Pretendard SemiBold" pitchFamily="34" charset="-120"/>
              </a:rPr>
              <a:t>리뷰 라운드</a:t>
            </a:r>
            <a:endParaRPr lang="en-US" sz="1150" dirty="0"/>
          </a:p>
        </p:txBody>
      </p:sp>
      <p:sp>
        <p:nvSpPr>
          <p:cNvPr id="43" name="Text 41"/>
          <p:cNvSpPr txBox="1"/>
          <p:nvPr/>
        </p:nvSpPr>
        <p:spPr>
          <a:xfrm>
            <a:off x="3322320" y="1883664"/>
            <a:ext cx="2499360" cy="548640"/>
          </a:xfrm>
          <a:prstGeom prst="rect">
            <a:avLst/>
          </a:prstGeom>
          <a:noFill/>
          <a:ln/>
        </p:spPr>
        <p:txBody>
          <a:bodyPr wrap="square" lIns="0" tIns="0" rIns="0" bIns="0" rtlCol="0" anchor="ctr"/>
          <a:lstStyle/>
          <a:p>
            <a:pPr marL="0" indent="0">
              <a:lnSpc>
                <a:spcPct val="120000"/>
              </a:lnSpc>
              <a:buNone/>
            </a:pPr>
            <a:r>
              <a:rPr lang="en-US" sz="1000" dirty="0">
                <a:solidFill>
                  <a:srgbClr val="5A6069"/>
                </a:solidFill>
                <a:latin typeface="Pretendard" pitchFamily="34" charset="0"/>
                <a:ea typeface="Pretendard" pitchFamily="34" charset="-122"/>
                <a:cs typeface="Pretendard" pitchFamily="34" charset="-120"/>
              </a:rPr>
              <a:t>외부 AI 리뷰와 자체 점검</a:t>
            </a:r>
            <a:endParaRPr lang="en-US" sz="1000" dirty="0"/>
          </a:p>
          <a:p>
            <a:pPr marL="0" indent="0">
              <a:lnSpc>
                <a:spcPct val="120000"/>
              </a:lnSpc>
              <a:buNone/>
            </a:pPr>
            <a:r>
              <a:rPr lang="en-US" sz="1000" dirty="0">
                <a:solidFill>
                  <a:srgbClr val="5A6069"/>
                </a:solidFill>
                <a:latin typeface="Pretendard" pitchFamily="34" charset="0"/>
                <a:ea typeface="Pretendard" pitchFamily="34" charset="-122"/>
                <a:cs typeface="Pretendard" pitchFamily="34" charset="-120"/>
              </a:rPr>
              <a:t>사실이 아닌 걸로 밝혀진 가정 네 개를 기록으로</a:t>
            </a:r>
            <a:endParaRPr lang="en-US" sz="1000" dirty="0"/>
          </a:p>
        </p:txBody>
      </p:sp>
      <p:sp>
        <p:nvSpPr>
          <p:cNvPr id="45" name="Text 43"/>
          <p:cNvSpPr txBox="1"/>
          <p:nvPr/>
        </p:nvSpPr>
        <p:spPr>
          <a:xfrm>
            <a:off x="6096000" y="1097280"/>
            <a:ext cx="2499360" cy="512064"/>
          </a:xfrm>
          <a:prstGeom prst="rect">
            <a:avLst/>
          </a:prstGeom>
          <a:noFill/>
          <a:ln/>
        </p:spPr>
        <p:txBody>
          <a:bodyPr wrap="square" lIns="0" tIns="0" rIns="0" bIns="0" rtlCol="0" anchor="ctr"/>
          <a:lstStyle/>
          <a:p>
            <a:pPr marL="0" indent="0">
              <a:buNone/>
            </a:pPr>
            <a:r>
              <a:rPr lang="en-US" sz="3400" dirty="0">
                <a:solidFill>
                  <a:srgbClr val="C24A31"/>
                </a:solidFill>
                <a:latin typeface="Pretendard Light" pitchFamily="34" charset="0"/>
                <a:ea typeface="Pretendard Light" pitchFamily="34" charset="-122"/>
                <a:cs typeface="Pretendard Light" pitchFamily="34" charset="-120"/>
              </a:rPr>
              <a:t>50/50</a:t>
            </a:r>
            <a:endParaRPr lang="en-US" sz="3400" dirty="0"/>
          </a:p>
        </p:txBody>
      </p:sp>
      <p:sp>
        <p:nvSpPr>
          <p:cNvPr id="46" name="Text 44"/>
          <p:cNvSpPr txBox="1"/>
          <p:nvPr/>
        </p:nvSpPr>
        <p:spPr>
          <a:xfrm>
            <a:off x="6096000" y="1627632"/>
            <a:ext cx="2499360" cy="237744"/>
          </a:xfrm>
          <a:prstGeom prst="rect">
            <a:avLst/>
          </a:prstGeom>
          <a:noFill/>
          <a:ln/>
        </p:spPr>
        <p:txBody>
          <a:bodyPr wrap="square" lIns="0" tIns="0" rIns="0" bIns="0" rtlCol="0" anchor="ctr"/>
          <a:lstStyle/>
          <a:p>
            <a:pPr marL="0" indent="0">
              <a:buNone/>
            </a:pPr>
            <a:r>
              <a:rPr lang="en-US" sz="1150" dirty="0">
                <a:solidFill>
                  <a:srgbClr val="2B333C"/>
                </a:solidFill>
                <a:latin typeface="Pretendard SemiBold" pitchFamily="34" charset="0"/>
                <a:ea typeface="Pretendard SemiBold" pitchFamily="34" charset="-122"/>
                <a:cs typeface="Pretendard SemiBold" pitchFamily="34" charset="-120"/>
              </a:rPr>
              <a:t>실제로 돌려봄</a:t>
            </a:r>
            <a:endParaRPr lang="en-US" sz="1150" dirty="0"/>
          </a:p>
        </p:txBody>
      </p:sp>
      <p:sp>
        <p:nvSpPr>
          <p:cNvPr id="47" name="Text 45"/>
          <p:cNvSpPr txBox="1"/>
          <p:nvPr/>
        </p:nvSpPr>
        <p:spPr>
          <a:xfrm>
            <a:off x="6096000" y="1883664"/>
            <a:ext cx="2499360" cy="548640"/>
          </a:xfrm>
          <a:prstGeom prst="rect">
            <a:avLst/>
          </a:prstGeom>
          <a:noFill/>
          <a:ln/>
        </p:spPr>
        <p:txBody>
          <a:bodyPr wrap="square" lIns="0" tIns="0" rIns="0" bIns="0" rtlCol="0" anchor="ctr"/>
          <a:lstStyle/>
          <a:p>
            <a:pPr marL="0" indent="0">
              <a:lnSpc>
                <a:spcPct val="120000"/>
              </a:lnSpc>
              <a:buNone/>
            </a:pPr>
            <a:r>
              <a:rPr lang="en-US" sz="1000" dirty="0">
                <a:solidFill>
                  <a:srgbClr val="5A6069"/>
                </a:solidFill>
                <a:latin typeface="Pretendard" pitchFamily="34" charset="0"/>
                <a:ea typeface="Pretendard" pitchFamily="34" charset="-122"/>
                <a:cs typeface="Pretendard" pitchFamily="34" charset="-120"/>
              </a:rPr>
              <a:t>가상 데이터 데모로 규칙을 전부 실행</a:t>
            </a:r>
            <a:endParaRPr lang="en-US" sz="1000" dirty="0"/>
          </a:p>
          <a:p>
            <a:pPr marL="0" indent="0">
              <a:lnSpc>
                <a:spcPct val="120000"/>
              </a:lnSpc>
              <a:buNone/>
            </a:pPr>
            <a:r>
              <a:rPr lang="en-US" sz="1000" dirty="0">
                <a:solidFill>
                  <a:srgbClr val="5A6069"/>
                </a:solidFill>
                <a:latin typeface="Pretendard" pitchFamily="34" charset="0"/>
                <a:ea typeface="Pretendard" pitchFamily="34" charset="-122"/>
                <a:cs typeface="Pretendard" pitchFamily="34" charset="-120"/>
              </a:rPr>
              <a:t>화면이 받는 값과 명세가 어긋나는 곳 0</a:t>
            </a:r>
            <a:endParaRPr lang="en-US" sz="1000" dirty="0"/>
          </a:p>
        </p:txBody>
      </p:sp>
      <p:sp>
        <p:nvSpPr>
          <p:cNvPr id="48" name="Shape 46"/>
          <p:cNvSpPr/>
          <p:nvPr/>
        </p:nvSpPr>
        <p:spPr>
          <a:xfrm>
            <a:off x="548640" y="2697480"/>
            <a:ext cx="45720" cy="1188720"/>
          </a:xfrm>
          <a:prstGeom prst="rect">
            <a:avLst/>
          </a:prstGeom>
          <a:solidFill>
            <a:srgbClr val="C24A31"/>
          </a:solidFill>
          <a:ln/>
        </p:spPr>
        <p:txBody>
          <a:bodyPr/>
          <a:lstStyle/>
          <a:p>
            <a:endParaRPr/>
          </a:p>
        </p:txBody>
      </p:sp>
      <p:sp>
        <p:nvSpPr>
          <p:cNvPr id="49" name="Text 47"/>
          <p:cNvSpPr txBox="1"/>
          <p:nvPr/>
        </p:nvSpPr>
        <p:spPr>
          <a:xfrm>
            <a:off x="768096" y="2697480"/>
            <a:ext cx="7772400" cy="548640"/>
          </a:xfrm>
          <a:prstGeom prst="rect">
            <a:avLst/>
          </a:prstGeom>
          <a:noFill/>
          <a:ln/>
        </p:spPr>
        <p:txBody>
          <a:bodyPr wrap="square" lIns="0" tIns="0" rIns="0" bIns="0" rtlCol="0" anchor="ctr"/>
          <a:lstStyle/>
          <a:p>
            <a:pPr marL="0" indent="0">
              <a:lnSpc>
                <a:spcPct val="120000"/>
              </a:lnSpc>
              <a:buNone/>
            </a:pPr>
            <a:r>
              <a:rPr lang="en-US" sz="1150" dirty="0">
                <a:solidFill>
                  <a:srgbClr val="2B333C"/>
                </a:solidFill>
                <a:latin typeface="Pretendard SemiBold" pitchFamily="34" charset="0"/>
                <a:ea typeface="Pretendard SemiBold" pitchFamily="34" charset="-122"/>
                <a:cs typeface="Pretendard SemiBold" pitchFamily="34" charset="-120"/>
              </a:rPr>
              <a:t>국내 종합병원 병동 한 곳의 운영 방식을 기준으로 설계했습니다. 현직 간호사 한 분께 확인했고, 병동마다 운영이 다르다는 것도 같은 분께 들었습니다.</a:t>
            </a:r>
            <a:endParaRPr lang="en-US" sz="1150" dirty="0"/>
          </a:p>
        </p:txBody>
      </p:sp>
      <p:sp>
        <p:nvSpPr>
          <p:cNvPr id="50" name="Text 48"/>
          <p:cNvSpPr txBox="1"/>
          <p:nvPr/>
        </p:nvSpPr>
        <p:spPr>
          <a:xfrm>
            <a:off x="768096" y="3282696"/>
            <a:ext cx="7772400" cy="603504"/>
          </a:xfrm>
          <a:prstGeom prst="rect">
            <a:avLst/>
          </a:prstGeom>
          <a:noFill/>
          <a:ln/>
        </p:spPr>
        <p:txBody>
          <a:bodyPr wrap="square" lIns="0" tIns="0" rIns="0" bIns="0" rtlCol="0" anchor="ctr"/>
          <a:lstStyle/>
          <a:p>
            <a:pPr marL="0" indent="0">
              <a:lnSpc>
                <a:spcPct val="120000"/>
              </a:lnSpc>
              <a:buNone/>
            </a:pPr>
            <a:r>
              <a:rPr lang="en-US" sz="1150" dirty="0">
                <a:solidFill>
                  <a:srgbClr val="5A6069"/>
                </a:solidFill>
                <a:latin typeface="Pretendard" pitchFamily="34" charset="0"/>
                <a:ea typeface="Pretendard" pitchFamily="34" charset="-122"/>
                <a:cs typeface="Pretendard" pitchFamily="34" charset="-120"/>
              </a:rPr>
              <a:t>공식 의무기록은 병원 전산이 맡습니다. 인계 메모는 그와 따로 관리됩니다. 이 서비스는 그 인계 메모를 맡아서, 누가 썼고 누가 받아 확인했고 무엇이 바뀌었는지를 남깁니다.</a:t>
            </a:r>
            <a:endParaRPr lang="en-US" sz="1150" dirty="0"/>
          </a:p>
        </p:txBody>
      </p:sp>
      <p:sp>
        <p:nvSpPr>
          <p:cNvPr id="52" name="Text 50"/>
          <p:cNvSpPr txBox="1"/>
          <p:nvPr/>
        </p:nvSpPr>
        <p:spPr>
          <a:xfrm>
            <a:off x="548640" y="4613148"/>
            <a:ext cx="8046720" cy="201168"/>
          </a:xfrm>
          <a:prstGeom prst="rect">
            <a:avLst/>
          </a:prstGeom>
          <a:noFill/>
          <a:ln/>
        </p:spPr>
        <p:txBody>
          <a:bodyPr wrap="square" lIns="0" tIns="0" rIns="0" bIns="0" rtlCol="0" anchor="ctr"/>
          <a:lstStyle/>
          <a:p>
            <a:pPr marL="0" indent="0">
              <a:buNone/>
            </a:pPr>
            <a:r>
              <a:rPr lang="en-US" sz="900" dirty="0">
                <a:solidFill>
                  <a:srgbClr val="8C9199"/>
                </a:solidFill>
                <a:latin typeface="Pretendard" pitchFamily="34" charset="0"/>
                <a:ea typeface="Pretendard" pitchFamily="34" charset="-122"/>
                <a:cs typeface="Pretendard" pitchFamily="34" charset="-120"/>
              </a:rPr>
              <a:t>근무표가 끝나는 지점에서 시작한다. 누가 인계를 맡았고, 누가 받아 확인했는지</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9F8F4"/>
        </a:solidFill>
        <a:effectLst/>
      </p:bgPr>
    </p:bg>
    <p:spTree>
      <p:nvGrpSpPr>
        <p:cNvPr id="1" name=""/>
        <p:cNvGrpSpPr/>
        <p:nvPr/>
      </p:nvGrpSpPr>
      <p:grpSpPr>
        <a:xfrm>
          <a:off x="0" y="0"/>
          <a:ext cx="0" cy="0"/>
          <a:chOff x="0" y="0"/>
          <a:chExt cx="0" cy="0"/>
        </a:xfrm>
      </p:grpSpPr>
      <p:sp>
        <p:nvSpPr>
          <p:cNvPr id="2" name="Shape 0"/>
          <p:cNvSpPr/>
          <p:nvPr/>
        </p:nvSpPr>
        <p:spPr>
          <a:xfrm>
            <a:off x="548640" y="822960"/>
            <a:ext cx="8046720" cy="0"/>
          </a:xfrm>
          <a:prstGeom prst="line">
            <a:avLst/>
          </a:prstGeom>
          <a:noFill/>
          <a:ln w="6350">
            <a:solidFill>
              <a:srgbClr val="EFEDE7"/>
            </a:solidFill>
            <a:prstDash val="solid"/>
          </a:ln>
        </p:spPr>
        <p:txBody>
          <a:bodyPr/>
          <a:lstStyle/>
          <a:p>
            <a:endParaRPr/>
          </a:p>
        </p:txBody>
      </p:sp>
      <p:sp>
        <p:nvSpPr>
          <p:cNvPr id="3" name="Shape 1"/>
          <p:cNvSpPr/>
          <p:nvPr/>
        </p:nvSpPr>
        <p:spPr>
          <a:xfrm>
            <a:off x="548640" y="1051560"/>
            <a:ext cx="8046720" cy="0"/>
          </a:xfrm>
          <a:prstGeom prst="line">
            <a:avLst/>
          </a:prstGeom>
          <a:noFill/>
          <a:ln w="6350">
            <a:solidFill>
              <a:srgbClr val="EFEDE7"/>
            </a:solidFill>
            <a:prstDash val="solid"/>
          </a:ln>
        </p:spPr>
        <p:txBody>
          <a:bodyPr/>
          <a:lstStyle/>
          <a:p>
            <a:endParaRPr/>
          </a:p>
        </p:txBody>
      </p:sp>
      <p:sp>
        <p:nvSpPr>
          <p:cNvPr id="4" name="Shape 2"/>
          <p:cNvSpPr/>
          <p:nvPr/>
        </p:nvSpPr>
        <p:spPr>
          <a:xfrm>
            <a:off x="548640" y="1280160"/>
            <a:ext cx="8046720" cy="0"/>
          </a:xfrm>
          <a:prstGeom prst="line">
            <a:avLst/>
          </a:prstGeom>
          <a:noFill/>
          <a:ln w="6350">
            <a:solidFill>
              <a:srgbClr val="EFEDE7"/>
            </a:solidFill>
            <a:prstDash val="solid"/>
          </a:ln>
        </p:spPr>
        <p:txBody>
          <a:bodyPr/>
          <a:lstStyle/>
          <a:p>
            <a:endParaRPr/>
          </a:p>
        </p:txBody>
      </p:sp>
      <p:sp>
        <p:nvSpPr>
          <p:cNvPr id="5" name="Shape 3"/>
          <p:cNvSpPr/>
          <p:nvPr/>
        </p:nvSpPr>
        <p:spPr>
          <a:xfrm>
            <a:off x="548640" y="1508760"/>
            <a:ext cx="8046720" cy="0"/>
          </a:xfrm>
          <a:prstGeom prst="line">
            <a:avLst/>
          </a:prstGeom>
          <a:noFill/>
          <a:ln w="6350">
            <a:solidFill>
              <a:srgbClr val="EFEDE7"/>
            </a:solidFill>
            <a:prstDash val="solid"/>
          </a:ln>
        </p:spPr>
        <p:txBody>
          <a:bodyPr/>
          <a:lstStyle/>
          <a:p>
            <a:endParaRPr/>
          </a:p>
        </p:txBody>
      </p:sp>
      <p:sp>
        <p:nvSpPr>
          <p:cNvPr id="6" name="Shape 4"/>
          <p:cNvSpPr/>
          <p:nvPr/>
        </p:nvSpPr>
        <p:spPr>
          <a:xfrm>
            <a:off x="548640" y="1737360"/>
            <a:ext cx="8046720" cy="0"/>
          </a:xfrm>
          <a:prstGeom prst="line">
            <a:avLst/>
          </a:prstGeom>
          <a:noFill/>
          <a:ln w="6350">
            <a:solidFill>
              <a:srgbClr val="EFEDE7"/>
            </a:solidFill>
            <a:prstDash val="solid"/>
          </a:ln>
        </p:spPr>
        <p:txBody>
          <a:bodyPr/>
          <a:lstStyle/>
          <a:p>
            <a:endParaRPr/>
          </a:p>
        </p:txBody>
      </p:sp>
      <p:sp>
        <p:nvSpPr>
          <p:cNvPr id="7" name="Shape 5"/>
          <p:cNvSpPr/>
          <p:nvPr/>
        </p:nvSpPr>
        <p:spPr>
          <a:xfrm>
            <a:off x="548640" y="1965960"/>
            <a:ext cx="8046720" cy="0"/>
          </a:xfrm>
          <a:prstGeom prst="line">
            <a:avLst/>
          </a:prstGeom>
          <a:noFill/>
          <a:ln w="6350">
            <a:solidFill>
              <a:srgbClr val="EFEDE7"/>
            </a:solidFill>
            <a:prstDash val="solid"/>
          </a:ln>
        </p:spPr>
        <p:txBody>
          <a:bodyPr/>
          <a:lstStyle/>
          <a:p>
            <a:endParaRPr/>
          </a:p>
        </p:txBody>
      </p:sp>
      <p:sp>
        <p:nvSpPr>
          <p:cNvPr id="8" name="Shape 6"/>
          <p:cNvSpPr/>
          <p:nvPr/>
        </p:nvSpPr>
        <p:spPr>
          <a:xfrm>
            <a:off x="548640" y="2194560"/>
            <a:ext cx="8046720" cy="0"/>
          </a:xfrm>
          <a:prstGeom prst="line">
            <a:avLst/>
          </a:prstGeom>
          <a:noFill/>
          <a:ln w="6350">
            <a:solidFill>
              <a:srgbClr val="EFEDE7"/>
            </a:solidFill>
            <a:prstDash val="solid"/>
          </a:ln>
        </p:spPr>
        <p:txBody>
          <a:bodyPr/>
          <a:lstStyle/>
          <a:p>
            <a:endParaRPr/>
          </a:p>
        </p:txBody>
      </p:sp>
      <p:sp>
        <p:nvSpPr>
          <p:cNvPr id="9" name="Shape 7"/>
          <p:cNvSpPr/>
          <p:nvPr/>
        </p:nvSpPr>
        <p:spPr>
          <a:xfrm>
            <a:off x="548640" y="2423160"/>
            <a:ext cx="8046720" cy="0"/>
          </a:xfrm>
          <a:prstGeom prst="line">
            <a:avLst/>
          </a:prstGeom>
          <a:noFill/>
          <a:ln w="6350">
            <a:solidFill>
              <a:srgbClr val="EFEDE7"/>
            </a:solidFill>
            <a:prstDash val="solid"/>
          </a:ln>
        </p:spPr>
        <p:txBody>
          <a:bodyPr/>
          <a:lstStyle/>
          <a:p>
            <a:endParaRPr/>
          </a:p>
        </p:txBody>
      </p:sp>
      <p:sp>
        <p:nvSpPr>
          <p:cNvPr id="10" name="Shape 8"/>
          <p:cNvSpPr/>
          <p:nvPr/>
        </p:nvSpPr>
        <p:spPr>
          <a:xfrm>
            <a:off x="548640" y="2651760"/>
            <a:ext cx="8046720" cy="0"/>
          </a:xfrm>
          <a:prstGeom prst="line">
            <a:avLst/>
          </a:prstGeom>
          <a:noFill/>
          <a:ln w="6350">
            <a:solidFill>
              <a:srgbClr val="EFEDE7"/>
            </a:solidFill>
            <a:prstDash val="solid"/>
          </a:ln>
        </p:spPr>
        <p:txBody>
          <a:bodyPr/>
          <a:lstStyle/>
          <a:p>
            <a:endParaRPr/>
          </a:p>
        </p:txBody>
      </p:sp>
      <p:sp>
        <p:nvSpPr>
          <p:cNvPr id="11" name="Shape 9"/>
          <p:cNvSpPr/>
          <p:nvPr/>
        </p:nvSpPr>
        <p:spPr>
          <a:xfrm>
            <a:off x="548640" y="2880360"/>
            <a:ext cx="8046720" cy="0"/>
          </a:xfrm>
          <a:prstGeom prst="line">
            <a:avLst/>
          </a:prstGeom>
          <a:noFill/>
          <a:ln w="6350">
            <a:solidFill>
              <a:srgbClr val="EFEDE7"/>
            </a:solidFill>
            <a:prstDash val="solid"/>
          </a:ln>
        </p:spPr>
        <p:txBody>
          <a:bodyPr/>
          <a:lstStyle/>
          <a:p>
            <a:endParaRPr/>
          </a:p>
        </p:txBody>
      </p:sp>
      <p:sp>
        <p:nvSpPr>
          <p:cNvPr id="12" name="Shape 10"/>
          <p:cNvSpPr/>
          <p:nvPr/>
        </p:nvSpPr>
        <p:spPr>
          <a:xfrm>
            <a:off x="548640" y="3108960"/>
            <a:ext cx="8046720" cy="0"/>
          </a:xfrm>
          <a:prstGeom prst="line">
            <a:avLst/>
          </a:prstGeom>
          <a:noFill/>
          <a:ln w="6350">
            <a:solidFill>
              <a:srgbClr val="EFEDE7"/>
            </a:solidFill>
            <a:prstDash val="solid"/>
          </a:ln>
        </p:spPr>
        <p:txBody>
          <a:bodyPr/>
          <a:lstStyle/>
          <a:p>
            <a:endParaRPr/>
          </a:p>
        </p:txBody>
      </p:sp>
      <p:sp>
        <p:nvSpPr>
          <p:cNvPr id="13" name="Shape 11"/>
          <p:cNvSpPr/>
          <p:nvPr/>
        </p:nvSpPr>
        <p:spPr>
          <a:xfrm>
            <a:off x="548640" y="3337560"/>
            <a:ext cx="8046720" cy="0"/>
          </a:xfrm>
          <a:prstGeom prst="line">
            <a:avLst/>
          </a:prstGeom>
          <a:noFill/>
          <a:ln w="6350">
            <a:solidFill>
              <a:srgbClr val="EFEDE7"/>
            </a:solidFill>
            <a:prstDash val="solid"/>
          </a:ln>
        </p:spPr>
        <p:txBody>
          <a:bodyPr/>
          <a:lstStyle/>
          <a:p>
            <a:endParaRPr/>
          </a:p>
        </p:txBody>
      </p:sp>
      <p:sp>
        <p:nvSpPr>
          <p:cNvPr id="14" name="Shape 12"/>
          <p:cNvSpPr/>
          <p:nvPr/>
        </p:nvSpPr>
        <p:spPr>
          <a:xfrm>
            <a:off x="548640" y="3566160"/>
            <a:ext cx="8046720" cy="0"/>
          </a:xfrm>
          <a:prstGeom prst="line">
            <a:avLst/>
          </a:prstGeom>
          <a:noFill/>
          <a:ln w="6350">
            <a:solidFill>
              <a:srgbClr val="EFEDE7"/>
            </a:solidFill>
            <a:prstDash val="solid"/>
          </a:ln>
        </p:spPr>
        <p:txBody>
          <a:bodyPr/>
          <a:lstStyle/>
          <a:p>
            <a:endParaRPr/>
          </a:p>
        </p:txBody>
      </p:sp>
      <p:sp>
        <p:nvSpPr>
          <p:cNvPr id="15" name="Shape 13"/>
          <p:cNvSpPr/>
          <p:nvPr/>
        </p:nvSpPr>
        <p:spPr>
          <a:xfrm>
            <a:off x="548640" y="3794760"/>
            <a:ext cx="8046720" cy="0"/>
          </a:xfrm>
          <a:prstGeom prst="line">
            <a:avLst/>
          </a:prstGeom>
          <a:noFill/>
          <a:ln w="6350">
            <a:solidFill>
              <a:srgbClr val="EFEDE7"/>
            </a:solidFill>
            <a:prstDash val="solid"/>
          </a:ln>
        </p:spPr>
        <p:txBody>
          <a:bodyPr/>
          <a:lstStyle/>
          <a:p>
            <a:endParaRPr/>
          </a:p>
        </p:txBody>
      </p:sp>
      <p:sp>
        <p:nvSpPr>
          <p:cNvPr id="16" name="Shape 14"/>
          <p:cNvSpPr/>
          <p:nvPr/>
        </p:nvSpPr>
        <p:spPr>
          <a:xfrm>
            <a:off x="548640" y="4023360"/>
            <a:ext cx="8046720" cy="0"/>
          </a:xfrm>
          <a:prstGeom prst="line">
            <a:avLst/>
          </a:prstGeom>
          <a:noFill/>
          <a:ln w="6350">
            <a:solidFill>
              <a:srgbClr val="EFEDE7"/>
            </a:solidFill>
            <a:prstDash val="solid"/>
          </a:ln>
        </p:spPr>
        <p:txBody>
          <a:bodyPr/>
          <a:lstStyle/>
          <a:p>
            <a:endParaRPr/>
          </a:p>
        </p:txBody>
      </p:sp>
      <p:sp>
        <p:nvSpPr>
          <p:cNvPr id="17" name="Shape 15"/>
          <p:cNvSpPr/>
          <p:nvPr/>
        </p:nvSpPr>
        <p:spPr>
          <a:xfrm>
            <a:off x="548640" y="4251960"/>
            <a:ext cx="8046720" cy="0"/>
          </a:xfrm>
          <a:prstGeom prst="line">
            <a:avLst/>
          </a:prstGeom>
          <a:noFill/>
          <a:ln w="6350">
            <a:solidFill>
              <a:srgbClr val="EFEDE7"/>
            </a:solidFill>
            <a:prstDash val="solid"/>
          </a:ln>
        </p:spPr>
        <p:txBody>
          <a:bodyPr/>
          <a:lstStyle/>
          <a:p>
            <a:endParaRPr/>
          </a:p>
        </p:txBody>
      </p:sp>
      <p:sp>
        <p:nvSpPr>
          <p:cNvPr id="18" name="Shape 16"/>
          <p:cNvSpPr/>
          <p:nvPr/>
        </p:nvSpPr>
        <p:spPr>
          <a:xfrm>
            <a:off x="548640" y="4480560"/>
            <a:ext cx="8046720" cy="0"/>
          </a:xfrm>
          <a:prstGeom prst="line">
            <a:avLst/>
          </a:prstGeom>
          <a:noFill/>
          <a:ln w="6350">
            <a:solidFill>
              <a:srgbClr val="EFEDE7"/>
            </a:solidFill>
            <a:prstDash val="solid"/>
          </a:ln>
        </p:spPr>
        <p:txBody>
          <a:bodyPr/>
          <a:lstStyle/>
          <a:p>
            <a:endParaRPr/>
          </a:p>
        </p:txBody>
      </p:sp>
      <p:sp>
        <p:nvSpPr>
          <p:cNvPr id="21" name="Text 19"/>
          <p:cNvSpPr txBox="1"/>
          <p:nvPr/>
        </p:nvSpPr>
        <p:spPr>
          <a:xfrm>
            <a:off x="548640" y="2560320"/>
            <a:ext cx="8046720" cy="731520"/>
          </a:xfrm>
          <a:prstGeom prst="rect">
            <a:avLst/>
          </a:prstGeom>
          <a:noFill/>
          <a:ln/>
        </p:spPr>
        <p:txBody>
          <a:bodyPr wrap="square" lIns="0" tIns="0" rIns="0" bIns="0" rtlCol="0" anchor="ctr"/>
          <a:lstStyle/>
          <a:p>
            <a:pPr marL="0" indent="0">
              <a:buNone/>
            </a:pPr>
            <a:r>
              <a:rPr lang="en-US" sz="3400" kern="0" spc="-100" dirty="0">
                <a:solidFill>
                  <a:srgbClr val="2B333C"/>
                </a:solidFill>
                <a:latin typeface="Nanum Pen" pitchFamily="2" charset="-127"/>
                <a:ea typeface="Nanum Pen" pitchFamily="2" charset="-127"/>
                <a:cs typeface="Pretendard ExtraBold" pitchFamily="34" charset="-120"/>
              </a:rPr>
              <a:t>감사합니다</a:t>
            </a:r>
            <a:endParaRPr lang="en-US" sz="3400" dirty="0">
              <a:latin typeface="Nanum Pen" pitchFamily="2" charset="-127"/>
              <a:ea typeface="Nanum Pen" pitchFamily="2" charset="-127"/>
            </a:endParaRPr>
          </a:p>
        </p:txBody>
      </p:sp>
      <p:pic>
        <p:nvPicPr>
          <p:cNvPr id="23" name="그림 22">
            <a:extLst>
              <a:ext uri="{FF2B5EF4-FFF2-40B4-BE49-F238E27FC236}">
                <a16:creationId xmlns:a16="http://schemas.microsoft.com/office/drawing/2014/main" id="{0364CE56-A7FD-76C6-2E8B-0C3F3CA762E6}"/>
              </a:ext>
            </a:extLst>
          </p:cNvPr>
          <p:cNvPicPr>
            <a:picLocks noChangeAspect="1"/>
          </p:cNvPicPr>
          <p:nvPr/>
        </p:nvPicPr>
        <p:blipFill>
          <a:blip r:embed="rId3"/>
          <a:stretch>
            <a:fillRect/>
          </a:stretch>
        </p:blipFill>
        <p:spPr>
          <a:xfrm>
            <a:off x="0" y="1062241"/>
            <a:ext cx="2624309" cy="174953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TotalTime>
  <Words>3761</Words>
  <Application>Microsoft Macintosh PowerPoint</Application>
  <PresentationFormat>화면 슬라이드 쇼(16:9)</PresentationFormat>
  <Paragraphs>698</Paragraphs>
  <Slides>28</Slides>
  <Notes>28</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28</vt:i4>
      </vt:variant>
    </vt:vector>
  </HeadingPairs>
  <TitlesOfParts>
    <vt:vector size="37" baseType="lpstr">
      <vt:lpstr>Nanum Pen</vt:lpstr>
      <vt:lpstr>Pretendard</vt:lpstr>
      <vt:lpstr>Pretendard ExtraBold</vt:lpstr>
      <vt:lpstr>Pretendard Light</vt:lpstr>
      <vt:lpstr>Pretendard Medium</vt:lpstr>
      <vt:lpstr>Pretendard SemiBold</vt:lpstr>
      <vt:lpstr>Arial</vt:lpstr>
      <vt:lpstr>Menlo</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SKALA 10반</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너와 나의 인계고리 — 프로젝트 기술서</dc:title>
  <dc:subject>PptxGenJS Presentation</dc:subject>
  <dc:creator>황재원</dc:creator>
  <cp:lastModifiedBy>황재원</cp:lastModifiedBy>
  <cp:revision>8</cp:revision>
  <dcterms:created xsi:type="dcterms:W3CDTF">2026-09-17T02:32:56Z</dcterms:created>
  <dcterms:modified xsi:type="dcterms:W3CDTF">2026-09-17T03:13:01Z</dcterms:modified>
</cp:coreProperties>
</file>