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첫 마디: 근무표는 누가 나오는지까지만 말합니다. 그 다음 고리가 비어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도메인 모르는 사람 기준 첫 장. 교대·인계·차지 세 단어만 소개한다.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세 동사만 기억시키면 뒤 화면이 전부 이 셋 중 하나로 보인다.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정의 한 문장을 그대로 읽고, '하지 않은 것'으로 범위를 먼저 닫는다.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로그인 자체는 범위 밖. 병원 인증 시스템이 있다고 가정.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Actor 가 다른 동작을 한 기능에 묶으면 권한 정의가 안 돼서 F-06 을 분리했다.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[필수] UI 흐름도는 반드시 PDF 안에 있어야 한다. 점선 4개가 두 Actor 를 잇는 지점.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범례를 화면 파트 맨 앞에 두면 이후 6장이 다 읽힌다.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두 방향이 한 화면에 보이는 게 '고리'의 그림.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필수 항목 검사는 칸이 비었는지만 본다. 내용의 성의는 안 본다. 한계 슬라이드에서 말한다.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단순 '읽음' 체크와 receiver_summary 를 가르는 지점. 첫 번째 불편의 해결.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이관하지 않는 게 정상인 경우가 있다(그 사이 퇴원 등). 그래서 API 로 막지 않고 사람이 보고 판단.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숫자를 보여주면 그 근거로 내려갈 수 있어야 한다. 결원만 예외인 이유를 꼭 말한다.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이름을 바꾼 이유는 데이터 파트에서 이어 말한다.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6개만 따라가면 인계 한 건의 일생이 설명된다. 나머지 6개는 병동, 팀, 사용자, 역할, 양식, 이력.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권장 6~9개보다 많다. 팀, 인계 담당, 양식 항목이 각각 이유를 갖는다. 이유를 말할 수 있으면 개수는 문제가 아니다.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화면 11개에서 일어나는 동작 25가지를 먼저 세고, 겹치는 것을 빼 24개가 됐다.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배점 20점 파트. '화면에서 세어서 만들었다'는 순서를 꼭 말한다.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서버가 정하는 건 편의가 아니라 규칙을 한 곳에 두는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409 는 '지금 상태에서 그 전이는 안 된다', 422 는 '보낸 내용이 모자라다'. 섞으면 화면이 뭘 고쳐야 할지 모른다.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한계를 먼저 말하면 질문이 줄어든다.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과제 형식은 안 했고 자유롭게 써 보게 했다. 정량 기록은 없다. 설계와 맞은 규칙 셋(작성자만 수정 403 · 넘긴 뒤 불변 409 · DELETE 없음)은 말로 잇는다. 열람 범위(현장은 병동 전체)는 우리가 더 좁아 보완으로 뒀다.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마지막 문장을 표지의 문장과 이어 닫는다.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257175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spc="-160" kern="0" dirty="0">
                <a:solidFill>
                  <a:srgbClr val="2B333C"/>
                </a:solidFill>
                <a:latin typeface="Nanum Pen" pitchFamily="34" charset="0"/>
                <a:ea typeface="Nanum Pen" pitchFamily="34" charset="-122"/>
                <a:cs typeface="Nanum Pen" pitchFamily="34" charset="-120"/>
              </a:rPr>
              <a:t>너와 나의 인계고리</a:t>
            </a:r>
            <a:endParaRPr lang="en-US" sz="46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353324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5A6069"/>
                </a:solidFill>
                <a:latin typeface="Nanum Pen" pitchFamily="34" charset="0"/>
                <a:ea typeface="Nanum Pen" pitchFamily="34" charset="-122"/>
                <a:cs typeface="Nanum Pen" pitchFamily="34" charset="-120"/>
              </a:rPr>
              <a:t>간호사 교대근무 인계·배정 웹서비스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4485132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SKALA 4기 웹서비스 미니프로젝트  판교캠퍼스 10반 P345 황재원   2026. 9. 17.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2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교대할 때 무슨 일이 일어나나</a:t>
            </a:r>
            <a:endParaRPr lang="en-US" sz="25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804672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0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간호사는 하루 세 번 교대한다. 나가는 사람이 들어오는 사람에게 환자 상태를 넘긴다. 이걸 "인계"라고 한다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48640" y="1417320"/>
            <a:ext cx="2103120" cy="914400"/>
          </a:xfrm>
          <a:prstGeom prst="rect">
            <a:avLst/>
          </a:prstGeom>
          <a:ln w="9525">
            <a:solidFill>
              <a:srgbClr val="E4E2D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40080" y="141732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밤 근무 간호사
</a:t>
            </a:r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환자를 밤새 봤다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2880360" y="1728216"/>
            <a:ext cx="3383280" cy="292608"/>
          </a:xfrm>
          <a:prstGeom prst="rightArrow">
            <a:avLst/>
          </a:prstGeom>
          <a:solidFill>
            <a:srgbClr val="C24A31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2880360" y="1380744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24A3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인계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2880360" y="205740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환자 상태와 주의사항을 말로, 글로 넘긴다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492240" y="1417320"/>
            <a:ext cx="2103120" cy="914400"/>
          </a:xfrm>
          <a:prstGeom prst="rect">
            <a:avLst/>
          </a:prstGeom>
          <a:ln w="9525">
            <a:solidFill>
              <a:srgbClr val="E4E2DB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583680" y="141732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아침 근무 간호사
</a:t>
            </a:r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이제부터 이 환자를 본다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48640" y="274320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C24A3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</a:t>
            </a:r>
            <a:endParaRPr lang="en-US" sz="2400" dirty="0"/>
          </a:p>
        </p:txBody>
      </p:sp>
      <p:sp>
        <p:nvSpPr>
          <p:cNvPr id="31" name="Text 29"/>
          <p:cNvSpPr txBox="1"/>
          <p:nvPr/>
        </p:nvSpPr>
        <p:spPr>
          <a:xfrm>
            <a:off x="1051560" y="2743200"/>
            <a:ext cx="7498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넘겼다는 기록은 남는다. 받았다는 기록은 없다.
</a:t>
            </a:r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나중에 "들었다 / 못 들었다"가 갈려도 확인할 데가 없다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548640" y="3493008"/>
            <a:ext cx="80467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48640" y="3584448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C24A3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2</a:t>
            </a:r>
            <a:endParaRPr lang="en-US" sz="2400" dirty="0"/>
          </a:p>
        </p:txBody>
      </p:sp>
      <p:sp>
        <p:nvSpPr>
          <p:cNvPr id="34" name="Text 32"/>
          <p:cNvSpPr txBox="1"/>
          <p:nvPr/>
        </p:nvSpPr>
        <p:spPr>
          <a:xfrm>
            <a:off x="1051560" y="3584448"/>
            <a:ext cx="7498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누가 못 나오면, 수간호사가 표를 고치고 메신저로 다시 알린다.
</a:t>
            </a:r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지금 배정이 무엇인지, 왜 바뀌었는지가 남지 않는다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팀의 책임 간호사를 "차지"라고 부른다. 인계는 차지가 쓰고 다음 근무의 차지가 받는다. 이 발표에 필요한 말은 이게 전부다 [C]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3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그래서 이 서비스는 세 가지를 한다</a:t>
            </a:r>
            <a:endParaRPr lang="en-US" sz="2500" dirty="0"/>
          </a:p>
        </p:txBody>
      </p:sp>
      <p:sp>
        <p:nvSpPr>
          <p:cNvPr id="21" name="Shape 19"/>
          <p:cNvSpPr/>
          <p:nvPr/>
        </p:nvSpPr>
        <p:spPr>
          <a:xfrm>
            <a:off x="548640" y="1097280"/>
            <a:ext cx="2499360" cy="1828800"/>
          </a:xfrm>
          <a:prstGeom prst="rect">
            <a:avLst/>
          </a:prstGeom>
          <a:ln w="9525">
            <a:solidFill>
              <a:srgbClr val="E4E2DB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31520" y="118872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C24A3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</a:t>
            </a:r>
            <a:endParaRPr lang="en-US" sz="3400" dirty="0"/>
          </a:p>
        </p:txBody>
      </p:sp>
      <p:sp>
        <p:nvSpPr>
          <p:cNvPr id="23" name="Text 21"/>
          <p:cNvSpPr txBox="1"/>
          <p:nvPr/>
        </p:nvSpPr>
        <p:spPr>
          <a:xfrm>
            <a:off x="731520" y="1737360"/>
            <a:ext cx="2133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spc="-30" kern="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정한다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731520" y="2084832"/>
            <a:ext cx="213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그날 누가 어느 환자의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인계를 맡는지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731520" y="2615184"/>
            <a:ext cx="2133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수간호사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084576" y="1920240"/>
            <a:ext cx="201168" cy="182880"/>
          </a:xfrm>
          <a:prstGeom prst="rightArrow">
            <a:avLst/>
          </a:prstGeom>
          <a:solidFill>
            <a:srgbClr val="5A6069"/>
          </a:solidFill>
          <a:ln/>
        </p:spPr>
      </p:sp>
      <p:sp>
        <p:nvSpPr>
          <p:cNvPr id="27" name="Shape 25"/>
          <p:cNvSpPr/>
          <p:nvPr/>
        </p:nvSpPr>
        <p:spPr>
          <a:xfrm>
            <a:off x="3322320" y="1097280"/>
            <a:ext cx="2499360" cy="1828800"/>
          </a:xfrm>
          <a:prstGeom prst="rect">
            <a:avLst/>
          </a:prstGeom>
          <a:ln w="9525">
            <a:solidFill>
              <a:srgbClr val="E4E2DB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3505200" y="118872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C24A3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2</a:t>
            </a:r>
            <a:endParaRPr lang="en-US" sz="3400" dirty="0"/>
          </a:p>
        </p:txBody>
      </p:sp>
      <p:sp>
        <p:nvSpPr>
          <p:cNvPr id="29" name="Text 27"/>
          <p:cNvSpPr txBox="1"/>
          <p:nvPr/>
        </p:nvSpPr>
        <p:spPr>
          <a:xfrm>
            <a:off x="3505200" y="1737360"/>
            <a:ext cx="2133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spc="-30" kern="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넘긴다</a:t>
            </a:r>
            <a:endParaRPr lang="en-US" sz="1600" dirty="0"/>
          </a:p>
        </p:txBody>
      </p:sp>
      <p:sp>
        <p:nvSpPr>
          <p:cNvPr id="30" name="Text 28"/>
          <p:cNvSpPr txBox="1"/>
          <p:nvPr/>
        </p:nvSpPr>
        <p:spPr>
          <a:xfrm>
            <a:off x="3505200" y="2084832"/>
            <a:ext cx="213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병동이 정한 필수 항목이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비면 넘길 수 없다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3505200" y="2615184"/>
            <a:ext cx="2133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차지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5858256" y="1920240"/>
            <a:ext cx="201168" cy="182880"/>
          </a:xfrm>
          <a:prstGeom prst="rightArrow">
            <a:avLst/>
          </a:prstGeom>
          <a:solidFill>
            <a:srgbClr val="5A6069"/>
          </a:solidFill>
          <a:ln/>
        </p:spPr>
      </p:sp>
      <p:sp>
        <p:nvSpPr>
          <p:cNvPr id="33" name="Shape 31"/>
          <p:cNvSpPr/>
          <p:nvPr/>
        </p:nvSpPr>
        <p:spPr>
          <a:xfrm>
            <a:off x="6096000" y="1097280"/>
            <a:ext cx="2499360" cy="1828800"/>
          </a:xfrm>
          <a:prstGeom prst="rect">
            <a:avLst/>
          </a:prstGeom>
          <a:ln w="9525">
            <a:solidFill>
              <a:srgbClr val="E4E2DB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278880" y="118872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C24A3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3</a:t>
            </a:r>
            <a:endParaRPr lang="en-US" sz="3400" dirty="0"/>
          </a:p>
        </p:txBody>
      </p:sp>
      <p:sp>
        <p:nvSpPr>
          <p:cNvPr id="35" name="Text 33"/>
          <p:cNvSpPr txBox="1"/>
          <p:nvPr/>
        </p:nvSpPr>
        <p:spPr>
          <a:xfrm>
            <a:off x="6278880" y="1737360"/>
            <a:ext cx="2133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spc="-30" kern="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확인한다</a:t>
            </a:r>
            <a:endParaRPr lang="en-US" sz="1600" dirty="0"/>
          </a:p>
        </p:txBody>
      </p:sp>
      <p:sp>
        <p:nvSpPr>
          <p:cNvPr id="36" name="Text 34"/>
          <p:cNvSpPr txBox="1"/>
          <p:nvPr/>
        </p:nvSpPr>
        <p:spPr>
          <a:xfrm>
            <a:off x="6278880" y="2084832"/>
            <a:ext cx="213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받은 사람이 핵심을 자기 말로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요약해야 '확인'이 된다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6278880" y="2615184"/>
            <a:ext cx="2133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다음 근무 차지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548640" y="3273552"/>
            <a:ext cx="45720" cy="512064"/>
          </a:xfrm>
          <a:prstGeom prst="rect">
            <a:avLst/>
          </a:prstGeom>
          <a:solidFill>
            <a:srgbClr val="C24A31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768096" y="3200400"/>
            <a:ext cx="76078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누가 못 나오면 1로 돌아가 다시 정한다.  </a:t>
            </a:r>
            <a:pPr indent="0" marL="0">
              <a:buNone/>
            </a:pPr>
            <a:r>
              <a:rPr lang="en-US" sz="105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바뀐 내용은 당사자 화면에 바로 뜨고, 왜 바꿨는지가 같이 남는다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하지 않는 것: 근무표 만들기 · 병원 전산(EMR) 연동 · 실제 환자정보 · 의학적 판단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4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  무엇을 만들었나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solidFill>
            <a:srgbClr val="C24A31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</a:t>
            </a:r>
            <a:endParaRPr lang="en-US" sz="700" dirty="0"/>
          </a:p>
        </p:txBody>
      </p:sp>
      <p:sp>
        <p:nvSpPr>
          <p:cNvPr id="35" name="Text 33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무엇을 만들었나</a:t>
            </a:r>
            <a:endParaRPr lang="en-US" sz="2500" dirty="0"/>
          </a:p>
        </p:txBody>
      </p:sp>
      <p:sp>
        <p:nvSpPr>
          <p:cNvPr id="36" name="Shape 34"/>
          <p:cNvSpPr/>
          <p:nvPr/>
        </p:nvSpPr>
        <p:spPr>
          <a:xfrm>
            <a:off x="548640" y="1042416"/>
            <a:ext cx="249936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548640" y="1115568"/>
            <a:ext cx="2499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24A31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누가</a:t>
            </a:r>
            <a:endParaRPr lang="en-US" sz="950" dirty="0"/>
          </a:p>
        </p:txBody>
      </p:sp>
      <p:sp>
        <p:nvSpPr>
          <p:cNvPr id="38" name="Text 36"/>
          <p:cNvSpPr txBox="1"/>
          <p:nvPr/>
        </p:nvSpPr>
        <p:spPr>
          <a:xfrm>
            <a:off x="548640" y="1371600"/>
            <a:ext cx="2499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B33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교대로 일하는 병동의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B33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간호사와 수간호사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3322320" y="1042416"/>
            <a:ext cx="249936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3322320" y="1115568"/>
            <a:ext cx="2499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24A31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언제</a:t>
            </a:r>
            <a:endParaRPr lang="en-US" sz="950" dirty="0"/>
          </a:p>
        </p:txBody>
      </p:sp>
      <p:sp>
        <p:nvSpPr>
          <p:cNvPr id="41" name="Text 39"/>
          <p:cNvSpPr txBox="1"/>
          <p:nvPr/>
        </p:nvSpPr>
        <p:spPr>
          <a:xfrm>
            <a:off x="3322320" y="1371600"/>
            <a:ext cx="2499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B33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교대할 때 인계를 주고받을 때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B33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누가 빠져서 배정을 다시 짤 때</a:t>
            </a:r>
            <a:endParaRPr lang="en-US" sz="1150" dirty="0"/>
          </a:p>
        </p:txBody>
      </p:sp>
      <p:sp>
        <p:nvSpPr>
          <p:cNvPr id="42" name="Shape 40"/>
          <p:cNvSpPr/>
          <p:nvPr/>
        </p:nvSpPr>
        <p:spPr>
          <a:xfrm>
            <a:off x="6096000" y="1042416"/>
            <a:ext cx="249936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6096000" y="1115568"/>
            <a:ext cx="2499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24A31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무엇이 불편했나</a:t>
            </a:r>
            <a:endParaRPr lang="en-US" sz="950" dirty="0"/>
          </a:p>
        </p:txBody>
      </p:sp>
      <p:sp>
        <p:nvSpPr>
          <p:cNvPr id="44" name="Text 42"/>
          <p:cNvSpPr txBox="1"/>
          <p:nvPr/>
        </p:nvSpPr>
        <p:spPr>
          <a:xfrm>
            <a:off x="6096000" y="1371600"/>
            <a:ext cx="2499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B33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인계를 누가 받았는지 남는 기록이 없다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B33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배정이 바뀌면 여기저기 다시 알려야 한다</a:t>
            </a:r>
            <a:endParaRPr lang="en-US" sz="1150" dirty="0"/>
          </a:p>
        </p:txBody>
      </p:sp>
      <p:sp>
        <p:nvSpPr>
          <p:cNvPr id="45" name="Shape 43"/>
          <p:cNvSpPr/>
          <p:nvPr/>
        </p:nvSpPr>
        <p:spPr>
          <a:xfrm>
            <a:off x="548640" y="2331720"/>
            <a:ext cx="45720" cy="932688"/>
          </a:xfrm>
          <a:prstGeom prst="rect">
            <a:avLst/>
          </a:prstGeom>
          <a:solidFill>
            <a:srgbClr val="C24A31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768096" y="2331720"/>
            <a:ext cx="7772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spc="-30" kern="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누가 무엇을 맡았고, 무엇을 주고받았는지가 남는다</a:t>
            </a:r>
            <a:endParaRPr lang="en-US" sz="1500" dirty="0"/>
          </a:p>
        </p:txBody>
      </p:sp>
      <p:sp>
        <p:nvSpPr>
          <p:cNvPr id="47" name="Text 45"/>
          <p:cNvSpPr txBox="1"/>
          <p:nvPr/>
        </p:nvSpPr>
        <p:spPr>
          <a:xfrm>
            <a:off x="768096" y="2679192"/>
            <a:ext cx="7772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근무표는 오늘 누가 나오는지까지만 말합니다. 그 다음 칸, 누가 인계를 맡았고 누가 받아서 확인했는지는 비어 있습니다. 그 한 칸을 붙였습니다.</a:t>
            </a:r>
            <a:endParaRPr lang="en-US" sz="1100" dirty="0"/>
          </a:p>
        </p:txBody>
      </p:sp>
      <p:sp>
        <p:nvSpPr>
          <p:cNvPr id="48" name="Text 46"/>
          <p:cNvSpPr txBox="1"/>
          <p:nvPr/>
        </p:nvSpPr>
        <p:spPr>
          <a:xfrm>
            <a:off x="548640" y="352044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24A31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하지 않은 것   </a:t>
            </a:r>
            <a:pPr indent="0" marL="0">
              <a:buNone/>
            </a:pPr>
            <a:r>
              <a:rPr lang="en-US" sz="105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근무표 자동 생성, 병원 전산(EMR) 연동, 실제 환자정보, 의학적 판단이나 추천, 교육·급여·알람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5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  누가 쓰고, 어디까지 보나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solidFill>
            <a:srgbClr val="C24A31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</a:t>
            </a:r>
            <a:endParaRPr lang="en-US" sz="700" dirty="0"/>
          </a:p>
        </p:txBody>
      </p:sp>
      <p:sp>
        <p:nvSpPr>
          <p:cNvPr id="35" name="Text 33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누가 쓰나</a:t>
            </a:r>
            <a:endParaRPr lang="en-US" sz="2500" dirty="0"/>
          </a:p>
        </p:txBody>
      </p:sp>
      <p:sp>
        <p:nvSpPr>
          <p:cNvPr id="36" name="Text 34"/>
          <p:cNvSpPr txBox="1"/>
          <p:nvPr/>
        </p:nvSpPr>
        <p:spPr>
          <a:xfrm>
            <a:off x="548640" y="804672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0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두 사람. 다른 병동 사람은 못 들어온다</a:t>
            </a:r>
            <a:endParaRPr lang="en-US" sz="1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80467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651760"/>
                <a:gridCol w="402336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333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쓰는 사람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333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볼 수 있는 것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333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하는 일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333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수간호사</a:t>
                      </a:r>
                      <a:endParaRPr lang="en-US" sz="11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자기가 맡은 병동 전체 [C]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근무표 등록, 그날 역할과 인계 담당 정하기, 인계 항목 정하기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결원 생기면 다시 배정, 바뀐 내역 보기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333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간호사</a:t>
                      </a:r>
                      <a:endParaRPr lang="en-US" sz="11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내 근무와 역할, 우리 팀 환자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내가 맡은 인계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내 근무 확인. 차지면 인계 쓰기, 받고 확인하기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액팅이면 우리 팀 인계 읽기. 내가 주고받은 인계 보기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8C9199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다른 병동 사람</a:t>
                      </a:r>
                      <a:endParaRPr lang="en-US" sz="11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아무것도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막는다. "없는 것처럼"이 아니라 "권한이 없다"고 답한다(403)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6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  누가 쓰고, 어디까지 보나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solidFill>
            <a:srgbClr val="C24A31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</a:t>
            </a:r>
            <a:endParaRPr lang="en-US" sz="700" dirty="0"/>
          </a:p>
        </p:txBody>
      </p:sp>
      <p:sp>
        <p:nvSpPr>
          <p:cNvPr id="35" name="Text 33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기능</a:t>
            </a:r>
            <a:endParaRPr lang="en-US" sz="25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024128"/>
          <a:ext cx="8046720" cy="914400"/>
        </p:xfrm>
        <a:graphic>
          <a:graphicData uri="http://schemas.openxmlformats.org/drawingml/2006/table">
            <a:tbl>
              <a:tblPr/>
              <a:tblGrid>
                <a:gridCol w="594360"/>
                <a:gridCol w="3017520"/>
                <a:gridCol w="2103120"/>
                <a:gridCol w="777240"/>
                <a:gridCol w="155448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333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ID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333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하는 일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333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누가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333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화면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333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막힐 때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97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F-01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확정된 근무표 등록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수간호사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권한 없음 403, 같은 사람 중복 409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97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F-02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그날 역할과 인계 담당 정하기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수간호사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403, 409, 입력 모자람 422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97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F-03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내 근무·역할·바뀐 내용 확인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간호사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남의 배정 조회는 403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97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C24A31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F-04</a:t>
                      </a:r>
                      <a:endParaRPr lang="en-US" sz="10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333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인계 쓰기, 받은 사람이 요약해 확인</a:t>
                      </a:r>
                      <a:endParaRPr lang="en-US" sz="10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차지가 쓰고, 다음 차지가 확인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액팅은 읽기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9, 10, 11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당사자 아님 403, 필수·요약 미입력 422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재확인·퇴원 409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97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C24A31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F-05</a:t>
                      </a:r>
                      <a:endParaRPr lang="en-US" sz="10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333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결원 등록, 다시 배정, 완료 확인과 이력</a:t>
                      </a:r>
                      <a:endParaRPr lang="en-US" sz="10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수간호사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6, 7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대체자 없이 완료 422, 재확인 409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97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F-06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병동 인계 항목 정하기 (F-04 가 쓰는 양식)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수간호사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간호사가 고치려 하면 403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7" name="Shape 34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F-04 가 첫 번째 불편, F-05 가 두 번째 불편. 나머지 넷은 그 둘이 서려면 있어야 하는 기반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7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  화면 흐름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solidFill>
            <a:srgbClr val="C24A31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</a:t>
            </a:r>
            <a:endParaRPr lang="en-US" sz="700" dirty="0"/>
          </a:p>
        </p:txBody>
      </p:sp>
      <p:sp>
        <p:nvSpPr>
          <p:cNvPr id="35" name="Text 33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화면 흐름</a:t>
            </a:r>
            <a:endParaRPr lang="en-US" sz="2500" dirty="0"/>
          </a:p>
        </p:txBody>
      </p:sp>
      <p:sp>
        <p:nvSpPr>
          <p:cNvPr id="36" name="Text 34"/>
          <p:cNvSpPr txBox="1"/>
          <p:nvPr/>
        </p:nvSpPr>
        <p:spPr>
          <a:xfrm>
            <a:off x="548640" y="804672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0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로그인에서 두 갈래. 실선은 화면 이동, 점선은 데이터가 넘어가는 길</a:t>
            </a:r>
            <a:endParaRPr lang="en-US" sz="1200" dirty="0"/>
          </a:p>
        </p:txBody>
      </p:sp>
      <p:pic>
        <p:nvPicPr>
          <p:cNvPr id="37" name="Image 0" descr="/Users/hwangjaewon/skala-workspace/skala-webservice-mini/assets/ui_flo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66713" y="1152144"/>
            <a:ext cx="4810575" cy="3314700"/>
          </a:xfrm>
          <a:prstGeom prst="rect">
            <a:avLst/>
          </a:prstGeom>
        </p:spPr>
      </p:pic>
      <p:sp>
        <p:nvSpPr>
          <p:cNvPr id="38" name="Shape 35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 11개가 전부 이 그림 안에 있다. 점선 네 개가 수간호사와 간호사를 잇는다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8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  화면마다 도는 API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solidFill>
            <a:srgbClr val="C24A31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</a:t>
            </a:r>
            <a:endParaRPr lang="en-US" sz="700" dirty="0"/>
          </a:p>
        </p:txBody>
      </p:sp>
      <p:sp>
        <p:nvSpPr>
          <p:cNvPr id="35" name="Text 33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화면들을 읽는 법</a:t>
            </a:r>
            <a:endParaRPr lang="en-US" sz="2500" dirty="0"/>
          </a:p>
        </p:txBody>
      </p:sp>
      <p:sp>
        <p:nvSpPr>
          <p:cNvPr id="36" name="Shape 34"/>
          <p:cNvSpPr/>
          <p:nvPr/>
        </p:nvSpPr>
        <p:spPr>
          <a:xfrm>
            <a:off x="640080" y="1490472"/>
            <a:ext cx="274320" cy="274320"/>
          </a:xfrm>
          <a:prstGeom prst="ellipse">
            <a:avLst/>
          </a:prstGeom>
          <a:solidFill>
            <a:srgbClr val="C24A31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1133856" y="1188720"/>
            <a:ext cx="10058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24A31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빨간 원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2194560" y="1188720"/>
            <a:ext cx="630936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33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API 가 호출되는 곳. 어떤 주소로 무엇을 하는지</a:t>
            </a:r>
            <a:endParaRPr lang="en-US" sz="1250" dirty="0"/>
          </a:p>
        </p:txBody>
      </p:sp>
      <p:sp>
        <p:nvSpPr>
          <p:cNvPr id="39" name="Shape 37"/>
          <p:cNvSpPr/>
          <p:nvPr/>
        </p:nvSpPr>
        <p:spPr>
          <a:xfrm>
            <a:off x="548640" y="2103120"/>
            <a:ext cx="80467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40080" y="2404872"/>
            <a:ext cx="274320" cy="274320"/>
          </a:xfrm>
          <a:prstGeom prst="ellipse">
            <a:avLst/>
          </a:prstGeom>
          <a:solidFill>
            <a:srgbClr val="2B333C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1133856" y="2103120"/>
            <a:ext cx="10058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검은 원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2194560" y="2103120"/>
            <a:ext cx="630936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33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화면이 이동하는 곳. 이 버튼을 누르면 어디로 가는지</a:t>
            </a:r>
            <a:endParaRPr lang="en-US" sz="1250" dirty="0"/>
          </a:p>
        </p:txBody>
      </p:sp>
      <p:sp>
        <p:nvSpPr>
          <p:cNvPr id="43" name="Shape 41"/>
          <p:cNvSpPr/>
          <p:nvPr/>
        </p:nvSpPr>
        <p:spPr>
          <a:xfrm>
            <a:off x="548640" y="3017520"/>
            <a:ext cx="80467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640080" y="3319272"/>
            <a:ext cx="274320" cy="2743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24A31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1133856" y="3017520"/>
            <a:ext cx="10058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24A31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빨간 테두리</a:t>
            </a:r>
            <a:endParaRPr lang="en-US" sz="1400" dirty="0"/>
          </a:p>
        </p:txBody>
      </p:sp>
      <p:sp>
        <p:nvSpPr>
          <p:cNvPr id="46" name="Text 44"/>
          <p:cNvSpPr txBox="1"/>
          <p:nvPr/>
        </p:nvSpPr>
        <p:spPr>
          <a:xfrm>
            <a:off x="2194560" y="3017520"/>
            <a:ext cx="630936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33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막히는 곳. 오류와 예외. 왜 막는지가 이 설계의 핵심</a:t>
            </a:r>
            <a:endParaRPr lang="en-US" sz="1250" dirty="0"/>
          </a:p>
        </p:txBody>
      </p:sp>
      <p:sp>
        <p:nvSpPr>
          <p:cNvPr id="47" name="Shape 45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캡처는 전부 실제로 도는 데모에서 찍었다. 가상 데이터이고, 화면에 보이는 주소가 그대로 API 명세의 주소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9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  화면마다 도는 API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solidFill>
            <a:srgbClr val="C24A31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</a:t>
            </a:r>
            <a:endParaRPr lang="en-US" sz="700" dirty="0"/>
          </a:p>
        </p:txBody>
      </p:sp>
      <p:sp>
        <p:nvSpPr>
          <p:cNvPr id="35" name="Text 33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간호사 첫 화면</a:t>
            </a:r>
            <a:endParaRPr lang="en-US" sz="2500" dirty="0"/>
          </a:p>
        </p:txBody>
      </p:sp>
      <p:sp>
        <p:nvSpPr>
          <p:cNvPr id="36" name="Text 34"/>
          <p:cNvSpPr txBox="1"/>
          <p:nvPr/>
        </p:nvSpPr>
        <p:spPr>
          <a:xfrm>
            <a:off x="548640" y="804672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0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내 근무, 우리 팀 환자, 받은 인계와 보낼 인계</a:t>
            </a:r>
            <a:endParaRPr lang="en-US" sz="1200" dirty="0"/>
          </a:p>
        </p:txBody>
      </p:sp>
      <p:pic>
        <p:nvPicPr>
          <p:cNvPr id="37" name="Image 0" descr="/Users/hwangjaewon/skala-workspace/skala-webservice-mini/assets/8_myshift_nur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152144"/>
            <a:ext cx="4828032" cy="3017520"/>
          </a:xfrm>
          <a:prstGeom prst="rect">
            <a:avLst/>
          </a:prstGeom>
        </p:spPr>
      </p:pic>
      <p:sp>
        <p:nvSpPr>
          <p:cNvPr id="38" name="Shape 35"/>
          <p:cNvSpPr/>
          <p:nvPr/>
        </p:nvSpPr>
        <p:spPr>
          <a:xfrm>
            <a:off x="548640" y="1152144"/>
            <a:ext cx="4828032" cy="3017520"/>
          </a:xfrm>
          <a:prstGeom prst="rect">
            <a:avLst/>
          </a:prstGeom>
          <a:ln w="9525">
            <a:solidFill>
              <a:srgbClr val="E4E2DB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2823058" y="1522171"/>
            <a:ext cx="192024" cy="192024"/>
          </a:xfrm>
          <a:prstGeom prst="ellipse">
            <a:avLst/>
          </a:prstGeom>
          <a:solidFill>
            <a:srgbClr val="C24A3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2823058" y="1522171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</a:t>
            </a:r>
            <a:endParaRPr lang="en-US" sz="900" dirty="0"/>
          </a:p>
        </p:txBody>
      </p:sp>
      <p:sp>
        <p:nvSpPr>
          <p:cNvPr id="41" name="Shape 38"/>
          <p:cNvSpPr/>
          <p:nvPr/>
        </p:nvSpPr>
        <p:spPr>
          <a:xfrm>
            <a:off x="3064459" y="1854098"/>
            <a:ext cx="192024" cy="192024"/>
          </a:xfrm>
          <a:prstGeom prst="ellipse">
            <a:avLst/>
          </a:prstGeom>
          <a:solidFill>
            <a:srgbClr val="2B33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3064459" y="1854098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</a:t>
            </a:r>
            <a:endParaRPr lang="en-US" sz="900" dirty="0"/>
          </a:p>
        </p:txBody>
      </p:sp>
      <p:sp>
        <p:nvSpPr>
          <p:cNvPr id="43" name="Shape 40"/>
          <p:cNvSpPr/>
          <p:nvPr/>
        </p:nvSpPr>
        <p:spPr>
          <a:xfrm>
            <a:off x="3597554" y="1854098"/>
            <a:ext cx="192024" cy="192024"/>
          </a:xfrm>
          <a:prstGeom prst="ellipse">
            <a:avLst/>
          </a:prstGeom>
          <a:solidFill>
            <a:srgbClr val="2B33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3597554" y="1854098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3</a:t>
            </a:r>
            <a:endParaRPr lang="en-US" sz="900" dirty="0"/>
          </a:p>
        </p:txBody>
      </p:sp>
      <p:sp>
        <p:nvSpPr>
          <p:cNvPr id="45" name="Shape 42"/>
          <p:cNvSpPr/>
          <p:nvPr/>
        </p:nvSpPr>
        <p:spPr>
          <a:xfrm>
            <a:off x="4616806" y="2326843"/>
            <a:ext cx="192024" cy="192024"/>
          </a:xfrm>
          <a:prstGeom prst="ellipse">
            <a:avLst/>
          </a:prstGeom>
          <a:solidFill>
            <a:srgbClr val="2B33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4616806" y="2326843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</a:t>
            </a:r>
            <a:endParaRPr lang="en-US" sz="900" dirty="0"/>
          </a:p>
        </p:txBody>
      </p:sp>
      <p:sp>
        <p:nvSpPr>
          <p:cNvPr id="47" name="Shape 44"/>
          <p:cNvSpPr/>
          <p:nvPr/>
        </p:nvSpPr>
        <p:spPr>
          <a:xfrm>
            <a:off x="5577840" y="1243584"/>
            <a:ext cx="192024" cy="192024"/>
          </a:xfrm>
          <a:prstGeom prst="ellipse">
            <a:avLst/>
          </a:prstGeom>
          <a:solidFill>
            <a:srgbClr val="C24A31"/>
          </a:solidFill>
          <a:ln/>
        </p:spPr>
      </p:sp>
      <p:sp>
        <p:nvSpPr>
          <p:cNvPr id="48" name="Text 45"/>
          <p:cNvSpPr txBox="1"/>
          <p:nvPr/>
        </p:nvSpPr>
        <p:spPr>
          <a:xfrm>
            <a:off x="5577840" y="1243584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</a:t>
            </a:r>
            <a:endParaRPr lang="en-US" sz="850" dirty="0"/>
          </a:p>
        </p:txBody>
      </p:sp>
      <p:sp>
        <p:nvSpPr>
          <p:cNvPr id="49" name="Text 46"/>
          <p:cNvSpPr txBox="1"/>
          <p:nvPr/>
        </p:nvSpPr>
        <p:spPr>
          <a:xfrm>
            <a:off x="5870448" y="1188720"/>
            <a:ext cx="270662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C24A3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GET /me/shifts
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B333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내 근무와 역할, 우리 팀 환자를 한 번에</a:t>
            </a:r>
            <a:pPr indent="0" marL="0">
              <a:lnSpc>
                <a:spcPct val="110000"/>
              </a:lnSpc>
              <a:buNone/>
            </a:pPr>
            <a:endParaRPr lang="en-US" sz="8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인계 담당이 없어도 근무와 역할은 보인다</a:t>
            </a:r>
            <a:endParaRPr lang="en-US" sz="850" dirty="0"/>
          </a:p>
        </p:txBody>
      </p:sp>
      <p:sp>
        <p:nvSpPr>
          <p:cNvPr id="50" name="Shape 47"/>
          <p:cNvSpPr/>
          <p:nvPr/>
        </p:nvSpPr>
        <p:spPr>
          <a:xfrm>
            <a:off x="5577840" y="1980819"/>
            <a:ext cx="30175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5577840" y="2072259"/>
            <a:ext cx="192024" cy="192024"/>
          </a:xfrm>
          <a:prstGeom prst="ellipse">
            <a:avLst/>
          </a:prstGeom>
          <a:solidFill>
            <a:srgbClr val="2B333C"/>
          </a:solidFill>
          <a:ln/>
        </p:spPr>
      </p:sp>
      <p:sp>
        <p:nvSpPr>
          <p:cNvPr id="52" name="Text 49"/>
          <p:cNvSpPr txBox="1"/>
          <p:nvPr/>
        </p:nvSpPr>
        <p:spPr>
          <a:xfrm>
            <a:off x="5577840" y="2072259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</a:t>
            </a:r>
            <a:endParaRPr lang="en-US" sz="850" dirty="0"/>
          </a:p>
        </p:txBody>
      </p:sp>
      <p:sp>
        <p:nvSpPr>
          <p:cNvPr id="53" name="Text 50"/>
          <p:cNvSpPr txBox="1"/>
          <p:nvPr/>
        </p:nvSpPr>
        <p:spPr>
          <a:xfrm>
            <a:off x="5870448" y="2017395"/>
            <a:ext cx="270662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B333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왼쪽은 앞 근무에서 나에게 온 인계</a:t>
            </a:r>
            <a:pPr indent="0" marL="0">
              <a:lnSpc>
                <a:spcPct val="110000"/>
              </a:lnSpc>
              <a:buNone/>
            </a:pPr>
            <a:endParaRPr lang="en-US" sz="9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'확인' 버튼은 내가 받을 사람일 때만</a:t>
            </a:r>
            <a:endParaRPr lang="en-US" sz="950" dirty="0"/>
          </a:p>
        </p:txBody>
      </p:sp>
      <p:sp>
        <p:nvSpPr>
          <p:cNvPr id="54" name="Shape 51"/>
          <p:cNvSpPr/>
          <p:nvPr/>
        </p:nvSpPr>
        <p:spPr>
          <a:xfrm>
            <a:off x="5577840" y="2809494"/>
            <a:ext cx="30175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5577840" y="2900934"/>
            <a:ext cx="192024" cy="192024"/>
          </a:xfrm>
          <a:prstGeom prst="ellipse">
            <a:avLst/>
          </a:prstGeom>
          <a:solidFill>
            <a:srgbClr val="2B333C"/>
          </a:solidFill>
          <a:ln/>
        </p:spPr>
      </p:sp>
      <p:sp>
        <p:nvSpPr>
          <p:cNvPr id="56" name="Text 53"/>
          <p:cNvSpPr txBox="1"/>
          <p:nvPr/>
        </p:nvSpPr>
        <p:spPr>
          <a:xfrm>
            <a:off x="5577840" y="2900934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3</a:t>
            </a:r>
            <a:endParaRPr lang="en-US" sz="850" dirty="0"/>
          </a:p>
        </p:txBody>
      </p:sp>
      <p:sp>
        <p:nvSpPr>
          <p:cNvPr id="57" name="Text 54"/>
          <p:cNvSpPr txBox="1"/>
          <p:nvPr/>
        </p:nvSpPr>
        <p:spPr>
          <a:xfrm>
            <a:off x="5870448" y="2846070"/>
            <a:ext cx="270662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B333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오른쪽은 내가 다음 근무로 넘길 인계</a:t>
            </a:r>
            <a:pPr indent="0" marL="0">
              <a:lnSpc>
                <a:spcPct val="110000"/>
              </a:lnSpc>
              <a:buNone/>
            </a:pPr>
            <a:endParaRPr lang="en-US" sz="9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두 방향이 한 화면에</a:t>
            </a:r>
            <a:endParaRPr lang="en-US" sz="950" dirty="0"/>
          </a:p>
        </p:txBody>
      </p:sp>
      <p:sp>
        <p:nvSpPr>
          <p:cNvPr id="58" name="Shape 55"/>
          <p:cNvSpPr/>
          <p:nvPr/>
        </p:nvSpPr>
        <p:spPr>
          <a:xfrm>
            <a:off x="5577840" y="3638169"/>
            <a:ext cx="30175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5577840" y="3729609"/>
            <a:ext cx="192024" cy="192024"/>
          </a:xfrm>
          <a:prstGeom prst="ellipse">
            <a:avLst/>
          </a:prstGeom>
          <a:solidFill>
            <a:srgbClr val="2B333C"/>
          </a:solidFill>
          <a:ln/>
        </p:spPr>
      </p:sp>
      <p:sp>
        <p:nvSpPr>
          <p:cNvPr id="60" name="Text 57"/>
          <p:cNvSpPr txBox="1"/>
          <p:nvPr/>
        </p:nvSpPr>
        <p:spPr>
          <a:xfrm>
            <a:off x="5577840" y="3729609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</a:t>
            </a:r>
            <a:endParaRPr lang="en-US" sz="850" dirty="0"/>
          </a:p>
        </p:txBody>
      </p:sp>
      <p:sp>
        <p:nvSpPr>
          <p:cNvPr id="61" name="Text 58"/>
          <p:cNvSpPr txBox="1"/>
          <p:nvPr/>
        </p:nvSpPr>
        <p:spPr>
          <a:xfrm>
            <a:off x="5870448" y="3674745"/>
            <a:ext cx="270662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B333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인계 작성 화면으로</a:t>
            </a:r>
            <a:pPr indent="0" marL="0">
              <a:lnSpc>
                <a:spcPct val="110000"/>
              </a:lnSpc>
              <a:buNone/>
            </a:pPr>
            <a:endParaRPr lang="en-US" sz="9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액팅에게는 이 버튼이 없다. 읽기만</a:t>
            </a:r>
            <a:endParaRPr lang="en-US" sz="950" dirty="0"/>
          </a:p>
        </p:txBody>
      </p:sp>
      <p:sp>
        <p:nvSpPr>
          <p:cNvPr id="62" name="Shape 59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63" name="Text 60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팀, 같은 시간에 일하면 인계를 읽을 수 있다. '확인'은 그 환자를 맡은 차지만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10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  화면마다 도는 API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solidFill>
            <a:srgbClr val="C24A31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</a:t>
            </a:r>
            <a:endParaRPr lang="en-US" sz="700" dirty="0"/>
          </a:p>
        </p:txBody>
      </p:sp>
      <p:sp>
        <p:nvSpPr>
          <p:cNvPr id="35" name="Text 33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인계 쓰기</a:t>
            </a:r>
            <a:endParaRPr lang="en-US" sz="2500" dirty="0"/>
          </a:p>
        </p:txBody>
      </p:sp>
      <p:sp>
        <p:nvSpPr>
          <p:cNvPr id="36" name="Text 34"/>
          <p:cNvSpPr txBox="1"/>
          <p:nvPr/>
        </p:nvSpPr>
        <p:spPr>
          <a:xfrm>
            <a:off x="548640" y="804672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0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필수 항목이 비면 넘길 수 없다</a:t>
            </a:r>
            <a:endParaRPr lang="en-US" sz="1200" dirty="0"/>
          </a:p>
        </p:txBody>
      </p:sp>
      <p:pic>
        <p:nvPicPr>
          <p:cNvPr id="37" name="Image 0" descr="/Users/hwangjaewon/skala-workspace/skala-webservice-mini/assets/9_handover_write_nur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54357" y="1152144"/>
            <a:ext cx="3416599" cy="3314700"/>
          </a:xfrm>
          <a:prstGeom prst="rect">
            <a:avLst/>
          </a:prstGeom>
        </p:spPr>
      </p:pic>
      <p:sp>
        <p:nvSpPr>
          <p:cNvPr id="38" name="Shape 35"/>
          <p:cNvSpPr/>
          <p:nvPr/>
        </p:nvSpPr>
        <p:spPr>
          <a:xfrm>
            <a:off x="1254357" y="1152144"/>
            <a:ext cx="3416599" cy="3314700"/>
          </a:xfrm>
          <a:prstGeom prst="rect">
            <a:avLst/>
          </a:prstGeom>
          <a:ln w="9525">
            <a:solidFill>
              <a:srgbClr val="E4E2DB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2110197" y="1955562"/>
            <a:ext cx="192024" cy="192024"/>
          </a:xfrm>
          <a:prstGeom prst="ellipse">
            <a:avLst/>
          </a:prstGeom>
          <a:solidFill>
            <a:srgbClr val="C24A3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2110197" y="1955562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</a:t>
            </a:r>
            <a:endParaRPr lang="en-US" sz="900" dirty="0"/>
          </a:p>
        </p:txBody>
      </p:sp>
      <p:sp>
        <p:nvSpPr>
          <p:cNvPr id="41" name="Shape 38"/>
          <p:cNvSpPr/>
          <p:nvPr/>
        </p:nvSpPr>
        <p:spPr>
          <a:xfrm>
            <a:off x="1820086" y="1531031"/>
            <a:ext cx="192024" cy="1920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24A31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1820086" y="1531031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24A3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</a:t>
            </a:r>
            <a:endParaRPr lang="en-US" sz="900" dirty="0"/>
          </a:p>
        </p:txBody>
      </p:sp>
      <p:sp>
        <p:nvSpPr>
          <p:cNvPr id="43" name="Shape 40"/>
          <p:cNvSpPr/>
          <p:nvPr/>
        </p:nvSpPr>
        <p:spPr>
          <a:xfrm>
            <a:off x="3335377" y="4188547"/>
            <a:ext cx="192024" cy="192024"/>
          </a:xfrm>
          <a:prstGeom prst="ellipse">
            <a:avLst/>
          </a:prstGeom>
          <a:solidFill>
            <a:srgbClr val="C24A3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3335377" y="4188547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3</a:t>
            </a:r>
            <a:endParaRPr lang="en-US" sz="900" dirty="0"/>
          </a:p>
        </p:txBody>
      </p:sp>
      <p:sp>
        <p:nvSpPr>
          <p:cNvPr id="45" name="Shape 42"/>
          <p:cNvSpPr/>
          <p:nvPr/>
        </p:nvSpPr>
        <p:spPr>
          <a:xfrm>
            <a:off x="1880026" y="2025118"/>
            <a:ext cx="192024" cy="192024"/>
          </a:xfrm>
          <a:prstGeom prst="ellipse">
            <a:avLst/>
          </a:prstGeom>
          <a:solidFill>
            <a:srgbClr val="C24A3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1880026" y="2025118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</a:t>
            </a:r>
            <a:endParaRPr lang="en-US" sz="900" dirty="0"/>
          </a:p>
        </p:txBody>
      </p:sp>
      <p:sp>
        <p:nvSpPr>
          <p:cNvPr id="47" name="Shape 44"/>
          <p:cNvSpPr/>
          <p:nvPr/>
        </p:nvSpPr>
        <p:spPr>
          <a:xfrm>
            <a:off x="5577840" y="1243584"/>
            <a:ext cx="192024" cy="192024"/>
          </a:xfrm>
          <a:prstGeom prst="ellipse">
            <a:avLst/>
          </a:prstGeom>
          <a:solidFill>
            <a:srgbClr val="C24A31"/>
          </a:solidFill>
          <a:ln/>
        </p:spPr>
      </p:sp>
      <p:sp>
        <p:nvSpPr>
          <p:cNvPr id="48" name="Text 45"/>
          <p:cNvSpPr txBox="1"/>
          <p:nvPr/>
        </p:nvSpPr>
        <p:spPr>
          <a:xfrm>
            <a:off x="5577840" y="1243584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</a:t>
            </a:r>
            <a:endParaRPr lang="en-US" sz="850" dirty="0"/>
          </a:p>
        </p:txBody>
      </p:sp>
      <p:sp>
        <p:nvSpPr>
          <p:cNvPr id="49" name="Text 46"/>
          <p:cNvSpPr txBox="1"/>
          <p:nvPr/>
        </p:nvSpPr>
        <p:spPr>
          <a:xfrm>
            <a:off x="5870448" y="1188720"/>
            <a:ext cx="270662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C24A3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POST /handovers
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B333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작성을 시작하면 병동 양식을 그대로 복사</a:t>
            </a:r>
            <a:pPr indent="0" marL="0">
              <a:lnSpc>
                <a:spcPct val="110000"/>
              </a:lnSpc>
              <a:buNone/>
            </a:pPr>
            <a:endParaRPr lang="en-US" sz="8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나중에 양식이 바뀌어도 이미 쓴 인계는 안 바뀐다</a:t>
            </a:r>
            <a:endParaRPr lang="en-US" sz="850" dirty="0"/>
          </a:p>
        </p:txBody>
      </p:sp>
      <p:sp>
        <p:nvSpPr>
          <p:cNvPr id="50" name="Shape 47"/>
          <p:cNvSpPr/>
          <p:nvPr/>
        </p:nvSpPr>
        <p:spPr>
          <a:xfrm>
            <a:off x="5577840" y="1980819"/>
            <a:ext cx="30175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5577840" y="2072259"/>
            <a:ext cx="192024" cy="1920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24A31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5577840" y="2072259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C24A3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</a:t>
            </a:r>
            <a:endParaRPr lang="en-US" sz="850" dirty="0"/>
          </a:p>
        </p:txBody>
      </p:sp>
      <p:sp>
        <p:nvSpPr>
          <p:cNvPr id="53" name="Text 50"/>
          <p:cNvSpPr txBox="1"/>
          <p:nvPr/>
        </p:nvSpPr>
        <p:spPr>
          <a:xfrm>
            <a:off x="5870448" y="2017395"/>
            <a:ext cx="270662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C24A3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422 보낸 내용이 모자람
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B333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필수 항목이 비어 있으면 넘길 수 없다</a:t>
            </a:r>
            <a:pPr indent="0" marL="0">
              <a:lnSpc>
                <a:spcPct val="110000"/>
              </a:lnSpc>
              <a:buNone/>
            </a:pPr>
            <a:endParaRPr lang="en-US" sz="8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어떤 항목이 비었는지 이름까지 알려준다</a:t>
            </a:r>
            <a:endParaRPr lang="en-US" sz="850" dirty="0"/>
          </a:p>
        </p:txBody>
      </p:sp>
      <p:sp>
        <p:nvSpPr>
          <p:cNvPr id="54" name="Shape 51"/>
          <p:cNvSpPr/>
          <p:nvPr/>
        </p:nvSpPr>
        <p:spPr>
          <a:xfrm>
            <a:off x="5577840" y="2809494"/>
            <a:ext cx="30175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5577840" y="2900934"/>
            <a:ext cx="192024" cy="192024"/>
          </a:xfrm>
          <a:prstGeom prst="ellipse">
            <a:avLst/>
          </a:prstGeom>
          <a:solidFill>
            <a:srgbClr val="C24A31"/>
          </a:solidFill>
          <a:ln/>
        </p:spPr>
      </p:sp>
      <p:sp>
        <p:nvSpPr>
          <p:cNvPr id="56" name="Text 53"/>
          <p:cNvSpPr txBox="1"/>
          <p:nvPr/>
        </p:nvSpPr>
        <p:spPr>
          <a:xfrm>
            <a:off x="5577840" y="2900934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3</a:t>
            </a:r>
            <a:endParaRPr lang="en-US" sz="850" dirty="0"/>
          </a:p>
        </p:txBody>
      </p:sp>
      <p:sp>
        <p:nvSpPr>
          <p:cNvPr id="57" name="Text 54"/>
          <p:cNvSpPr txBox="1"/>
          <p:nvPr/>
        </p:nvSpPr>
        <p:spPr>
          <a:xfrm>
            <a:off x="5870448" y="2846070"/>
            <a:ext cx="270662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C24A3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POST /handovers/{id}/send
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B333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넘기면 '작성 중'에서 '전달됨'으로</a:t>
            </a:r>
            <a:pPr indent="0" marL="0">
              <a:lnSpc>
                <a:spcPct val="110000"/>
              </a:lnSpc>
              <a:buNone/>
            </a:pPr>
            <a:endParaRPr lang="en-US" sz="8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받을 사람은 서버가 고른다. 같은 환자의 다음 근무 담당</a:t>
            </a:r>
            <a:endParaRPr lang="en-US" sz="850" dirty="0"/>
          </a:p>
        </p:txBody>
      </p:sp>
      <p:sp>
        <p:nvSpPr>
          <p:cNvPr id="58" name="Shape 55"/>
          <p:cNvSpPr/>
          <p:nvPr/>
        </p:nvSpPr>
        <p:spPr>
          <a:xfrm>
            <a:off x="5577840" y="3638169"/>
            <a:ext cx="30175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5577840" y="3729609"/>
            <a:ext cx="192024" cy="192024"/>
          </a:xfrm>
          <a:prstGeom prst="ellipse">
            <a:avLst/>
          </a:prstGeom>
          <a:solidFill>
            <a:srgbClr val="C24A31"/>
          </a:solidFill>
          <a:ln/>
        </p:spPr>
      </p:sp>
      <p:sp>
        <p:nvSpPr>
          <p:cNvPr id="60" name="Text 57"/>
          <p:cNvSpPr txBox="1"/>
          <p:nvPr/>
        </p:nvSpPr>
        <p:spPr>
          <a:xfrm>
            <a:off x="5577840" y="3729609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</a:t>
            </a:r>
            <a:endParaRPr lang="en-US" sz="850" dirty="0"/>
          </a:p>
        </p:txBody>
      </p:sp>
      <p:sp>
        <p:nvSpPr>
          <p:cNvPr id="61" name="Text 58"/>
          <p:cNvSpPr txBox="1"/>
          <p:nvPr/>
        </p:nvSpPr>
        <p:spPr>
          <a:xfrm>
            <a:off x="5870448" y="3674745"/>
            <a:ext cx="270662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C24A3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PATCH /handovers/{id}/items
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B333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입력한 내용은 임시저장</a:t>
            </a:r>
            <a:pPr indent="0" marL="0">
              <a:lnSpc>
                <a:spcPct val="110000"/>
              </a:lnSpc>
              <a:buNone/>
            </a:pPr>
            <a:endParaRPr lang="en-US" sz="8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번 넘긴 뒤에는 못 고친다(409)</a:t>
            </a:r>
            <a:endParaRPr lang="en-US" sz="850" dirty="0"/>
          </a:p>
        </p:txBody>
      </p:sp>
      <p:sp>
        <p:nvSpPr>
          <p:cNvPr id="62" name="Shape 59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63" name="Text 60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받을 사람을 요청에서 안 받는 이유: 받으면 아무 근무로나 인계를 보낼 수 있게 된다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11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  화면마다 도는 API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solidFill>
            <a:srgbClr val="C24A31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</a:t>
            </a:r>
            <a:endParaRPr lang="en-US" sz="700" dirty="0"/>
          </a:p>
        </p:txBody>
      </p:sp>
      <p:sp>
        <p:nvSpPr>
          <p:cNvPr id="35" name="Text 33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인계 받기</a:t>
            </a:r>
            <a:endParaRPr lang="en-US" sz="2500" dirty="0"/>
          </a:p>
        </p:txBody>
      </p:sp>
      <p:sp>
        <p:nvSpPr>
          <p:cNvPr id="36" name="Text 34"/>
          <p:cNvSpPr txBox="1"/>
          <p:nvPr/>
        </p:nvSpPr>
        <p:spPr>
          <a:xfrm>
            <a:off x="548640" y="804672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0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요약을 써야 확인이 된다</a:t>
            </a:r>
            <a:endParaRPr lang="en-US" sz="1200" dirty="0"/>
          </a:p>
        </p:txBody>
      </p:sp>
      <p:pic>
        <p:nvPicPr>
          <p:cNvPr id="37" name="Image 0" descr="/Users/hwangjaewon/skala-workspace/skala-webservice-mini/assets/10_handover_receive_nur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36881" y="1152144"/>
            <a:ext cx="3451551" cy="3314700"/>
          </a:xfrm>
          <a:prstGeom prst="rect">
            <a:avLst/>
          </a:prstGeom>
        </p:spPr>
      </p:pic>
      <p:sp>
        <p:nvSpPr>
          <p:cNvPr id="38" name="Shape 35"/>
          <p:cNvSpPr/>
          <p:nvPr/>
        </p:nvSpPr>
        <p:spPr>
          <a:xfrm>
            <a:off x="1236881" y="1152144"/>
            <a:ext cx="3451551" cy="3314700"/>
          </a:xfrm>
          <a:prstGeom prst="rect">
            <a:avLst/>
          </a:prstGeom>
          <a:ln w="9525">
            <a:solidFill>
              <a:srgbClr val="E4E2DB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3214221" y="1591621"/>
            <a:ext cx="192024" cy="192024"/>
          </a:xfrm>
          <a:prstGeom prst="ellipse">
            <a:avLst/>
          </a:prstGeom>
          <a:solidFill>
            <a:srgbClr val="2B33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3214221" y="1591621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</a:t>
            </a:r>
            <a:endParaRPr lang="en-US" sz="900" dirty="0"/>
          </a:p>
        </p:txBody>
      </p:sp>
      <p:sp>
        <p:nvSpPr>
          <p:cNvPr id="41" name="Shape 38"/>
          <p:cNvSpPr/>
          <p:nvPr/>
        </p:nvSpPr>
        <p:spPr>
          <a:xfrm>
            <a:off x="1869933" y="3670577"/>
            <a:ext cx="192024" cy="192024"/>
          </a:xfrm>
          <a:prstGeom prst="ellipse">
            <a:avLst/>
          </a:prstGeom>
          <a:solidFill>
            <a:srgbClr val="C24A3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1869933" y="3670577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</a:t>
            </a:r>
            <a:endParaRPr lang="en-US" sz="900" dirty="0"/>
          </a:p>
        </p:txBody>
      </p:sp>
      <p:sp>
        <p:nvSpPr>
          <p:cNvPr id="43" name="Shape 40"/>
          <p:cNvSpPr/>
          <p:nvPr/>
        </p:nvSpPr>
        <p:spPr>
          <a:xfrm>
            <a:off x="3369238" y="4176990"/>
            <a:ext cx="192024" cy="192024"/>
          </a:xfrm>
          <a:prstGeom prst="ellipse">
            <a:avLst/>
          </a:prstGeom>
          <a:solidFill>
            <a:srgbClr val="C24A3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3369238" y="4176990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3</a:t>
            </a:r>
            <a:endParaRPr lang="en-US" sz="900" dirty="0"/>
          </a:p>
        </p:txBody>
      </p:sp>
      <p:sp>
        <p:nvSpPr>
          <p:cNvPr id="45" name="Shape 42"/>
          <p:cNvSpPr/>
          <p:nvPr/>
        </p:nvSpPr>
        <p:spPr>
          <a:xfrm>
            <a:off x="1809379" y="4012224"/>
            <a:ext cx="192024" cy="1920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24A31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1809379" y="4012224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24A3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</a:t>
            </a:r>
            <a:endParaRPr lang="en-US" sz="900" dirty="0"/>
          </a:p>
        </p:txBody>
      </p:sp>
      <p:sp>
        <p:nvSpPr>
          <p:cNvPr id="47" name="Shape 44"/>
          <p:cNvSpPr/>
          <p:nvPr/>
        </p:nvSpPr>
        <p:spPr>
          <a:xfrm>
            <a:off x="5577840" y="1243584"/>
            <a:ext cx="192024" cy="192024"/>
          </a:xfrm>
          <a:prstGeom prst="ellipse">
            <a:avLst/>
          </a:prstGeom>
          <a:solidFill>
            <a:srgbClr val="2B333C"/>
          </a:solidFill>
          <a:ln/>
        </p:spPr>
      </p:sp>
      <p:sp>
        <p:nvSpPr>
          <p:cNvPr id="48" name="Text 45"/>
          <p:cNvSpPr txBox="1"/>
          <p:nvPr/>
        </p:nvSpPr>
        <p:spPr>
          <a:xfrm>
            <a:off x="5577840" y="1243584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</a:t>
            </a:r>
            <a:endParaRPr lang="en-US" sz="850" dirty="0"/>
          </a:p>
        </p:txBody>
      </p:sp>
      <p:sp>
        <p:nvSpPr>
          <p:cNvPr id="49" name="Text 46"/>
          <p:cNvSpPr txBox="1"/>
          <p:nvPr/>
        </p:nvSpPr>
        <p:spPr>
          <a:xfrm>
            <a:off x="5870448" y="1188720"/>
            <a:ext cx="270662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B333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지금 상태는 '확인 대기'</a:t>
            </a:r>
            <a:pPr indent="0" marL="0">
              <a:lnSpc>
                <a:spcPct val="110000"/>
              </a:lnSpc>
              <a:buNone/>
            </a:pPr>
            <a:endParaRPr lang="en-US" sz="9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작성 중, 전달됨, 확인됨 순서로만 간다</a:t>
            </a:r>
            <a:endParaRPr lang="en-US" sz="950" dirty="0"/>
          </a:p>
        </p:txBody>
      </p:sp>
      <p:sp>
        <p:nvSpPr>
          <p:cNvPr id="50" name="Shape 47"/>
          <p:cNvSpPr/>
          <p:nvPr/>
        </p:nvSpPr>
        <p:spPr>
          <a:xfrm>
            <a:off x="5577840" y="1980819"/>
            <a:ext cx="30175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5577840" y="2072259"/>
            <a:ext cx="192024" cy="192024"/>
          </a:xfrm>
          <a:prstGeom prst="ellipse">
            <a:avLst/>
          </a:prstGeom>
          <a:solidFill>
            <a:srgbClr val="C24A31"/>
          </a:solidFill>
          <a:ln/>
        </p:spPr>
      </p:sp>
      <p:sp>
        <p:nvSpPr>
          <p:cNvPr id="52" name="Text 49"/>
          <p:cNvSpPr txBox="1"/>
          <p:nvPr/>
        </p:nvSpPr>
        <p:spPr>
          <a:xfrm>
            <a:off x="5577840" y="2072259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</a:t>
            </a:r>
            <a:endParaRPr lang="en-US" sz="850" dirty="0"/>
          </a:p>
        </p:txBody>
      </p:sp>
      <p:sp>
        <p:nvSpPr>
          <p:cNvPr id="53" name="Text 50"/>
          <p:cNvSpPr txBox="1"/>
          <p:nvPr/>
        </p:nvSpPr>
        <p:spPr>
          <a:xfrm>
            <a:off x="5870448" y="2017395"/>
            <a:ext cx="270662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C24A3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PATCH /handovers/{id}/receipt
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B333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받은 사람이 자기 말로 쓴 요약이 여기 저장</a:t>
            </a:r>
            <a:pPr indent="0" marL="0">
              <a:lnSpc>
                <a:spcPct val="110000"/>
              </a:lnSpc>
              <a:buNone/>
            </a:pPr>
            <a:endParaRPr lang="en-US" sz="8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칸이 이 서비스의 핵심</a:t>
            </a:r>
            <a:endParaRPr lang="en-US" sz="850" dirty="0"/>
          </a:p>
        </p:txBody>
      </p:sp>
      <p:sp>
        <p:nvSpPr>
          <p:cNvPr id="54" name="Shape 51"/>
          <p:cNvSpPr/>
          <p:nvPr/>
        </p:nvSpPr>
        <p:spPr>
          <a:xfrm>
            <a:off x="5577840" y="2809494"/>
            <a:ext cx="30175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5577840" y="2900934"/>
            <a:ext cx="192024" cy="192024"/>
          </a:xfrm>
          <a:prstGeom prst="ellipse">
            <a:avLst/>
          </a:prstGeom>
          <a:solidFill>
            <a:srgbClr val="C24A31"/>
          </a:solidFill>
          <a:ln/>
        </p:spPr>
      </p:sp>
      <p:sp>
        <p:nvSpPr>
          <p:cNvPr id="56" name="Text 53"/>
          <p:cNvSpPr txBox="1"/>
          <p:nvPr/>
        </p:nvSpPr>
        <p:spPr>
          <a:xfrm>
            <a:off x="5577840" y="2900934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3</a:t>
            </a:r>
            <a:endParaRPr lang="en-US" sz="850" dirty="0"/>
          </a:p>
        </p:txBody>
      </p:sp>
      <p:sp>
        <p:nvSpPr>
          <p:cNvPr id="57" name="Text 54"/>
          <p:cNvSpPr txBox="1"/>
          <p:nvPr/>
        </p:nvSpPr>
        <p:spPr>
          <a:xfrm>
            <a:off x="5870448" y="2846070"/>
            <a:ext cx="270662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C24A3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POST /…/receipt/confirmation
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B333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확인 처리. 이때 '확인됨'이 된다</a:t>
            </a:r>
            <a:pPr indent="0" marL="0">
              <a:lnSpc>
                <a:spcPct val="110000"/>
              </a:lnSpc>
              <a:buNone/>
            </a:pPr>
            <a:endParaRPr lang="en-US" sz="8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보낸 사람 화면에 이 요약이 되돌아간다</a:t>
            </a:r>
            <a:endParaRPr lang="en-US" sz="850" dirty="0"/>
          </a:p>
        </p:txBody>
      </p:sp>
      <p:sp>
        <p:nvSpPr>
          <p:cNvPr id="58" name="Shape 55"/>
          <p:cNvSpPr/>
          <p:nvPr/>
        </p:nvSpPr>
        <p:spPr>
          <a:xfrm>
            <a:off x="5577840" y="3638169"/>
            <a:ext cx="30175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5577840" y="3729609"/>
            <a:ext cx="192024" cy="1920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24A31"/>
            </a:solidFill>
            <a:prstDash val="solid"/>
          </a:ln>
        </p:spPr>
      </p:sp>
      <p:sp>
        <p:nvSpPr>
          <p:cNvPr id="60" name="Text 57"/>
          <p:cNvSpPr txBox="1"/>
          <p:nvPr/>
        </p:nvSpPr>
        <p:spPr>
          <a:xfrm>
            <a:off x="5577840" y="3729609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C24A3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</a:t>
            </a:r>
            <a:endParaRPr lang="en-US" sz="850" dirty="0"/>
          </a:p>
        </p:txBody>
      </p:sp>
      <p:sp>
        <p:nvSpPr>
          <p:cNvPr id="61" name="Text 58"/>
          <p:cNvSpPr txBox="1"/>
          <p:nvPr/>
        </p:nvSpPr>
        <p:spPr>
          <a:xfrm>
            <a:off x="5870448" y="3674745"/>
            <a:ext cx="270662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C24A3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422 · 403
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B333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요약이 없으면 확인되지 않는다(422)</a:t>
            </a:r>
            <a:pPr indent="0" marL="0">
              <a:lnSpc>
                <a:spcPct val="110000"/>
              </a:lnSpc>
              <a:buNone/>
            </a:pPr>
            <a:endParaRPr lang="en-US" sz="8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 환자를 맡은 사람이 아니면 403</a:t>
            </a:r>
            <a:endParaRPr lang="en-US" sz="850" dirty="0"/>
          </a:p>
        </p:txBody>
      </p:sp>
      <p:sp>
        <p:nvSpPr>
          <p:cNvPr id="62" name="Shape 59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63" name="Text 60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화면에 들어오는 순간 '열어봤다'는 시각이 따로 남는다. 조회와 분리했다. 수간호사가 봐도 수신 기록이 되면 안 되니까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12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  화면마다 도는 API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solidFill>
            <a:srgbClr val="C24A31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</a:t>
            </a:r>
            <a:endParaRPr lang="en-US" sz="700" dirty="0"/>
          </a:p>
        </p:txBody>
      </p:sp>
      <p:sp>
        <p:nvSpPr>
          <p:cNvPr id="35" name="Text 33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결원 재배정</a:t>
            </a:r>
            <a:endParaRPr lang="en-US" sz="2500" dirty="0"/>
          </a:p>
        </p:txBody>
      </p:sp>
      <p:sp>
        <p:nvSpPr>
          <p:cNvPr id="36" name="Text 34"/>
          <p:cNvSpPr txBox="1"/>
          <p:nvPr/>
        </p:nvSpPr>
        <p:spPr>
          <a:xfrm>
            <a:off x="548640" y="804672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0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사람이 판단하는 자리와 시스템이 막는 자리를 나눴다</a:t>
            </a:r>
            <a:endParaRPr lang="en-US" sz="1200" dirty="0"/>
          </a:p>
        </p:txBody>
      </p:sp>
      <p:pic>
        <p:nvPicPr>
          <p:cNvPr id="37" name="Image 0" descr="/Users/hwangjaewon/skala-workspace/skala-webservice-mini/assets/6_reassign_manag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6178" y="1152144"/>
            <a:ext cx="3572956" cy="3314700"/>
          </a:xfrm>
          <a:prstGeom prst="rect">
            <a:avLst/>
          </a:prstGeom>
        </p:spPr>
      </p:pic>
      <p:sp>
        <p:nvSpPr>
          <p:cNvPr id="38" name="Shape 35"/>
          <p:cNvSpPr/>
          <p:nvPr/>
        </p:nvSpPr>
        <p:spPr>
          <a:xfrm>
            <a:off x="1176178" y="1152144"/>
            <a:ext cx="3572956" cy="3314700"/>
          </a:xfrm>
          <a:prstGeom prst="rect">
            <a:avLst/>
          </a:prstGeom>
          <a:ln w="9525">
            <a:solidFill>
              <a:srgbClr val="E4E2DB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1772191" y="1718069"/>
            <a:ext cx="192024" cy="192024"/>
          </a:xfrm>
          <a:prstGeom prst="ellipse">
            <a:avLst/>
          </a:prstGeom>
          <a:solidFill>
            <a:srgbClr val="C24A3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772191" y="1718069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</a:t>
            </a:r>
            <a:endParaRPr lang="en-US" sz="900" dirty="0"/>
          </a:p>
        </p:txBody>
      </p:sp>
      <p:sp>
        <p:nvSpPr>
          <p:cNvPr id="41" name="Shape 38"/>
          <p:cNvSpPr/>
          <p:nvPr/>
        </p:nvSpPr>
        <p:spPr>
          <a:xfrm>
            <a:off x="2489290" y="1718069"/>
            <a:ext cx="192024" cy="192024"/>
          </a:xfrm>
          <a:prstGeom prst="ellipse">
            <a:avLst/>
          </a:prstGeom>
          <a:solidFill>
            <a:srgbClr val="C24A3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2489290" y="1718069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</a:t>
            </a:r>
            <a:endParaRPr lang="en-US" sz="900" dirty="0"/>
          </a:p>
        </p:txBody>
      </p:sp>
      <p:sp>
        <p:nvSpPr>
          <p:cNvPr id="43" name="Shape 40"/>
          <p:cNvSpPr/>
          <p:nvPr/>
        </p:nvSpPr>
        <p:spPr>
          <a:xfrm>
            <a:off x="3203881" y="1718069"/>
            <a:ext cx="192024" cy="192024"/>
          </a:xfrm>
          <a:prstGeom prst="ellipse">
            <a:avLst/>
          </a:prstGeom>
          <a:solidFill>
            <a:srgbClr val="C24A3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3203881" y="1718069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3</a:t>
            </a:r>
            <a:endParaRPr lang="en-US" sz="900" dirty="0"/>
          </a:p>
        </p:txBody>
      </p:sp>
      <p:sp>
        <p:nvSpPr>
          <p:cNvPr id="45" name="Shape 42"/>
          <p:cNvSpPr/>
          <p:nvPr/>
        </p:nvSpPr>
        <p:spPr>
          <a:xfrm>
            <a:off x="3968619" y="2249625"/>
            <a:ext cx="192024" cy="1920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24A31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3968619" y="2249625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24A3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</a:t>
            </a:r>
            <a:endParaRPr lang="en-US" sz="900" dirty="0"/>
          </a:p>
        </p:txBody>
      </p:sp>
      <p:sp>
        <p:nvSpPr>
          <p:cNvPr id="47" name="Shape 44"/>
          <p:cNvSpPr/>
          <p:nvPr/>
        </p:nvSpPr>
        <p:spPr>
          <a:xfrm>
            <a:off x="5577840" y="1243584"/>
            <a:ext cx="192024" cy="192024"/>
          </a:xfrm>
          <a:prstGeom prst="ellipse">
            <a:avLst/>
          </a:prstGeom>
          <a:solidFill>
            <a:srgbClr val="C24A31"/>
          </a:solidFill>
          <a:ln/>
        </p:spPr>
      </p:sp>
      <p:sp>
        <p:nvSpPr>
          <p:cNvPr id="48" name="Text 45"/>
          <p:cNvSpPr txBox="1"/>
          <p:nvPr/>
        </p:nvSpPr>
        <p:spPr>
          <a:xfrm>
            <a:off x="5577840" y="1243584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</a:t>
            </a:r>
            <a:endParaRPr lang="en-US" sz="850" dirty="0"/>
          </a:p>
        </p:txBody>
      </p:sp>
      <p:sp>
        <p:nvSpPr>
          <p:cNvPr id="49" name="Text 46"/>
          <p:cNvSpPr txBox="1"/>
          <p:nvPr/>
        </p:nvSpPr>
        <p:spPr>
          <a:xfrm>
            <a:off x="5870448" y="1188720"/>
            <a:ext cx="270662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C24A3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POST /…/absence
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B333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결원 등록. 사유를 사람이 쓰는 유일한 자리</a:t>
            </a:r>
            <a:pPr indent="0" marL="0">
              <a:lnSpc>
                <a:spcPct val="110000"/>
              </a:lnSpc>
              <a:buNone/>
            </a:pPr>
            <a:endParaRPr lang="en-US" sz="8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나머지 세 기록은 이 사유를 그대로 복사</a:t>
            </a:r>
            <a:endParaRPr lang="en-US" sz="850" dirty="0"/>
          </a:p>
        </p:txBody>
      </p:sp>
      <p:sp>
        <p:nvSpPr>
          <p:cNvPr id="50" name="Shape 47"/>
          <p:cNvSpPr/>
          <p:nvPr/>
        </p:nvSpPr>
        <p:spPr>
          <a:xfrm>
            <a:off x="5577840" y="1980819"/>
            <a:ext cx="30175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5577840" y="2072259"/>
            <a:ext cx="192024" cy="192024"/>
          </a:xfrm>
          <a:prstGeom prst="ellipse">
            <a:avLst/>
          </a:prstGeom>
          <a:solidFill>
            <a:srgbClr val="C24A31"/>
          </a:solidFill>
          <a:ln/>
        </p:spPr>
      </p:sp>
      <p:sp>
        <p:nvSpPr>
          <p:cNvPr id="52" name="Text 49"/>
          <p:cNvSpPr txBox="1"/>
          <p:nvPr/>
        </p:nvSpPr>
        <p:spPr>
          <a:xfrm>
            <a:off x="5577840" y="2072259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</a:t>
            </a:r>
            <a:endParaRPr lang="en-US" sz="850" dirty="0"/>
          </a:p>
        </p:txBody>
      </p:sp>
      <p:sp>
        <p:nvSpPr>
          <p:cNvPr id="53" name="Text 50"/>
          <p:cNvSpPr txBox="1"/>
          <p:nvPr/>
        </p:nvSpPr>
        <p:spPr>
          <a:xfrm>
            <a:off x="5870448" y="2017395"/>
            <a:ext cx="270662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C24A3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POST /…/substitute
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B333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누가 대신 설지 정한다</a:t>
            </a:r>
            <a:pPr indent="0" marL="0">
              <a:lnSpc>
                <a:spcPct val="110000"/>
              </a:lnSpc>
              <a:buNone/>
            </a:pPr>
            <a:endParaRPr lang="en-US" sz="8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체크해 두면 결원자의 역할(차지)도 같이 넘어간다</a:t>
            </a:r>
            <a:endParaRPr lang="en-US" sz="850" dirty="0"/>
          </a:p>
        </p:txBody>
      </p:sp>
      <p:sp>
        <p:nvSpPr>
          <p:cNvPr id="54" name="Shape 51"/>
          <p:cNvSpPr/>
          <p:nvPr/>
        </p:nvSpPr>
        <p:spPr>
          <a:xfrm>
            <a:off x="5577840" y="2809494"/>
            <a:ext cx="30175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5577840" y="2900934"/>
            <a:ext cx="192024" cy="192024"/>
          </a:xfrm>
          <a:prstGeom prst="ellipse">
            <a:avLst/>
          </a:prstGeom>
          <a:solidFill>
            <a:srgbClr val="C24A31"/>
          </a:solidFill>
          <a:ln/>
        </p:spPr>
      </p:sp>
      <p:sp>
        <p:nvSpPr>
          <p:cNvPr id="56" name="Text 53"/>
          <p:cNvSpPr txBox="1"/>
          <p:nvPr/>
        </p:nvSpPr>
        <p:spPr>
          <a:xfrm>
            <a:off x="5577840" y="2900934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3</a:t>
            </a:r>
            <a:endParaRPr lang="en-US" sz="850" dirty="0"/>
          </a:p>
        </p:txBody>
      </p:sp>
      <p:sp>
        <p:nvSpPr>
          <p:cNvPr id="57" name="Text 54"/>
          <p:cNvSpPr txBox="1"/>
          <p:nvPr/>
        </p:nvSpPr>
        <p:spPr>
          <a:xfrm>
            <a:off x="5870448" y="2846070"/>
            <a:ext cx="270662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C24A3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POST /…/handover-transfer
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B333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맡고 있던 인계를 넘긴다</a:t>
            </a:r>
            <a:pPr indent="0" marL="0">
              <a:lnSpc>
                <a:spcPct val="110000"/>
              </a:lnSpc>
              <a:buNone/>
            </a:pPr>
            <a:endParaRPr lang="en-US" sz="8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원래 인계는 안 지운다. '대체됨'으로 두고 새 인계를 발행</a:t>
            </a:r>
            <a:endParaRPr lang="en-US" sz="850" dirty="0"/>
          </a:p>
        </p:txBody>
      </p:sp>
      <p:sp>
        <p:nvSpPr>
          <p:cNvPr id="58" name="Shape 55"/>
          <p:cNvSpPr/>
          <p:nvPr/>
        </p:nvSpPr>
        <p:spPr>
          <a:xfrm>
            <a:off x="5577840" y="3638169"/>
            <a:ext cx="30175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5577840" y="3729609"/>
            <a:ext cx="192024" cy="1920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24A31"/>
            </a:solidFill>
            <a:prstDash val="solid"/>
          </a:ln>
        </p:spPr>
      </p:sp>
      <p:sp>
        <p:nvSpPr>
          <p:cNvPr id="60" name="Text 57"/>
          <p:cNvSpPr txBox="1"/>
          <p:nvPr/>
        </p:nvSpPr>
        <p:spPr>
          <a:xfrm>
            <a:off x="5577840" y="3729609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C24A3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</a:t>
            </a:r>
            <a:endParaRPr lang="en-US" sz="850" dirty="0"/>
          </a:p>
        </p:txBody>
      </p:sp>
      <p:sp>
        <p:nvSpPr>
          <p:cNvPr id="61" name="Text 58"/>
          <p:cNvSpPr txBox="1"/>
          <p:nvPr/>
        </p:nvSpPr>
        <p:spPr>
          <a:xfrm>
            <a:off x="5870448" y="3674745"/>
            <a:ext cx="270662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C24A3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422 보낸 내용이 모자람
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B333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대체자 없이 '완료'라고 적을 수 없다</a:t>
            </a:r>
            <a:pPr indent="0" marL="0">
              <a:lnSpc>
                <a:spcPct val="110000"/>
              </a:lnSpc>
              <a:buNone/>
            </a:pPr>
            <a:endParaRPr lang="en-US" sz="8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완료는 자동 판정이 아니라 사람의 확인 기록</a:t>
            </a:r>
            <a:endParaRPr lang="en-US" sz="850" dirty="0"/>
          </a:p>
        </p:txBody>
      </p:sp>
      <p:sp>
        <p:nvSpPr>
          <p:cNvPr id="62" name="Shape 59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63" name="Text 60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아래 목록은 "이 사람 이름으로 남은 인계 N건". 시스템이 막지 않기로 한 것을 화면이 대신 보여준다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13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  화면마다 도는 API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solidFill>
            <a:srgbClr val="C24A31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</a:t>
            </a:r>
            <a:endParaRPr lang="en-US" sz="700" dirty="0"/>
          </a:p>
        </p:txBody>
      </p:sp>
      <p:sp>
        <p:nvSpPr>
          <p:cNvPr id="35" name="Text 33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수간호사 첫 화면</a:t>
            </a:r>
            <a:endParaRPr lang="en-US" sz="2500" dirty="0"/>
          </a:p>
        </p:txBody>
      </p:sp>
      <p:sp>
        <p:nvSpPr>
          <p:cNvPr id="36" name="Text 34"/>
          <p:cNvSpPr txBox="1"/>
          <p:nvPr/>
        </p:nvSpPr>
        <p:spPr>
          <a:xfrm>
            <a:off x="548640" y="804672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0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숫자를 누르면 그 숫자의 근거로 내려간다</a:t>
            </a:r>
            <a:endParaRPr lang="en-US" sz="1200" dirty="0"/>
          </a:p>
        </p:txBody>
      </p:sp>
      <p:pic>
        <p:nvPicPr>
          <p:cNvPr id="37" name="Image 0" descr="/Users/hwangjaewon/skala-workspace/skala-webservice-mini/assets/2_dashboard_manag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1551" y="1152144"/>
            <a:ext cx="4522209" cy="3314700"/>
          </a:xfrm>
          <a:prstGeom prst="rect">
            <a:avLst/>
          </a:prstGeom>
        </p:spPr>
      </p:pic>
      <p:sp>
        <p:nvSpPr>
          <p:cNvPr id="38" name="Shape 35"/>
          <p:cNvSpPr/>
          <p:nvPr/>
        </p:nvSpPr>
        <p:spPr>
          <a:xfrm>
            <a:off x="701551" y="1152144"/>
            <a:ext cx="4522209" cy="3314700"/>
          </a:xfrm>
          <a:prstGeom prst="rect">
            <a:avLst/>
          </a:prstGeom>
          <a:ln w="9525">
            <a:solidFill>
              <a:srgbClr val="E4E2DB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1481420" y="1608582"/>
            <a:ext cx="192024" cy="192024"/>
          </a:xfrm>
          <a:prstGeom prst="ellipse">
            <a:avLst/>
          </a:prstGeom>
          <a:solidFill>
            <a:srgbClr val="2B33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481420" y="1608582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</a:t>
            </a:r>
            <a:endParaRPr lang="en-US" sz="900" dirty="0"/>
          </a:p>
        </p:txBody>
      </p:sp>
      <p:sp>
        <p:nvSpPr>
          <p:cNvPr id="41" name="Shape 38"/>
          <p:cNvSpPr/>
          <p:nvPr/>
        </p:nvSpPr>
        <p:spPr>
          <a:xfrm>
            <a:off x="2389035" y="1608582"/>
            <a:ext cx="192024" cy="192024"/>
          </a:xfrm>
          <a:prstGeom prst="ellipse">
            <a:avLst/>
          </a:prstGeom>
          <a:solidFill>
            <a:srgbClr val="2B33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2389035" y="1608582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</a:t>
            </a:r>
            <a:endParaRPr lang="en-US" sz="900" dirty="0"/>
          </a:p>
        </p:txBody>
      </p:sp>
      <p:sp>
        <p:nvSpPr>
          <p:cNvPr id="43" name="Shape 40"/>
          <p:cNvSpPr/>
          <p:nvPr/>
        </p:nvSpPr>
        <p:spPr>
          <a:xfrm>
            <a:off x="3293477" y="1605407"/>
            <a:ext cx="192024" cy="192024"/>
          </a:xfrm>
          <a:prstGeom prst="ellipse">
            <a:avLst/>
          </a:prstGeom>
          <a:solidFill>
            <a:srgbClr val="C24A3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3293477" y="1605407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3</a:t>
            </a:r>
            <a:endParaRPr lang="en-US" sz="900" dirty="0"/>
          </a:p>
        </p:txBody>
      </p:sp>
      <p:sp>
        <p:nvSpPr>
          <p:cNvPr id="45" name="Shape 42"/>
          <p:cNvSpPr/>
          <p:nvPr/>
        </p:nvSpPr>
        <p:spPr>
          <a:xfrm>
            <a:off x="4201092" y="1608582"/>
            <a:ext cx="192024" cy="1920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24A31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4201092" y="1608582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24A3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</a:t>
            </a:r>
            <a:endParaRPr lang="en-US" sz="900" dirty="0"/>
          </a:p>
        </p:txBody>
      </p:sp>
      <p:sp>
        <p:nvSpPr>
          <p:cNvPr id="47" name="Shape 44"/>
          <p:cNvSpPr/>
          <p:nvPr/>
        </p:nvSpPr>
        <p:spPr>
          <a:xfrm>
            <a:off x="5577840" y="1243584"/>
            <a:ext cx="192024" cy="192024"/>
          </a:xfrm>
          <a:prstGeom prst="ellipse">
            <a:avLst/>
          </a:prstGeom>
          <a:solidFill>
            <a:srgbClr val="2B333C"/>
          </a:solidFill>
          <a:ln/>
        </p:spPr>
      </p:sp>
      <p:sp>
        <p:nvSpPr>
          <p:cNvPr id="48" name="Text 45"/>
          <p:cNvSpPr txBox="1"/>
          <p:nvPr/>
        </p:nvSpPr>
        <p:spPr>
          <a:xfrm>
            <a:off x="5577840" y="1243584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</a:t>
            </a:r>
            <a:endParaRPr lang="en-US" sz="850" dirty="0"/>
          </a:p>
        </p:txBody>
      </p:sp>
      <p:sp>
        <p:nvSpPr>
          <p:cNvPr id="49" name="Text 46"/>
          <p:cNvSpPr txBox="1"/>
          <p:nvPr/>
        </p:nvSpPr>
        <p:spPr>
          <a:xfrm>
            <a:off x="5870448" y="1188720"/>
            <a:ext cx="270662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2B333C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GET /wards/{id}/shift-assignments
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B333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오늘 누가 나오는지. 누르면 명단이 펼쳐진다</a:t>
            </a:r>
            <a:pPr indent="0" marL="0">
              <a:lnSpc>
                <a:spcPct val="110000"/>
              </a:lnSpc>
              <a:buNone/>
            </a:pPr>
            <a:endParaRPr lang="en-US" sz="8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근무 등록 화면과 같은 API 를 다시 쓴다</a:t>
            </a:r>
            <a:endParaRPr lang="en-US" sz="850" dirty="0"/>
          </a:p>
        </p:txBody>
      </p:sp>
      <p:sp>
        <p:nvSpPr>
          <p:cNvPr id="50" name="Shape 47"/>
          <p:cNvSpPr/>
          <p:nvPr/>
        </p:nvSpPr>
        <p:spPr>
          <a:xfrm>
            <a:off x="5577840" y="1980819"/>
            <a:ext cx="30175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5577840" y="2072259"/>
            <a:ext cx="192024" cy="192024"/>
          </a:xfrm>
          <a:prstGeom prst="ellipse">
            <a:avLst/>
          </a:prstGeom>
          <a:solidFill>
            <a:srgbClr val="2B333C"/>
          </a:solidFill>
          <a:ln/>
        </p:spPr>
      </p:sp>
      <p:sp>
        <p:nvSpPr>
          <p:cNvPr id="52" name="Text 49"/>
          <p:cNvSpPr txBox="1"/>
          <p:nvPr/>
        </p:nvSpPr>
        <p:spPr>
          <a:xfrm>
            <a:off x="5577840" y="2072259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</a:t>
            </a:r>
            <a:endParaRPr lang="en-US" sz="850" dirty="0"/>
          </a:p>
        </p:txBody>
      </p:sp>
      <p:sp>
        <p:nvSpPr>
          <p:cNvPr id="53" name="Text 50"/>
          <p:cNvSpPr txBox="1"/>
          <p:nvPr/>
        </p:nvSpPr>
        <p:spPr>
          <a:xfrm>
            <a:off x="5870448" y="2017395"/>
            <a:ext cx="270662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2B333C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같은 응답을 역할별로 묶음
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B333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누가 무엇을 맡았는지, 역할별로</a:t>
            </a:r>
            <a:pPr indent="0" marL="0">
              <a:lnSpc>
                <a:spcPct val="110000"/>
              </a:lnSpc>
              <a:buNone/>
            </a:pPr>
            <a:endParaRPr lang="en-US" sz="8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이걸 위해 새 API 를 만들지 않았다</a:t>
            </a:r>
            <a:endParaRPr lang="en-US" sz="850" dirty="0"/>
          </a:p>
        </p:txBody>
      </p:sp>
      <p:sp>
        <p:nvSpPr>
          <p:cNvPr id="54" name="Shape 51"/>
          <p:cNvSpPr/>
          <p:nvPr/>
        </p:nvSpPr>
        <p:spPr>
          <a:xfrm>
            <a:off x="5577840" y="2809494"/>
            <a:ext cx="30175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5577840" y="2900934"/>
            <a:ext cx="192024" cy="192024"/>
          </a:xfrm>
          <a:prstGeom prst="ellipse">
            <a:avLst/>
          </a:prstGeom>
          <a:solidFill>
            <a:srgbClr val="C24A31"/>
          </a:solidFill>
          <a:ln/>
        </p:spPr>
      </p:sp>
      <p:sp>
        <p:nvSpPr>
          <p:cNvPr id="56" name="Text 53"/>
          <p:cNvSpPr txBox="1"/>
          <p:nvPr/>
        </p:nvSpPr>
        <p:spPr>
          <a:xfrm>
            <a:off x="5577840" y="2900934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3</a:t>
            </a:r>
            <a:endParaRPr lang="en-US" sz="850" dirty="0"/>
          </a:p>
        </p:txBody>
      </p:sp>
      <p:sp>
        <p:nvSpPr>
          <p:cNvPr id="57" name="Text 54"/>
          <p:cNvSpPr txBox="1"/>
          <p:nvPr/>
        </p:nvSpPr>
        <p:spPr>
          <a:xfrm>
            <a:off x="5870448" y="2846070"/>
            <a:ext cx="270662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C24A3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GET /wards/{id}/handovers?status=SENT
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B333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아직 확인 안 된 인계. 누르면 어느 건인지</a:t>
            </a:r>
            <a:pPr indent="0" marL="0">
              <a:lnSpc>
                <a:spcPct val="110000"/>
              </a:lnSpc>
              <a:buNone/>
            </a:pPr>
            <a:endParaRPr lang="en-US" sz="8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숫자와 목록이 같은 조건</a:t>
            </a:r>
            <a:endParaRPr lang="en-US" sz="850" dirty="0"/>
          </a:p>
        </p:txBody>
      </p:sp>
      <p:sp>
        <p:nvSpPr>
          <p:cNvPr id="58" name="Shape 55"/>
          <p:cNvSpPr/>
          <p:nvPr/>
        </p:nvSpPr>
        <p:spPr>
          <a:xfrm>
            <a:off x="5577840" y="3638169"/>
            <a:ext cx="30175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5577840" y="3729609"/>
            <a:ext cx="192024" cy="1920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24A31"/>
            </a:solidFill>
            <a:prstDash val="solid"/>
          </a:ln>
        </p:spPr>
      </p:sp>
      <p:sp>
        <p:nvSpPr>
          <p:cNvPr id="60" name="Text 57"/>
          <p:cNvSpPr txBox="1"/>
          <p:nvPr/>
        </p:nvSpPr>
        <p:spPr>
          <a:xfrm>
            <a:off x="5577840" y="3729609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C24A3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</a:t>
            </a:r>
            <a:endParaRPr lang="en-US" sz="850" dirty="0"/>
          </a:p>
        </p:txBody>
      </p:sp>
      <p:sp>
        <p:nvSpPr>
          <p:cNvPr id="61" name="Text 58"/>
          <p:cNvSpPr txBox="1"/>
          <p:nvPr/>
        </p:nvSpPr>
        <p:spPr>
          <a:xfrm>
            <a:off x="5870448" y="3674745"/>
            <a:ext cx="270662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B333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결원 목록은 접지 않고 항상 보인다</a:t>
            </a:r>
            <a:pPr indent="0" marL="0">
              <a:lnSpc>
                <a:spcPct val="110000"/>
              </a:lnSpc>
              <a:buNone/>
            </a:pPr>
            <a:endParaRPr lang="en-US" sz="9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접히면 '재배정 필요'를 놓친다. 타일을 누르면 그 자리로 내려간다</a:t>
            </a:r>
            <a:endParaRPr lang="en-US" sz="950" dirty="0"/>
          </a:p>
        </p:txBody>
      </p:sp>
      <p:sp>
        <p:nvSpPr>
          <p:cNvPr id="62" name="Shape 59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63" name="Text 60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"인계 미작성 N건"은 안 넣었다. 병원 전산과 연결이 없어서 "썼어야 했는데 안 쓴 건"을 셀 방법이 없다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14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  화면마다 도는 API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solidFill>
            <a:srgbClr val="C24A31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</a:t>
            </a:r>
            <a:endParaRPr lang="en-US" sz="700" dirty="0"/>
          </a:p>
        </p:txBody>
      </p:sp>
      <p:sp>
        <p:nvSpPr>
          <p:cNvPr id="35" name="Text 33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역할과 인계 담당 정하기</a:t>
            </a:r>
            <a:endParaRPr lang="en-US" sz="2500" dirty="0"/>
          </a:p>
        </p:txBody>
      </p:sp>
      <p:sp>
        <p:nvSpPr>
          <p:cNvPr id="36" name="Text 34"/>
          <p:cNvSpPr txBox="1"/>
          <p:nvPr/>
        </p:nvSpPr>
        <p:spPr>
          <a:xfrm>
            <a:off x="548640" y="804672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0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환자는 팀이 같이 본다. 여기서 정하는 건 인계를 맡을 사람</a:t>
            </a:r>
            <a:endParaRPr lang="en-US" sz="1200" dirty="0"/>
          </a:p>
        </p:txBody>
      </p:sp>
      <p:pic>
        <p:nvPicPr>
          <p:cNvPr id="37" name="Image 0" descr="/Users/hwangjaewon/skala-workspace/skala-webservice-mini/assets/4_assignment_board_manag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152144"/>
            <a:ext cx="4828032" cy="3017520"/>
          </a:xfrm>
          <a:prstGeom prst="rect">
            <a:avLst/>
          </a:prstGeom>
        </p:spPr>
      </p:pic>
      <p:sp>
        <p:nvSpPr>
          <p:cNvPr id="38" name="Shape 35"/>
          <p:cNvSpPr/>
          <p:nvPr/>
        </p:nvSpPr>
        <p:spPr>
          <a:xfrm>
            <a:off x="548640" y="1152144"/>
            <a:ext cx="4828032" cy="3017520"/>
          </a:xfrm>
          <a:prstGeom prst="rect">
            <a:avLst/>
          </a:prstGeom>
          <a:ln w="9525">
            <a:solidFill>
              <a:srgbClr val="E4E2DB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1378001" y="1733398"/>
            <a:ext cx="192024" cy="192024"/>
          </a:xfrm>
          <a:prstGeom prst="ellipse">
            <a:avLst/>
          </a:prstGeom>
          <a:solidFill>
            <a:srgbClr val="C24A3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378001" y="1733398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</a:t>
            </a:r>
            <a:endParaRPr lang="en-US" sz="900" dirty="0"/>
          </a:p>
        </p:txBody>
      </p:sp>
      <p:sp>
        <p:nvSpPr>
          <p:cNvPr id="41" name="Shape 38"/>
          <p:cNvSpPr/>
          <p:nvPr/>
        </p:nvSpPr>
        <p:spPr>
          <a:xfrm>
            <a:off x="2896819" y="2132381"/>
            <a:ext cx="192024" cy="192024"/>
          </a:xfrm>
          <a:prstGeom prst="ellipse">
            <a:avLst/>
          </a:prstGeom>
          <a:solidFill>
            <a:srgbClr val="C24A3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2896819" y="2132381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</a:t>
            </a:r>
            <a:endParaRPr lang="en-US" sz="900" dirty="0"/>
          </a:p>
        </p:txBody>
      </p:sp>
      <p:sp>
        <p:nvSpPr>
          <p:cNvPr id="43" name="Shape 40"/>
          <p:cNvSpPr/>
          <p:nvPr/>
        </p:nvSpPr>
        <p:spPr>
          <a:xfrm>
            <a:off x="3735019" y="2129028"/>
            <a:ext cx="192024" cy="192024"/>
          </a:xfrm>
          <a:prstGeom prst="ellipse">
            <a:avLst/>
          </a:prstGeom>
          <a:solidFill>
            <a:srgbClr val="2B33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3735019" y="2129028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3</a:t>
            </a:r>
            <a:endParaRPr lang="en-US" sz="900" dirty="0"/>
          </a:p>
        </p:txBody>
      </p:sp>
      <p:sp>
        <p:nvSpPr>
          <p:cNvPr id="45" name="Shape 42"/>
          <p:cNvSpPr/>
          <p:nvPr/>
        </p:nvSpPr>
        <p:spPr>
          <a:xfrm>
            <a:off x="5577840" y="1243584"/>
            <a:ext cx="192024" cy="192024"/>
          </a:xfrm>
          <a:prstGeom prst="ellipse">
            <a:avLst/>
          </a:prstGeom>
          <a:solidFill>
            <a:srgbClr val="C24A31"/>
          </a:solidFill>
          <a:ln/>
        </p:spPr>
      </p:sp>
      <p:sp>
        <p:nvSpPr>
          <p:cNvPr id="46" name="Text 43"/>
          <p:cNvSpPr txBox="1"/>
          <p:nvPr/>
        </p:nvSpPr>
        <p:spPr>
          <a:xfrm>
            <a:off x="5577840" y="1243584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</a:t>
            </a:r>
            <a:endParaRPr lang="en-US" sz="850" dirty="0"/>
          </a:p>
        </p:txBody>
      </p:sp>
      <p:sp>
        <p:nvSpPr>
          <p:cNvPr id="47" name="Text 44"/>
          <p:cNvSpPr txBox="1"/>
          <p:nvPr/>
        </p:nvSpPr>
        <p:spPr>
          <a:xfrm>
            <a:off x="5870448" y="1188720"/>
            <a:ext cx="2706624" cy="10317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C24A3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PATCH /shift-assignments/{id}
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B333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역할은 고르는 즉시 저장</a:t>
            </a:r>
            <a:pPr indent="0" marL="0">
              <a:lnSpc>
                <a:spcPct val="110000"/>
              </a:lnSpc>
              <a:buNone/>
            </a:pPr>
            <a:endParaRPr lang="en-US" sz="8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저장 버튼이 따로 없다</a:t>
            </a:r>
            <a:endParaRPr lang="en-US" sz="850" dirty="0"/>
          </a:p>
        </p:txBody>
      </p:sp>
      <p:sp>
        <p:nvSpPr>
          <p:cNvPr id="48" name="Shape 45"/>
          <p:cNvSpPr/>
          <p:nvPr/>
        </p:nvSpPr>
        <p:spPr>
          <a:xfrm>
            <a:off x="5577840" y="2257044"/>
            <a:ext cx="30175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5577840" y="2348484"/>
            <a:ext cx="192024" cy="192024"/>
          </a:xfrm>
          <a:prstGeom prst="ellipse">
            <a:avLst/>
          </a:prstGeom>
          <a:solidFill>
            <a:srgbClr val="C24A31"/>
          </a:solidFill>
          <a:ln/>
        </p:spPr>
      </p:sp>
      <p:sp>
        <p:nvSpPr>
          <p:cNvPr id="50" name="Text 47"/>
          <p:cNvSpPr txBox="1"/>
          <p:nvPr/>
        </p:nvSpPr>
        <p:spPr>
          <a:xfrm>
            <a:off x="5577840" y="2348484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</a:t>
            </a:r>
            <a:endParaRPr lang="en-US" sz="850" dirty="0"/>
          </a:p>
        </p:txBody>
      </p:sp>
      <p:sp>
        <p:nvSpPr>
          <p:cNvPr id="51" name="Text 48"/>
          <p:cNvSpPr txBox="1"/>
          <p:nvPr/>
        </p:nvSpPr>
        <p:spPr>
          <a:xfrm>
            <a:off x="5870448" y="2293620"/>
            <a:ext cx="2706624" cy="10317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C24A3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POST /…/handover-assignments
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B333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이 근무에서 누가 어느 입원 건의 인계를 맡을지</a:t>
            </a:r>
            <a:pPr indent="0" marL="0">
              <a:lnSpc>
                <a:spcPct val="110000"/>
              </a:lnSpc>
              <a:buNone/>
            </a:pPr>
            <a:endParaRPr lang="en-US" sz="8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기본값은 그 팀의 차지</a:t>
            </a:r>
            <a:endParaRPr lang="en-US" sz="850" dirty="0"/>
          </a:p>
        </p:txBody>
      </p:sp>
      <p:sp>
        <p:nvSpPr>
          <p:cNvPr id="52" name="Shape 49"/>
          <p:cNvSpPr/>
          <p:nvPr/>
        </p:nvSpPr>
        <p:spPr>
          <a:xfrm>
            <a:off x="5577840" y="3361944"/>
            <a:ext cx="30175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5577840" y="3453384"/>
            <a:ext cx="192024" cy="192024"/>
          </a:xfrm>
          <a:prstGeom prst="ellipse">
            <a:avLst/>
          </a:prstGeom>
          <a:solidFill>
            <a:srgbClr val="2B333C"/>
          </a:solidFill>
          <a:ln/>
        </p:spPr>
      </p:sp>
      <p:sp>
        <p:nvSpPr>
          <p:cNvPr id="54" name="Text 51"/>
          <p:cNvSpPr txBox="1"/>
          <p:nvPr/>
        </p:nvSpPr>
        <p:spPr>
          <a:xfrm>
            <a:off x="5577840" y="3453384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3</a:t>
            </a:r>
            <a:endParaRPr lang="en-US" sz="850" dirty="0"/>
          </a:p>
        </p:txBody>
      </p:sp>
      <p:sp>
        <p:nvSpPr>
          <p:cNvPr id="55" name="Text 52"/>
          <p:cNvSpPr txBox="1"/>
          <p:nvPr/>
        </p:nvSpPr>
        <p:spPr>
          <a:xfrm>
            <a:off x="5870448" y="3398520"/>
            <a:ext cx="2706624" cy="10317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B333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담당을 더한다</a:t>
            </a:r>
            <a:pPr indent="0" marL="0">
              <a:lnSpc>
                <a:spcPct val="110000"/>
              </a:lnSpc>
              <a:buNone/>
            </a:pPr>
            <a:endParaRPr lang="en-US" sz="9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역할로 강제하지 않는다. 차지가 빠지면 누가 올라가는지 확인 못 해서</a:t>
            </a:r>
            <a:endParaRPr lang="en-US" sz="950" dirty="0"/>
          </a:p>
        </p:txBody>
      </p:sp>
      <p:sp>
        <p:nvSpPr>
          <p:cNvPr id="56" name="Shape 53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57" name="Text 54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'담당 환자 배정'이 아니라 '인계 담당 지정'. 환자는 팀이 같이 본다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15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  화면마다 도는 API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solidFill>
            <a:srgbClr val="C24A31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</a:t>
            </a:r>
            <a:endParaRPr lang="en-US" sz="700" dirty="0"/>
          </a:p>
        </p:txBody>
      </p:sp>
      <p:sp>
        <p:nvSpPr>
          <p:cNvPr id="35" name="Text 33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나머지 화면 1</a:t>
            </a:r>
            <a:endParaRPr lang="en-US" sz="2500" dirty="0"/>
          </a:p>
        </p:txBody>
      </p:sp>
      <p:pic>
        <p:nvPicPr>
          <p:cNvPr id="36" name="Image 0" descr="/Users/hwangjaewon/skala-workspace/skala-webservice-mini/assets/1_login_ma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60398"/>
            <a:ext cx="2535936" cy="1584960"/>
          </a:xfrm>
          <a:prstGeom prst="rect">
            <a:avLst/>
          </a:prstGeom>
        </p:spPr>
      </p:pic>
      <p:sp>
        <p:nvSpPr>
          <p:cNvPr id="37" name="Shape 34"/>
          <p:cNvSpPr/>
          <p:nvPr/>
        </p:nvSpPr>
        <p:spPr>
          <a:xfrm>
            <a:off x="548640" y="1660398"/>
            <a:ext cx="2535936" cy="1584960"/>
          </a:xfrm>
          <a:prstGeom prst="rect">
            <a:avLst/>
          </a:prstGeom>
          <a:ln w="9525">
            <a:solidFill>
              <a:srgbClr val="E4E2DB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548640" y="3973068"/>
            <a:ext cx="253593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로그인
</a:t>
            </a:r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누구로 들어갈지 고르는 데모용 화면. 실제 인증은 병원 시스템 몫</a:t>
            </a:r>
            <a:endParaRPr lang="en-US" sz="1050" dirty="0"/>
          </a:p>
        </p:txBody>
      </p:sp>
      <p:pic>
        <p:nvPicPr>
          <p:cNvPr id="39" name="Image 1" descr="/Users/hwangjaewon/skala-workspace/skala-webservice-mini/assets/3_shift_register_manag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04032" y="1660398"/>
            <a:ext cx="2535936" cy="1584960"/>
          </a:xfrm>
          <a:prstGeom prst="rect">
            <a:avLst/>
          </a:prstGeom>
        </p:spPr>
      </p:pic>
      <p:sp>
        <p:nvSpPr>
          <p:cNvPr id="40" name="Shape 36"/>
          <p:cNvSpPr/>
          <p:nvPr/>
        </p:nvSpPr>
        <p:spPr>
          <a:xfrm>
            <a:off x="3304032" y="1660398"/>
            <a:ext cx="2535936" cy="1584960"/>
          </a:xfrm>
          <a:prstGeom prst="rect">
            <a:avLst/>
          </a:prstGeom>
          <a:ln w="9525">
            <a:solidFill>
              <a:srgbClr val="E4E2DB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3304032" y="3973068"/>
            <a:ext cx="253593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근무표 등록
</a:t>
            </a:r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역할은 여기서 안 정한다. 다른 병동 지원 근무도 등록된다</a:t>
            </a:r>
            <a:endParaRPr lang="en-US" sz="1050" dirty="0"/>
          </a:p>
        </p:txBody>
      </p:sp>
      <p:pic>
        <p:nvPicPr>
          <p:cNvPr id="42" name="Image 2" descr="/Users/hwangjaewon/skala-workspace/skala-webservice-mini/assets/5_handover_template_manage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59424" y="1636040"/>
            <a:ext cx="2535936" cy="1633677"/>
          </a:xfrm>
          <a:prstGeom prst="rect">
            <a:avLst/>
          </a:prstGeom>
        </p:spPr>
      </p:pic>
      <p:sp>
        <p:nvSpPr>
          <p:cNvPr id="43" name="Shape 38"/>
          <p:cNvSpPr/>
          <p:nvPr/>
        </p:nvSpPr>
        <p:spPr>
          <a:xfrm>
            <a:off x="6059424" y="1636040"/>
            <a:ext cx="2535936" cy="1633677"/>
          </a:xfrm>
          <a:prstGeom prst="rect">
            <a:avLst/>
          </a:prstGeom>
          <a:ln w="9525">
            <a:solidFill>
              <a:srgbClr val="E4E2DB"/>
            </a:solidFill>
            <a:prstDash val="solid"/>
          </a:ln>
        </p:spPr>
      </p:sp>
      <p:sp>
        <p:nvSpPr>
          <p:cNvPr id="44" name="Text 39"/>
          <p:cNvSpPr txBox="1"/>
          <p:nvPr/>
        </p:nvSpPr>
        <p:spPr>
          <a:xfrm>
            <a:off x="6059424" y="3973068"/>
            <a:ext cx="253593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인계 항목 정하기
</a:t>
            </a:r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역할 선택이 없다. 고쳐도 이미 쓴 인계는 안 바뀐다</a:t>
            </a:r>
            <a:endParaRPr lang="en-US" sz="1050" dirty="0"/>
          </a:p>
        </p:txBody>
      </p:sp>
      <p:sp>
        <p:nvSpPr>
          <p:cNvPr id="45" name="Shape 40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46" name="Text 41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인계 항목을 병동 하나로 통일한 건 인터뷰 결과. 받는 사람이 늘 차지라서 역할별로 나눌 이유가 없었다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16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  화면마다 도는 API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solidFill>
            <a:srgbClr val="C24A31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</a:t>
            </a:r>
            <a:endParaRPr lang="en-US" sz="700" dirty="0"/>
          </a:p>
        </p:txBody>
      </p:sp>
      <p:sp>
        <p:nvSpPr>
          <p:cNvPr id="35" name="Text 33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나머지 화면 2</a:t>
            </a:r>
            <a:endParaRPr lang="en-US" sz="2500" dirty="0"/>
          </a:p>
        </p:txBody>
      </p:sp>
      <p:pic>
        <p:nvPicPr>
          <p:cNvPr id="36" name="Image 0" descr="/Users/hwangjaewon/skala-workspace/skala-webservice-mini/assets/7_change_history_manag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62562"/>
            <a:ext cx="2535936" cy="2780632"/>
          </a:xfrm>
          <a:prstGeom prst="rect">
            <a:avLst/>
          </a:prstGeom>
        </p:spPr>
      </p:pic>
      <p:sp>
        <p:nvSpPr>
          <p:cNvPr id="37" name="Shape 34"/>
          <p:cNvSpPr/>
          <p:nvPr/>
        </p:nvSpPr>
        <p:spPr>
          <a:xfrm>
            <a:off x="548640" y="1062562"/>
            <a:ext cx="2535936" cy="2780632"/>
          </a:xfrm>
          <a:prstGeom prst="rect">
            <a:avLst/>
          </a:prstGeom>
          <a:ln w="9525">
            <a:solidFill>
              <a:srgbClr val="E4E2DB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548640" y="3973068"/>
            <a:ext cx="253593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바뀐 내역
</a:t>
            </a:r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사유는 한 번만 쓰고 나머지는 서버가 복사한다</a:t>
            </a:r>
            <a:endParaRPr lang="en-US" sz="1050" dirty="0"/>
          </a:p>
        </p:txBody>
      </p:sp>
      <p:pic>
        <p:nvPicPr>
          <p:cNvPr id="39" name="Image 1" descr="/Users/hwangjaewon/skala-workspace/skala-webservice-mini/assets/11_handover_history_nurs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04032" y="1660398"/>
            <a:ext cx="2535936" cy="1584960"/>
          </a:xfrm>
          <a:prstGeom prst="rect">
            <a:avLst/>
          </a:prstGeom>
        </p:spPr>
      </p:pic>
      <p:sp>
        <p:nvSpPr>
          <p:cNvPr id="40" name="Shape 36"/>
          <p:cNvSpPr/>
          <p:nvPr/>
        </p:nvSpPr>
        <p:spPr>
          <a:xfrm>
            <a:off x="3304032" y="1660398"/>
            <a:ext cx="2535936" cy="1584960"/>
          </a:xfrm>
          <a:prstGeom prst="rect">
            <a:avLst/>
          </a:prstGeom>
          <a:ln w="9525">
            <a:solidFill>
              <a:srgbClr val="E4E2DB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3304032" y="3973068"/>
            <a:ext cx="253593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내 인계 이력
</a:t>
            </a:r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'대체됨'은 읽기 전용, 미확인 수에서 빠진다</a:t>
            </a:r>
            <a:endParaRPr lang="en-US" sz="1050" dirty="0"/>
          </a:p>
        </p:txBody>
      </p:sp>
      <p:pic>
        <p:nvPicPr>
          <p:cNvPr id="42" name="Image 2" descr="/Users/hwangjaewon/skala-workspace/skala-webservice-mini/assets/8_myshift_nurse_state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59424" y="1572864"/>
            <a:ext cx="2535936" cy="1760029"/>
          </a:xfrm>
          <a:prstGeom prst="rect">
            <a:avLst/>
          </a:prstGeom>
        </p:spPr>
      </p:pic>
      <p:sp>
        <p:nvSpPr>
          <p:cNvPr id="43" name="Shape 38"/>
          <p:cNvSpPr/>
          <p:nvPr/>
        </p:nvSpPr>
        <p:spPr>
          <a:xfrm>
            <a:off x="6059424" y="1572864"/>
            <a:ext cx="2535936" cy="1760029"/>
          </a:xfrm>
          <a:prstGeom prst="rect">
            <a:avLst/>
          </a:prstGeom>
          <a:ln w="9525">
            <a:solidFill>
              <a:srgbClr val="E4E2DB"/>
            </a:solidFill>
            <a:prstDash val="solid"/>
          </a:ln>
        </p:spPr>
      </p:sp>
      <p:sp>
        <p:nvSpPr>
          <p:cNvPr id="44" name="Text 39"/>
          <p:cNvSpPr txBox="1"/>
          <p:nvPr/>
        </p:nvSpPr>
        <p:spPr>
          <a:xfrm>
            <a:off x="6059424" y="3973068"/>
            <a:ext cx="253593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비어 있을 때
</a:t>
            </a:r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빈 화면 대신 다음에 할 일을 적는다</a:t>
            </a:r>
            <a:endParaRPr lang="en-US" sz="1050" dirty="0"/>
          </a:p>
        </p:txBody>
      </p:sp>
      <p:sp>
        <p:nvSpPr>
          <p:cNvPr id="45" name="Shape 40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46" name="Text 41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빈 화면을 설계했다는 것 자체가 권한을 세 갈래로 나눈 이유다. 인계 담당이 없어도 근무는 보여야 한다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17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  데이터를 나눈 방법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solidFill>
            <a:srgbClr val="C24A31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</a:t>
            </a:r>
            <a:endParaRPr lang="en-US" sz="700" dirty="0"/>
          </a:p>
        </p:txBody>
      </p:sp>
      <p:sp>
        <p:nvSpPr>
          <p:cNvPr id="35" name="Text 33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핵심 데이터</a:t>
            </a:r>
            <a:endParaRPr lang="en-US" sz="2500" dirty="0"/>
          </a:p>
        </p:txBody>
      </p:sp>
      <p:sp>
        <p:nvSpPr>
          <p:cNvPr id="36" name="Text 34"/>
          <p:cNvSpPr txBox="1"/>
          <p:nvPr/>
        </p:nvSpPr>
        <p:spPr>
          <a:xfrm>
            <a:off x="548640" y="804672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0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인계 한 건이 만들어져 확인되기까지 거치는 표</a:t>
            </a:r>
            <a:endParaRPr lang="en-US" sz="1200" dirty="0"/>
          </a:p>
        </p:txBody>
      </p:sp>
      <p:pic>
        <p:nvPicPr>
          <p:cNvPr id="37" name="Image 0" descr="/Users/hwangjaewon/skala-workspace/skala-webservice-mini/assets/erd_co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152144"/>
            <a:ext cx="2789190" cy="3534156"/>
          </a:xfrm>
          <a:prstGeom prst="rect">
            <a:avLst/>
          </a:prstGeom>
        </p:spPr>
      </p:pic>
      <p:sp>
        <p:nvSpPr>
          <p:cNvPr id="38" name="Text 35"/>
          <p:cNvSpPr txBox="1"/>
          <p:nvPr/>
        </p:nvSpPr>
        <p:spPr>
          <a:xfrm>
            <a:off x="3630438" y="1188720"/>
            <a:ext cx="4964922" cy="8103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근무, 담당, 인계
</a:t>
            </a:r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"그 근무에서 이 환자의 인계를 맡는다"를 한 줄로. 사람이 아니라 근무에 붙는다</a:t>
            </a:r>
            <a:endParaRPr lang="en-US" sz="1150" dirty="0"/>
          </a:p>
        </p:txBody>
      </p:sp>
      <p:sp>
        <p:nvSpPr>
          <p:cNvPr id="39" name="Shape 36"/>
          <p:cNvSpPr/>
          <p:nvPr/>
        </p:nvSpPr>
        <p:spPr>
          <a:xfrm>
            <a:off x="3630438" y="2035683"/>
            <a:ext cx="4964922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3630438" y="2072259"/>
            <a:ext cx="4964922" cy="8103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받았다는 기록을 따로
</a:t>
            </a:r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열어본 시각, 자기 말로 쓴 요약, 확인한 시각. 이 셋이 첫 번째 불편의 답</a:t>
            </a:r>
            <a:endParaRPr lang="en-US" sz="1150" dirty="0"/>
          </a:p>
        </p:txBody>
      </p:sp>
      <p:sp>
        <p:nvSpPr>
          <p:cNvPr id="41" name="Shape 38"/>
          <p:cNvSpPr/>
          <p:nvPr/>
        </p:nvSpPr>
        <p:spPr>
          <a:xfrm>
            <a:off x="3630438" y="2919222"/>
            <a:ext cx="4964922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3630438" y="2955798"/>
            <a:ext cx="4964922" cy="8103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항목은 복사본
</a:t>
            </a:r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병동 양식을 고쳐도 이미 쓴 인계는 그대로. 지난 기록이 나중에 바뀌면 안 된다</a:t>
            </a:r>
            <a:endParaRPr lang="en-US" sz="1150" dirty="0"/>
          </a:p>
        </p:txBody>
      </p:sp>
      <p:sp>
        <p:nvSpPr>
          <p:cNvPr id="43" name="Shape 40"/>
          <p:cNvSpPr/>
          <p:nvPr/>
        </p:nvSpPr>
        <p:spPr>
          <a:xfrm>
            <a:off x="3630438" y="3802761"/>
            <a:ext cx="4964922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3630438" y="3839337"/>
            <a:ext cx="4964922" cy="8103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지우지 않는다
</a:t>
            </a:r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담당이 바뀌면 옛 줄을 '이관됨'으로 남기고 새 줄을 만든다. 누가 언제 맡았는지가 기록</a:t>
            </a:r>
            <a:endParaRPr lang="en-US" sz="1150" dirty="0"/>
          </a:p>
        </p:txBody>
      </p:sp>
      <p:sp>
        <p:nvSpPr>
          <p:cNvPr id="45" name="Shape 42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PK·FK 와 관계(1:N, 1:1)는 그림에, 속성 타입·unique·not null 같은 제약조건은 DBML 에. 수신 기록은 인계당 1건(unique)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18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  데이터를 나눈 방법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solidFill>
            <a:srgbClr val="C24A31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</a:t>
            </a:r>
            <a:endParaRPr lang="en-US" sz="700" dirty="0"/>
          </a:p>
        </p:txBody>
      </p:sp>
      <p:sp>
        <p:nvSpPr>
          <p:cNvPr id="35" name="Text 33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전체 12개</a:t>
            </a:r>
            <a:endParaRPr lang="en-US" sz="2500" dirty="0"/>
          </a:p>
        </p:txBody>
      </p:sp>
      <p:sp>
        <p:nvSpPr>
          <p:cNvPr id="36" name="Text 34"/>
          <p:cNvSpPr txBox="1"/>
          <p:nvPr/>
        </p:nvSpPr>
        <p:spPr>
          <a:xfrm>
            <a:off x="548640" y="804672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0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자세히 읽는 그림이 아니라 얼마나 나뉘어 있는지 보는 지도</a:t>
            </a:r>
            <a:endParaRPr lang="en-US" sz="1200" dirty="0"/>
          </a:p>
        </p:txBody>
      </p:sp>
      <p:pic>
        <p:nvPicPr>
          <p:cNvPr id="37" name="Image 0" descr="/Users/hwangjaewon/skala-workspace/skala-webservice-mini/assets/erd_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94277"/>
            <a:ext cx="8046720" cy="1830433"/>
          </a:xfrm>
          <a:prstGeom prst="rect">
            <a:avLst/>
          </a:prstGeom>
        </p:spPr>
      </p:pic>
      <p:sp>
        <p:nvSpPr>
          <p:cNvPr id="38" name="Shape 35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테이블, 7 Enum, 외래키 23. 여러 대 여러로 얽히는 관계는 '인계 담당' 하나로 풀었다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19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  API 24개와 막는 규칙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solidFill>
            <a:srgbClr val="C24A31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</a:t>
            </a:r>
            <a:endParaRPr lang="en-US" sz="700" dirty="0"/>
          </a:p>
        </p:txBody>
      </p:sp>
      <p:sp>
        <p:nvSpPr>
          <p:cNvPr id="35" name="Text 33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API 명세</a:t>
            </a:r>
            <a:endParaRPr lang="en-US" sz="2500" dirty="0"/>
          </a:p>
        </p:txBody>
      </p:sp>
      <p:sp>
        <p:nvSpPr>
          <p:cNvPr id="36" name="Text 34"/>
          <p:cNvSpPr txBox="1"/>
          <p:nvPr/>
        </p:nvSpPr>
        <p:spPr>
          <a:xfrm>
            <a:off x="548640" y="804672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0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24개 전부. 주소 21개, 명세 오류 0</a:t>
            </a:r>
            <a:endParaRPr lang="en-US" sz="1200" dirty="0"/>
          </a:p>
        </p:txBody>
      </p:sp>
      <p:pic>
        <p:nvPicPr>
          <p:cNvPr id="37" name="Image 0" descr="/Users/hwangjaewon/skala-workspace/skala-webservice-mini/assets/swagger_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75295" y="1152144"/>
            <a:ext cx="5393410" cy="3314700"/>
          </a:xfrm>
          <a:prstGeom prst="rect">
            <a:avLst/>
          </a:prstGeom>
        </p:spPr>
      </p:pic>
      <p:sp>
        <p:nvSpPr>
          <p:cNvPr id="38" name="Shape 35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공통 응답 봉투·오류 형식·스키마 24개를 components 에 두고 $ref 로 164회 재사용했다. 로그인·인증은 병원 시스템 몫이라 명세에 없다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20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  API 24개와 막는 규칙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solidFill>
            <a:srgbClr val="C24A31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</a:t>
            </a:r>
            <a:endParaRPr lang="en-US" sz="700" dirty="0"/>
          </a:p>
        </p:txBody>
      </p:sp>
      <p:sp>
        <p:nvSpPr>
          <p:cNvPr id="35" name="Text 33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API 24개</a:t>
            </a:r>
            <a:endParaRPr lang="en-US" sz="2500" dirty="0"/>
          </a:p>
        </p:txBody>
      </p:sp>
      <p:sp>
        <p:nvSpPr>
          <p:cNvPr id="36" name="Text 34"/>
          <p:cNvSpPr txBox="1"/>
          <p:nvPr/>
        </p:nvSpPr>
        <p:spPr>
          <a:xfrm>
            <a:off x="548640" y="804672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0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화면에서 보이던 주소가 그대로 명세의 주소</a:t>
            </a:r>
            <a:endParaRPr lang="en-US" sz="12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70432"/>
          <a:ext cx="3913632" cy="914400"/>
        </p:xfrm>
        <a:graphic>
          <a:graphicData uri="http://schemas.openxmlformats.org/drawingml/2006/table">
            <a:tbl>
              <a:tblPr/>
              <a:tblGrid>
                <a:gridCol w="384048"/>
                <a:gridCol w="2478024"/>
                <a:gridCol w="10515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B333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화면</a:t>
                      </a:r>
                      <a:endParaRPr lang="en-US" sz="8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B333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메서드와 주소</a:t>
                      </a:r>
                      <a:endParaRPr lang="en-US" sz="8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B333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무엇을</a:t>
                      </a:r>
                      <a:endParaRPr lang="en-US" sz="8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9199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3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B333C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GET  /wards/{id}/shift-assignments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근무 목록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9199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3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B333C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POST /wards/{id}/shift-assignments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근무 등록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9199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4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B333C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GET  /wards/{id}/assignment-board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배정 보드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9199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4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B333C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PATCH /shift-assignments/{id}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역할 지정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9199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4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B333C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POST /…/handover-assignments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인계 담당 지정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9199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5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B333C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GET  /wards/{id}/handover-template-items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항목 조회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9199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5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B333C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PUT  /wards/{id}/handover-template-items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항목 교체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9199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6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B333C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GET  /…/reassignment-context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재배정 진입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9199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6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B333C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POST /…/absence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결원 등록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9199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6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B333C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POST /…/substitute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대체자 배정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9199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6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B333C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POST /…/handover-transfer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인계 담당 이관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9199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6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B333C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POST /…/coverage-confirmation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대체 완료 확인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4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81728" y="1170432"/>
          <a:ext cx="3913632" cy="914400"/>
        </p:xfrm>
        <a:graphic>
          <a:graphicData uri="http://schemas.openxmlformats.org/drawingml/2006/table">
            <a:tbl>
              <a:tblPr/>
              <a:tblGrid>
                <a:gridCol w="384048"/>
                <a:gridCol w="2478024"/>
                <a:gridCol w="10515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B333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화면</a:t>
                      </a:r>
                      <a:endParaRPr lang="en-US" sz="8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B333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메서드와 주소</a:t>
                      </a:r>
                      <a:endParaRPr lang="en-US" sz="8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B333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무엇을</a:t>
                      </a:r>
                      <a:endParaRPr lang="en-US" sz="8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9199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7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B333C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GET  /wards/{id}/reassignment-logs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바뀐 내역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9199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8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B333C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GET  /me/shifts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내 근무, 우리 팀 환자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9199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11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B333C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GET  /me/handovers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내 인계 이력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9199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9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B333C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POST /handovers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인계 작성 시작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9199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9·10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B333C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GET  /handovers/{id}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인계 상세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9199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9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B333C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PATCH /handovers/{id}/items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임시저장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9199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9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B333C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POST /handovers/{id}/send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인계 넘기기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9199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10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B333C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POST /handovers/{id}/receipt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열람 기록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9199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10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B333C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PATCH /handovers/{id}/receipt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요약 저장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9199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10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B333C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POST /…/receipt/confirmation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확인 처리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9199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2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B333C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GET  /wards/{id}/handovers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미확인 목록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9199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2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B333C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GET  /wards/{id}/dashboard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대시보드 집계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9" name="Shape 35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 11개의 동작 25가지를 먼저 세고, 겹치는 것(역할 지정은 배정 화면과 재배정 화면이 같이 쓴다)을 빼서 24개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21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  API 24개와 막는 규칙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solidFill>
            <a:srgbClr val="C24A31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</a:t>
            </a:r>
            <a:endParaRPr lang="en-US" sz="700" dirty="0"/>
          </a:p>
        </p:txBody>
      </p:sp>
      <p:sp>
        <p:nvSpPr>
          <p:cNvPr id="35" name="Text 33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일부러 요청에서 안 받는 값</a:t>
            </a:r>
            <a:endParaRPr lang="en-US" sz="2500" dirty="0"/>
          </a:p>
        </p:txBody>
      </p:sp>
      <p:sp>
        <p:nvSpPr>
          <p:cNvPr id="36" name="Text 34"/>
          <p:cNvSpPr txBox="1"/>
          <p:nvPr/>
        </p:nvSpPr>
        <p:spPr>
          <a:xfrm>
            <a:off x="548640" y="804672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0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Path·Query·Body 중, 화면이 정하게 두면 깨지는 것들</a:t>
            </a:r>
            <a:endParaRPr lang="en-US" sz="12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70432"/>
          <a:ext cx="50292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365760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333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값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333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왜 서버가 정하나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333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인계를 받을 사람</a:t>
                      </a:r>
                      <a:endParaRPr lang="en-US" sz="10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화면이 정하게 두면 아무 근무로나 인계를 보낼 수 있다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같은 환자의 다음 근무 담당을 서버가 고른다. 없으면 막는다(422)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333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결원 사유</a:t>
                      </a:r>
                      <a:endParaRPr lang="en-US" sz="10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사람이 쓰는 자리는 결원 등록 하나뿐. 나머지 기록은 복사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사유가 서로 달라지면 한 사건의 이력을 이어서 읽을 수 없다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333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화면 버튼 판정</a:t>
                      </a:r>
                      <a:endParaRPr lang="en-US" sz="10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쓰기, 확인, 읽기 중 무엇을 보여줄지를 서버가 정해서 내려준다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화면마다 따로 판단하면 규칙이 흩어진다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pic>
        <p:nvPicPr>
          <p:cNvPr id="38" name="Image 0" descr="/Users/hwangjaewon/skala-workspace/skala-webservice-mini/assets/swagger_handov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52160" y="1170432"/>
            <a:ext cx="2743200" cy="2651760"/>
          </a:xfrm>
          <a:prstGeom prst="rect">
            <a:avLst/>
          </a:prstGeom>
        </p:spPr>
      </p:pic>
      <p:sp>
        <p:nvSpPr>
          <p:cNvPr id="39" name="Shape 35"/>
          <p:cNvSpPr/>
          <p:nvPr/>
        </p:nvSpPr>
        <p:spPr>
          <a:xfrm>
            <a:off x="5852160" y="1170432"/>
            <a:ext cx="2743200" cy="2651760"/>
          </a:xfrm>
          <a:prstGeom prst="rect">
            <a:avLst/>
          </a:prstGeom>
          <a:ln w="9525">
            <a:solidFill>
              <a:srgbClr val="E4E2DB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5852160" y="3895344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인계 작성 요청. 받을 사람 칸이 없다</a:t>
            </a:r>
            <a:endParaRPr lang="en-US" sz="950" dirty="0"/>
          </a:p>
        </p:txBody>
      </p:sp>
      <p:sp>
        <p:nvSpPr>
          <p:cNvPr id="41" name="Shape 37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42" name="Text 38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화면이 요청에 넣는 번호는 반드시 어떤 조회 API 가 돌려준 값이어야 한다. 이 규칙이 없어 생긴 구멍을 검증 단계에서 찾았다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22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  API 24개와 막는 규칙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solidFill>
            <a:srgbClr val="C24A31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</a:t>
            </a:r>
            <a:endParaRPr lang="en-US" sz="700" dirty="0"/>
          </a:p>
        </p:txBody>
      </p:sp>
      <p:sp>
        <p:nvSpPr>
          <p:cNvPr id="35" name="Text 33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막을 때 주는 답</a:t>
            </a:r>
            <a:endParaRPr lang="en-US" sz="2500" dirty="0"/>
          </a:p>
        </p:txBody>
      </p:sp>
      <p:sp>
        <p:nvSpPr>
          <p:cNvPr id="36" name="Text 34"/>
          <p:cNvSpPr txBox="1"/>
          <p:nvPr/>
        </p:nvSpPr>
        <p:spPr>
          <a:xfrm>
            <a:off x="548640" y="804672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0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막는 이유가 다르면 답도 달라야 한다</a:t>
            </a:r>
            <a:endParaRPr lang="en-US" sz="12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804672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2286000"/>
                <a:gridCol w="502920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333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답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333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뜻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333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이 서비스에서는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7881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2B333C"/>
                          </a:solidFill>
                          <a:latin typeface="Pretendard Light" pitchFamily="34" charset="0"/>
                          <a:ea typeface="Pretendard Light" pitchFamily="34" charset="-122"/>
                          <a:cs typeface="Pretendard Light" pitchFamily="34" charset="-120"/>
                        </a:rPr>
                        <a:t>401</a:t>
                      </a:r>
                      <a:endParaRPr lang="en-US" sz="1800" dirty="0">
                        <a:latin typeface="Pretendard Light" charset="0"/>
                        <a:ea typeface="Pretendard Light" charset="0"/>
                        <a:cs typeface="Pretendard Light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로그인 안 됨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모든 요청의 기본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7881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2B333C"/>
                          </a:solidFill>
                          <a:latin typeface="Pretendard Light" pitchFamily="34" charset="0"/>
                          <a:ea typeface="Pretendard Light" pitchFamily="34" charset="-122"/>
                          <a:cs typeface="Pretendard Light" pitchFamily="34" charset="-120"/>
                        </a:rPr>
                        <a:t>403</a:t>
                      </a:r>
                      <a:endParaRPr lang="en-US" sz="1800" dirty="0">
                        <a:latin typeface="Pretendard Light" charset="0"/>
                        <a:ea typeface="Pretendard Light" charset="0"/>
                        <a:cs typeface="Pretendard Light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있긴 한데 당신은 못 본다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다른 병동, 내 인계가 아님, 액팅이 쓰려고 할 때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결원으로 등록된 사람이 받으려 할 때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7881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2B333C"/>
                          </a:solidFill>
                          <a:latin typeface="Pretendard Light" pitchFamily="34" charset="0"/>
                          <a:ea typeface="Pretendard Light" pitchFamily="34" charset="-122"/>
                          <a:cs typeface="Pretendard Light" pitchFamily="34" charset="-120"/>
                        </a:rPr>
                        <a:t>404</a:t>
                      </a:r>
                      <a:endParaRPr lang="en-US" sz="1800" dirty="0">
                        <a:latin typeface="Pretendard Light" charset="0"/>
                        <a:ea typeface="Pretendard Light" charset="0"/>
                        <a:cs typeface="Pretendard Light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그런 건 없다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없는 번호. 다른 병동을 404 로 숨기지 않았다. 둘을 섞지 않는다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7881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C24A31"/>
                          </a:solidFill>
                          <a:latin typeface="Pretendard Light" pitchFamily="34" charset="0"/>
                          <a:ea typeface="Pretendard Light" pitchFamily="34" charset="-122"/>
                          <a:cs typeface="Pretendard Light" pitchFamily="34" charset="-120"/>
                        </a:rPr>
                        <a:t>409</a:t>
                      </a:r>
                      <a:endParaRPr lang="en-US" sz="1800" dirty="0">
                        <a:latin typeface="Pretendard Light" charset="0"/>
                        <a:ea typeface="Pretendard Light" charset="0"/>
                        <a:cs typeface="Pretendard Light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333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지금 상태에서는 그 일을 할 수 없다</a:t>
                      </a:r>
                      <a:endParaRPr lang="en-US" sz="10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이미 확인된 인계를 또 확인, 대체된 인계를 고치기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퇴원한 환자에게 새 인계, 같은 사람을 같은 근무에 두 번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7881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C24A31"/>
                          </a:solidFill>
                          <a:latin typeface="Pretendard Light" pitchFamily="34" charset="0"/>
                          <a:ea typeface="Pretendard Light" pitchFamily="34" charset="-122"/>
                          <a:cs typeface="Pretendard Light" pitchFamily="34" charset="-120"/>
                        </a:rPr>
                        <a:t>422</a:t>
                      </a:r>
                      <a:endParaRPr lang="en-US" sz="1800" dirty="0">
                        <a:latin typeface="Pretendard Light" charset="0"/>
                        <a:ea typeface="Pretendard Light" charset="0"/>
                        <a:cs typeface="Pretendard Light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333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보낸 내용이 모자라다</a:t>
                      </a:r>
                      <a:endParaRPr lang="en-US" sz="10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필수 항목이 비었음, 요약을 안 썼음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대체자 없이 완료 확인, 다음 근무 담당이 아직 없음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8" name="Shape 35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형식이 깨진 요청(400)은 프레임워크 기본 처리이고, 명세는 뜻이 모자란 요청을 422 로 통일했다. 인계 상태는 작성 중, 전달됨, 확인됨 순서로만 간다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23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  고민한 것, 못 한 것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solidFill>
            <a:srgbClr val="C24A31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</a:t>
            </a:r>
            <a:endParaRPr lang="en-US" sz="700" dirty="0"/>
          </a:p>
        </p:txBody>
      </p:sp>
      <p:sp>
        <p:nvSpPr>
          <p:cNvPr id="35" name="Text 33"/>
          <p:cNvSpPr txBox="1"/>
          <p:nvPr/>
        </p:nvSpPr>
        <p:spPr>
          <a:xfrm>
            <a:off x="548640" y="292608"/>
            <a:ext cx="2331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spc="-60" kern="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못 한 것</a:t>
            </a:r>
            <a:endParaRPr lang="en-US" sz="2200" dirty="0"/>
          </a:p>
        </p:txBody>
      </p:sp>
      <p:sp>
        <p:nvSpPr>
          <p:cNvPr id="36" name="Text 34"/>
          <p:cNvSpPr txBox="1"/>
          <p:nvPr/>
        </p:nvSpPr>
        <p:spPr>
          <a:xfrm>
            <a:off x="3200400" y="365760"/>
            <a:ext cx="457200" cy="8641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2B333C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</a:t>
            </a:r>
            <a:endParaRPr lang="en-US" sz="2400" dirty="0"/>
          </a:p>
        </p:txBody>
      </p:sp>
      <p:sp>
        <p:nvSpPr>
          <p:cNvPr id="37" name="Text 35"/>
          <p:cNvSpPr txBox="1"/>
          <p:nvPr/>
        </p:nvSpPr>
        <p:spPr>
          <a:xfrm>
            <a:off x="3703320" y="365760"/>
            <a:ext cx="4892040" cy="8641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병원 전산(EMR)과 연결이 없다
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공식 의무기록은 병원 전산이 맡고, 이 설계는 인계 메모만. 카덱스를 대체하는지는 "통합적으로 작용한다면"이 조건인 긍정 [C]. 통합이 안 되면 병행이고 두 번 입력하게 된다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3200400" y="1229868"/>
            <a:ext cx="539496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3200400" y="1229868"/>
            <a:ext cx="457200" cy="8641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2B333C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2</a:t>
            </a:r>
            <a:endParaRPr lang="en-US" sz="2400" dirty="0"/>
          </a:p>
        </p:txBody>
      </p:sp>
      <p:sp>
        <p:nvSpPr>
          <p:cNvPr id="40" name="Text 38"/>
          <p:cNvSpPr txBox="1"/>
          <p:nvPr/>
        </p:nvSpPr>
        <p:spPr>
          <a:xfrm>
            <a:off x="3703320" y="1229868"/>
            <a:ext cx="4892040" cy="8641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요약을 성의 있게 썼는지는 못 본다
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칸이 비었는지만 검사. 한 글자만 적어도 '확인됨'이 된다. 남기는 건 "누가 언제 자기 말로 적었는가"까지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3200400" y="2093976"/>
            <a:ext cx="539496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3200400" y="2093976"/>
            <a:ext cx="457200" cy="8641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2B333C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3</a:t>
            </a:r>
            <a:endParaRPr lang="en-US" sz="2400" dirty="0"/>
          </a:p>
        </p:txBody>
      </p:sp>
      <p:sp>
        <p:nvSpPr>
          <p:cNvPr id="43" name="Text 41"/>
          <p:cNvSpPr txBox="1"/>
          <p:nvPr/>
        </p:nvSpPr>
        <p:spPr>
          <a:xfrm>
            <a:off x="3703320" y="2093976"/>
            <a:ext cx="4892040" cy="8641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차지가 인계를 안 써도 못 막는다
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액팅이 "이건 적어 주세요"라고 한 걸 반영했는지 이력으로 남기는 건 범위 밖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200400" y="2958084"/>
            <a:ext cx="539496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3200400" y="2958084"/>
            <a:ext cx="457200" cy="8641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2B333C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4</a:t>
            </a:r>
            <a:endParaRPr lang="en-US" sz="2400" dirty="0"/>
          </a:p>
        </p:txBody>
      </p:sp>
      <p:sp>
        <p:nvSpPr>
          <p:cNvPr id="46" name="Text 44"/>
          <p:cNvSpPr txBox="1"/>
          <p:nvPr/>
        </p:nvSpPr>
        <p:spPr>
          <a:xfrm>
            <a:off x="3703320" y="2958084"/>
            <a:ext cx="4892040" cy="8641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확인해 준 분이 한 명
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간호사 화면은 한 분께 확인받았고, 수간호사 화면은 아직 가설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3200400" y="3822192"/>
            <a:ext cx="539496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3200400" y="3822192"/>
            <a:ext cx="457200" cy="8641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8C919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5</a:t>
            </a:r>
            <a:endParaRPr lang="en-US" sz="2400" dirty="0"/>
          </a:p>
        </p:txBody>
      </p:sp>
      <p:sp>
        <p:nvSpPr>
          <p:cNvPr id="49" name="Text 47"/>
          <p:cNvSpPr txBox="1"/>
          <p:nvPr/>
        </p:nvSpPr>
        <p:spPr>
          <a:xfrm>
            <a:off x="3703320" y="3822192"/>
            <a:ext cx="4892040" cy="8641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앞으로
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질문과 답변(참여자가 가장 먼저 요청한 것), 접근 기록, 팀원 명단, 역할 교환 이력. 누가 뭘 열어봤는지 남기는 기록이 없고, 같은 근무 팀원이 "오늘 우리 팀 차지가 누구인지" 보는 화면도 없다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24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  고민한 것, 못 한 것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solidFill>
            <a:srgbClr val="C24A31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</a:t>
            </a:r>
            <a:endParaRPr lang="en-US" sz="700" dirty="0"/>
          </a:p>
        </p:txBody>
      </p:sp>
      <p:sp>
        <p:nvSpPr>
          <p:cNvPr id="35" name="Text 33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써 본 사람의 말</a:t>
            </a:r>
            <a:endParaRPr lang="en-US" sz="2500" dirty="0"/>
          </a:p>
        </p:txBody>
      </p:sp>
      <p:sp>
        <p:nvSpPr>
          <p:cNvPr id="36" name="Text 34"/>
          <p:cNvSpPr txBox="1"/>
          <p:nvPr/>
        </p:nvSpPr>
        <p:spPr>
          <a:xfrm>
            <a:off x="548640" y="804672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0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말한 그대로 옮겼다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 rot="-90000">
            <a:off x="548640" y="1207008"/>
            <a:ext cx="4754880" cy="2743200"/>
          </a:xfrm>
          <a:prstGeom prst="rect">
            <a:avLst/>
          </a:prstGeom>
          <a:solidFill>
            <a:srgbClr val="FFF3B3"/>
          </a:solidFill>
          <a:ln/>
        </p:spPr>
      </p:sp>
      <p:sp>
        <p:nvSpPr>
          <p:cNvPr id="38" name="Text 36"/>
          <p:cNvSpPr txBox="1"/>
          <p:nvPr/>
        </p:nvSpPr>
        <p:spPr>
          <a:xfrm rot="-90000">
            <a:off x="777240" y="1344168"/>
            <a:ext cx="42976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850" dirty="0">
                <a:solidFill>
                  <a:srgbClr val="2B333C"/>
                </a:solidFill>
                <a:latin typeface="Nanum Pen" pitchFamily="34" charset="0"/>
                <a:ea typeface="Nanum Pen" pitchFamily="34" charset="-122"/>
                <a:cs typeface="Nanum Pen" pitchFamily="34" charset="-120"/>
              </a:rPr>
              <a:t>UI는 불편함 없이 오히려 한눈에 인계를 확인할 수 있어서 좋았다. 다만 꼭 있으면 좋겠는 기능이 있다. 인계 해준 사람한테 질문을 할 수 있는 기능을 추가해달라. 수간호사한테 결원 배정을 쉽게 할 수 있는 기능도 너무 도움이 될 것 같아. 옆에서 지켜봤을 때, 근무표 만드는 것도 힘들어 보이긴 했지만 그것보다 심사과에서 심사하러 올 때 잘보여야 되는데 처방 누락건이 종종 있어서 이거에 대하여 누락건 잡아내는 시스템이 있으면 너무 좋겠다.</a:t>
            </a:r>
            <a:endParaRPr lang="en-US" sz="1850" dirty="0"/>
          </a:p>
        </p:txBody>
      </p:sp>
      <p:sp>
        <p:nvSpPr>
          <p:cNvPr id="39" name="Text 37"/>
          <p:cNvSpPr txBox="1"/>
          <p:nvPr/>
        </p:nvSpPr>
        <p:spPr>
          <a:xfrm>
            <a:off x="5669280" y="120700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인계 기록에 대해 더 들은 것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5669280" y="1554480"/>
            <a:ext cx="292608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5669280" y="1591056"/>
            <a:ext cx="2926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실제로 인계 기록은 같은 병동이면 열람 자체는 권한이 필요 없다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5669280" y="2011680"/>
            <a:ext cx="292608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5669280" y="2048256"/>
            <a:ext cx="2926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다만 당연히 차지가 써야 하고, 액팅은 암묵적으로 건드리지 않는다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5669280" y="2468880"/>
            <a:ext cx="292608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669280" y="2505456"/>
            <a:ext cx="29260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번 차지가 카덱스에서 "이거는 굳이 필요 없겠는데" 싶어 혼자 임의로 지운 기록이 나중에 알고 보니 진짜 중요한 기록이어서 문제가 된 적이 있었다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5669280" y="3218688"/>
            <a:ext cx="292608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5669280" y="3255264"/>
            <a:ext cx="292608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그래서 인계 기록은 수간호사도 수정 없이, 오직 본인이 작성한 인계 기록만 수정 권한이 있으면 좋겠다. 시점상 인계를 넘기기 직전까지만 수정 가능하고, 넘기고 확인 후에는 본인도 수정·삭제 불가능한 게 올바르다고 동의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[C] 현직 간호사 1명 · 데모를 써 본 뒤 대면으로 · 편의표본 · 말한 그대로, 해석은 뒤 두 장에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25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  고민한 것, 못 한 것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solidFill>
            <a:srgbClr val="C24A31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</a:t>
            </a:r>
            <a:endParaRPr lang="en-US" sz="700" dirty="0"/>
          </a:p>
        </p:txBody>
      </p:sp>
      <p:sp>
        <p:nvSpPr>
          <p:cNvPr id="35" name="Text 33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어떻게 확인했나</a:t>
            </a:r>
            <a:endParaRPr lang="en-US" sz="2500" dirty="0"/>
          </a:p>
        </p:txBody>
      </p:sp>
      <p:sp>
        <p:nvSpPr>
          <p:cNvPr id="36" name="Shape 34"/>
          <p:cNvSpPr/>
          <p:nvPr/>
        </p:nvSpPr>
        <p:spPr>
          <a:xfrm>
            <a:off x="548640" y="1042416"/>
            <a:ext cx="249936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548640" y="1097280"/>
            <a:ext cx="2499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C24A3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1명</a:t>
            </a:r>
            <a:endParaRPr lang="en-US" sz="3400" dirty="0"/>
          </a:p>
        </p:txBody>
      </p:sp>
      <p:sp>
        <p:nvSpPr>
          <p:cNvPr id="38" name="Text 36"/>
          <p:cNvSpPr txBox="1"/>
          <p:nvPr/>
        </p:nvSpPr>
        <p:spPr>
          <a:xfrm>
            <a:off x="548640" y="1627632"/>
            <a:ext cx="2499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인터뷰 1회 + 대면 세션 1회</a:t>
            </a:r>
            <a:endParaRPr lang="en-US" sz="1150" dirty="0"/>
          </a:p>
        </p:txBody>
      </p:sp>
      <p:sp>
        <p:nvSpPr>
          <p:cNvPr id="39" name="Text 37"/>
          <p:cNvSpPr txBox="1"/>
          <p:nvPr/>
        </p:nvSpPr>
        <p:spPr>
          <a:xfrm>
            <a:off x="548640" y="1883664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국내 종합병원 병동 한 곳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데모를 직접 써 보게 했다 [C]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3322320" y="1042416"/>
            <a:ext cx="249936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3322320" y="1097280"/>
            <a:ext cx="2499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C24A3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31</a:t>
            </a:r>
            <a:endParaRPr lang="en-US" sz="3400" dirty="0"/>
          </a:p>
        </p:txBody>
      </p:sp>
      <p:sp>
        <p:nvSpPr>
          <p:cNvPr id="42" name="Text 40"/>
          <p:cNvSpPr txBox="1"/>
          <p:nvPr/>
        </p:nvSpPr>
        <p:spPr>
          <a:xfrm>
            <a:off x="3322320" y="1627632"/>
            <a:ext cx="2499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리뷰 라운드</a:t>
            </a:r>
            <a:endParaRPr lang="en-US" sz="1150" dirty="0"/>
          </a:p>
        </p:txBody>
      </p:sp>
      <p:sp>
        <p:nvSpPr>
          <p:cNvPr id="43" name="Text 41"/>
          <p:cNvSpPr txBox="1"/>
          <p:nvPr/>
        </p:nvSpPr>
        <p:spPr>
          <a:xfrm>
            <a:off x="3322320" y="1883664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외부 AI 리뷰와 자체 점검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사실이 아닌 걸로 밝혀진 가정 네 개를 기록으로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6096000" y="1042416"/>
            <a:ext cx="249936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6096000" y="1097280"/>
            <a:ext cx="2499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C24A3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50/50</a:t>
            </a:r>
            <a:endParaRPr lang="en-US" sz="3400" dirty="0"/>
          </a:p>
        </p:txBody>
      </p:sp>
      <p:sp>
        <p:nvSpPr>
          <p:cNvPr id="46" name="Text 44"/>
          <p:cNvSpPr txBox="1"/>
          <p:nvPr/>
        </p:nvSpPr>
        <p:spPr>
          <a:xfrm>
            <a:off x="6096000" y="1627632"/>
            <a:ext cx="2499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실제로 돌려봄</a:t>
            </a:r>
            <a:endParaRPr lang="en-US" sz="1150" dirty="0"/>
          </a:p>
        </p:txBody>
      </p:sp>
      <p:sp>
        <p:nvSpPr>
          <p:cNvPr id="47" name="Text 45"/>
          <p:cNvSpPr txBox="1"/>
          <p:nvPr/>
        </p:nvSpPr>
        <p:spPr>
          <a:xfrm>
            <a:off x="6096000" y="1883664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가상 데이터 데모로 규칙을 전부 실행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화면이 받는 값과 명세가 어긋나는 곳 0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548640" y="2697480"/>
            <a:ext cx="45720" cy="1188720"/>
          </a:xfrm>
          <a:prstGeom prst="rect">
            <a:avLst/>
          </a:prstGeom>
          <a:solidFill>
            <a:srgbClr val="C24A31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768096" y="269748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국내 종합병원 병동 한 곳의 운영 방식을 기준으로 설계했습니다. 현직 간호사 한 분께 확인했고, 병동마다 운영이 다르다는 것도 같은 분께 들었습니다.</a:t>
            </a:r>
            <a:endParaRPr lang="en-US" sz="1150" dirty="0"/>
          </a:p>
        </p:txBody>
      </p:sp>
      <p:sp>
        <p:nvSpPr>
          <p:cNvPr id="50" name="Text 48"/>
          <p:cNvSpPr txBox="1"/>
          <p:nvPr/>
        </p:nvSpPr>
        <p:spPr>
          <a:xfrm>
            <a:off x="768096" y="3282696"/>
            <a:ext cx="7772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공식 의무기록은 병원 전산이 맡습니다. 인계 메모는 그와 따로 관리됩니다. 이 서비스는 그 인계 메모를 맡아서, 누가 썼고 누가 받아 확인했고 무엇이 바뀌었는지를 남깁니다.</a:t>
            </a:r>
            <a:endParaRPr lang="en-US" sz="1150" dirty="0"/>
          </a:p>
        </p:txBody>
      </p:sp>
      <p:sp>
        <p:nvSpPr>
          <p:cNvPr id="51" name="Shape 49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근무표가 끝나는 지점에서 시작한다. 누가 인계를 맡았고, 누가 받아 확인했는지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48640" y="1737360"/>
            <a:ext cx="640080" cy="640080"/>
          </a:xfrm>
          <a:prstGeom prst="ellipse">
            <a:avLst/>
          </a:prstGeom>
          <a:ln w="31750">
            <a:solidFill>
              <a:srgbClr val="2B333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17474" y="1737360"/>
            <a:ext cx="640080" cy="640080"/>
          </a:xfrm>
          <a:prstGeom prst="ellipse">
            <a:avLst/>
          </a:prstGeom>
          <a:ln w="31750">
            <a:solidFill>
              <a:srgbClr val="C24A3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48640" y="256032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spc="-100" kern="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감사합니다</a:t>
            </a:r>
            <a:endParaRPr lang="en-US" sz="34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338328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0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근무표가 끝나는 지점에서 시작한다.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SKALA 10반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너와 나의 인계고리 — 프로젝트 기술서</dc:title>
  <dc:subject>PptxGenJS Presentation</dc:subject>
  <dc:creator>황재원</dc:creator>
  <cp:lastModifiedBy>황재원</cp:lastModifiedBy>
  <cp:revision>1</cp:revision>
  <dcterms:created xsi:type="dcterms:W3CDTF">2026-09-17T01:01:24Z</dcterms:created>
  <dcterms:modified xsi:type="dcterms:W3CDTF">2026-09-17T01:01:24Z</dcterms:modified>
</cp:coreProperties>
</file>