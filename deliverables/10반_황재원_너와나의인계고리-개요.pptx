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마디: 근무표는 누가 나오는지까지만 말합니다. 그 다음 고리가 비어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도메인 모르는 사람 기준 첫 장. 교대·인계·차지 세 단어만 소개한다.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동사만 기억시키면 뒤 화면이 전부 이 셋 중 하나로 보인다.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정의 한 문장을 그대로 읽고, '하지 않은 것'으로 범위를 먼저 닫는다.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20초 쓰면 나머지 4분이 다 들린다. 차지와 액팅의 차이가 인계 권한의 근거.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'없다'고 말하지 않는다. '조사 범위에서 찾지 못했다'.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범위를 좁힌 걸 근거와 같이 말한다. 채점 기준이 정합성이라 감점이 아니다.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'기록이 없다'가 아니라 '받았다는 기록이 없다'. 내용은 남는다.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전제가 무너진 걸 숨기지 않고 기록으로 남겼다고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로그인 자체는 범위 밖. 병원 인증 시스템이 있다고 가정.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3이 없으면 옆에서 같이 듣는 액팅이 인계를 못 읽는다. 권한이 기능을 막은 실수를 두 번 했고 두 번 다 이 표에서 잡았다.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Actor 가 다른 동작을 한 기능에 묶으면 권한 정의가 안 돼서 F-06 을 분리했다.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[필수] UI 흐름도는 반드시 PDF 안에 있어야 한다. 점선 4개가 두 Actor 를 잇는 지점.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점선 3개가 간호사 화면으로 넘어간다.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인계 전달만 서로 다른 사람 사이에서 일어난다. 그래서 '고리'.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범례를 화면 파트 맨 앞에 두면 이후 6장이 다 읽힌다.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두 방향이 한 화면에 보이는 게 '고리'의 그림.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필수 항목 검사는 칸이 비었는지만 본다. 내용의 성의는 안 본다. 한계 슬라이드에서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단순 '읽음' 체크와 receiver_summary 를 가르는 지점. 첫 번째 불편의 해결.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이관하지 않는 게 정상인 경우가 있다(그 사이 퇴원 등). 그래서 API 로 막지 않고 사람이 보고 판단.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숫자를 보여주면 그 근거로 내려갈 수 있어야 한다. 결원만 예외인 이유를 꼭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이름을 바꾼 이유는 데이터 파트에서 이어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6개만 따라가면 인계 한 건의 일생이 설명된다. 나머지 6개는 병동, 팀, 사용자, 역할, 양식, 이력.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권장 6~9개보다 많다. 팀, 인계 담당, 양식 항목이 각각 이유를 갖는다. 이유를 말할 수 있으면 개수는 문제가 아니다.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'FK 이름만 바꾸는 1시간 작업'으로 계산하면 안 된다는 걸 11라운드에서 배웠다.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남기는 설계의 비용을 같이 적는 게 설계 고민의 증거.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 컬럼으로 여러 테이블을 가리키는 방식을 안 쓴 이유: 외래키 제약을 걸 수 없다.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화면 11개에서 일어나는 동작 25가지를 먼저 세고, 겹치는 것을 빼 24개가 됐다.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배점 20점 파트. '화면에서 세어서 만들었다'는 순서를 꼭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서버가 정하는 건 편의가 아니라 규칙을 한 곳에 두는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409 는 '지금 상태에서 그 전이는 안 된다', 422 는 '보낸 내용이 모자라다'. 섞으면 화면이 뭘 고쳐야 할지 모른다.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버린 안과 그 이유를 적는 게 채택안만 적는 것보다 강하다.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한계를 먼저 말하면 질문이 줄어든다.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과제 형식은 안 했고 자유롭게 써 보게 했다. 정량 기록은 없다. 설계와 맞은 규칙 셋(작성자만 수정 403 · 넘긴 뒤 불변 409 · DELETE 없음)은 말로 잇는다. 열람 범위(현장은 병동 전체)는 우리가 더 좁아 보완으로 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참여자가 정리한 목록 그대로. 한 글자도 바꾸지 않았다. 판정은 다음 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요청을 기능 목록이 아니라 '우리 데이터로 되는가'로 나눈 것이 정합성의 연장이다. 하나도 구현하지 않았다.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문장을 표지의 문장과 이어 닫는다.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257175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spc="-160" kern="0" dirty="0">
                <a:solidFill>
                  <a:srgbClr val="2B333C"/>
                </a:solidFill>
                <a:latin typeface="Nanum Pen" pitchFamily="34" charset="0"/>
                <a:ea typeface="Nanum Pen" pitchFamily="34" charset="-122"/>
                <a:cs typeface="Nanum Pen" pitchFamily="34" charset="-120"/>
              </a:rPr>
              <a:t>너와 나의 인계고리</a:t>
            </a:r>
            <a:endParaRPr lang="en-US" sz="46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353324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A6069"/>
                </a:solidFill>
                <a:latin typeface="Nanum Pen" pitchFamily="34" charset="0"/>
                <a:ea typeface="Nanum Pen" pitchFamily="34" charset="-122"/>
                <a:cs typeface="Nanum Pen" pitchFamily="34" charset="-120"/>
              </a:rPr>
              <a:t>간호사 교대근무 인계·배정 웹서비스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448513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SKALA 4기 웹서비스 미니프로젝트  판교캠퍼스 10반 P345 황재원   2026. 9. 17.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교대할 때 무슨 일이 일어나나</a:t>
            </a:r>
            <a:endParaRPr lang="en-US" sz="25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간호사는 하루 세 번 교대한다. 나가는 사람이 들어오는 사람에게 환자 상태를 넘긴다. 이걸 "인계"라고 한다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1417320"/>
            <a:ext cx="2103120" cy="91440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0080" y="14173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밤 근무 간호사
</a:t>
            </a:r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환자를 밤새 봤다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880360" y="1728216"/>
            <a:ext cx="3383280" cy="292608"/>
          </a:xfrm>
          <a:prstGeom prst="rightArrow">
            <a:avLst/>
          </a:prstGeom>
          <a:solidFill>
            <a:srgbClr val="C24A3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2880360" y="138074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24A3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인계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2880360" y="20574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환자 상태와 주의사항을 말로, 글로 넘긴다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92240" y="1417320"/>
            <a:ext cx="2103120" cy="91440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583680" y="14173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아침 근무 간호사
</a:t>
            </a:r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이제부터 이 환자를 본다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48640" y="274320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24A3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</a:t>
            </a:r>
            <a:endParaRPr lang="en-US" sz="2400" dirty="0"/>
          </a:p>
        </p:txBody>
      </p:sp>
      <p:sp>
        <p:nvSpPr>
          <p:cNvPr id="31" name="Text 29"/>
          <p:cNvSpPr txBox="1"/>
          <p:nvPr/>
        </p:nvSpPr>
        <p:spPr>
          <a:xfrm>
            <a:off x="1051560" y="274320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넘겼다는 기록은 남는다. 받았다는 기록은 없다.
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나중에 "들었다 / 못 들었다"가 갈려도 확인할 데가 없다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548640" y="3493008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48640" y="3584448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24A3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</a:t>
            </a:r>
            <a:endParaRPr lang="en-US" sz="2400" dirty="0"/>
          </a:p>
        </p:txBody>
      </p:sp>
      <p:sp>
        <p:nvSpPr>
          <p:cNvPr id="34" name="Text 32"/>
          <p:cNvSpPr txBox="1"/>
          <p:nvPr/>
        </p:nvSpPr>
        <p:spPr>
          <a:xfrm>
            <a:off x="1051560" y="3584448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누가 못 나오면, 수간호사가 표를 고치고 메신저로 다시 알린다.
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배정이 무엇인지, 왜 바뀌었는지가 남지 않는다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팀의 책임 간호사를 "차지"라고 부른다. 인계는 차지가 쓰고 다음 근무의 차지가 받는다. 이 발표에 필요한 말은 이게 전부다 [C]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3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그래서 이 서비스는 세 가지를 한다</a:t>
            </a:r>
            <a:endParaRPr lang="en-US" sz="2500" dirty="0"/>
          </a:p>
        </p:txBody>
      </p:sp>
      <p:sp>
        <p:nvSpPr>
          <p:cNvPr id="21" name="Shape 19"/>
          <p:cNvSpPr/>
          <p:nvPr/>
        </p:nvSpPr>
        <p:spPr>
          <a:xfrm>
            <a:off x="548640" y="1097280"/>
            <a:ext cx="2499360" cy="182880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1520" y="11887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C24A3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</a:t>
            </a:r>
            <a:endParaRPr lang="en-US" sz="34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1737360"/>
            <a:ext cx="213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-3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정한다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2084832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그날 누가 어느 환자의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인계를 맡는지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731520" y="2615184"/>
            <a:ext cx="213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수간호사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084576" y="1920240"/>
            <a:ext cx="201168" cy="182880"/>
          </a:xfrm>
          <a:prstGeom prst="rightArrow">
            <a:avLst/>
          </a:prstGeom>
          <a:solidFill>
            <a:srgbClr val="5A6069"/>
          </a:solidFill>
          <a:ln/>
        </p:spPr>
      </p:sp>
      <p:sp>
        <p:nvSpPr>
          <p:cNvPr id="27" name="Shape 25"/>
          <p:cNvSpPr/>
          <p:nvPr/>
        </p:nvSpPr>
        <p:spPr>
          <a:xfrm>
            <a:off x="3322320" y="1097280"/>
            <a:ext cx="2499360" cy="182880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505200" y="11887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C24A3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</a:t>
            </a:r>
            <a:endParaRPr lang="en-US" sz="3400" dirty="0"/>
          </a:p>
        </p:txBody>
      </p:sp>
      <p:sp>
        <p:nvSpPr>
          <p:cNvPr id="29" name="Text 27"/>
          <p:cNvSpPr txBox="1"/>
          <p:nvPr/>
        </p:nvSpPr>
        <p:spPr>
          <a:xfrm>
            <a:off x="3505200" y="1737360"/>
            <a:ext cx="213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-3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넘긴다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3505200" y="2084832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병동이 정한 필수 항목이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비면 넘길 수 없다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3505200" y="2615184"/>
            <a:ext cx="213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차지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858256" y="1920240"/>
            <a:ext cx="201168" cy="182880"/>
          </a:xfrm>
          <a:prstGeom prst="rightArrow">
            <a:avLst/>
          </a:prstGeom>
          <a:solidFill>
            <a:srgbClr val="5A6069"/>
          </a:solidFill>
          <a:ln/>
        </p:spPr>
      </p:sp>
      <p:sp>
        <p:nvSpPr>
          <p:cNvPr id="33" name="Shape 31"/>
          <p:cNvSpPr/>
          <p:nvPr/>
        </p:nvSpPr>
        <p:spPr>
          <a:xfrm>
            <a:off x="6096000" y="1097280"/>
            <a:ext cx="2499360" cy="182880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278880" y="11887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C24A3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</a:t>
            </a:r>
            <a:endParaRPr lang="en-US" sz="3400" dirty="0"/>
          </a:p>
        </p:txBody>
      </p:sp>
      <p:sp>
        <p:nvSpPr>
          <p:cNvPr id="35" name="Text 33"/>
          <p:cNvSpPr txBox="1"/>
          <p:nvPr/>
        </p:nvSpPr>
        <p:spPr>
          <a:xfrm>
            <a:off x="6278880" y="1737360"/>
            <a:ext cx="213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-3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확인한다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6278880" y="2084832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받은 사람이 핵심을 자기 말로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요약해야 '확인'이 된다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6278880" y="2615184"/>
            <a:ext cx="213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다음 근무 차지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548640" y="3273552"/>
            <a:ext cx="45720" cy="51206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768096" y="3200400"/>
            <a:ext cx="7607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누가 못 나오면 1로 돌아가 다시 정한다.  </a:t>
            </a:r>
            <a:pPr indent="0" marL="0">
              <a:buNone/>
            </a:pP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바뀐 내용은 당사자 화면에 바로 뜨고, 왜 바꿨는지가 같이 남는다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하지 않는 것: 근무표 만들기 · 병원 전산(EMR) 연동 · 실제 환자정보 · 의학적 판단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4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  무엇을 만들었나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무엇을 만들었나</a:t>
            </a:r>
            <a:endParaRPr lang="en-US" sz="2500" dirty="0"/>
          </a:p>
        </p:txBody>
      </p:sp>
      <p:sp>
        <p:nvSpPr>
          <p:cNvPr id="38" name="Shape 36"/>
          <p:cNvSpPr/>
          <p:nvPr/>
        </p:nvSpPr>
        <p:spPr>
          <a:xfrm>
            <a:off x="548640" y="1042416"/>
            <a:ext cx="24993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1115568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24A31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누가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548640" y="1371600"/>
            <a:ext cx="249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교대로 일하는 병동의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간호사와 수간호사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3322320" y="1042416"/>
            <a:ext cx="24993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3322320" y="1115568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24A31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언제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3322320" y="1371600"/>
            <a:ext cx="249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교대할 때 인계를 주고받을 때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누가 빠져서 배정을 다시 짤 때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096000" y="1042416"/>
            <a:ext cx="24993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096000" y="1115568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24A31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무엇이 불편했나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6096000" y="1371600"/>
            <a:ext cx="249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인계를 누가 받았는지 남는 기록이 없다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배정이 바뀌면 여기저기 다시 알려야 한다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548640" y="2331720"/>
            <a:ext cx="45720" cy="932688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768096" y="233172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-3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누가 무엇을 맡았고, 무엇을 주고받았는지가 남는다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768096" y="2679192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근무표는 오늘 누가 나오는지까지만 말합니다. 그 다음 칸, 누가 인계를 맡았고 누가 받아서 확인했는지는 비어 있습니다. 그 한 칸을 붙였습니다.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548640" y="35204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24A31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하지 않은 것   </a:t>
            </a:r>
            <a:pPr indent="0" marL="0">
              <a:buNone/>
            </a:pPr>
            <a:r>
              <a:rPr lang="en-US" sz="10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근무표 자동 생성, 병원 전산(EMR) 연동, 실제 환자정보, 의학적 판단이나 추천, 교육·급여·알람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5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목차</a:t>
            </a:r>
            <a:endParaRPr lang="en-US" sz="25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11887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01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1097280" y="11887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무엇을 만들었나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1700784"/>
            <a:ext cx="365760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197510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02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1097280" y="197510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무엇이 불편했고 어떻게 풀었나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48640" y="2487168"/>
            <a:ext cx="365760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8640" y="276148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03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1097280" y="276148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누가 쓰고, 어디까지 보나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3273552"/>
            <a:ext cx="365760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48640" y="354787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04</a:t>
            </a:r>
            <a:endParaRPr lang="en-US" sz="2000" dirty="0"/>
          </a:p>
        </p:txBody>
      </p:sp>
      <p:sp>
        <p:nvSpPr>
          <p:cNvPr id="31" name="Text 29"/>
          <p:cNvSpPr txBox="1"/>
          <p:nvPr/>
        </p:nvSpPr>
        <p:spPr>
          <a:xfrm>
            <a:off x="1097280" y="354787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화면 흐름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48640" y="4059936"/>
            <a:ext cx="365760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846320" y="11887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05</a:t>
            </a:r>
            <a:endParaRPr lang="en-US" sz="2000" dirty="0"/>
          </a:p>
        </p:txBody>
      </p:sp>
      <p:sp>
        <p:nvSpPr>
          <p:cNvPr id="34" name="Text 32"/>
          <p:cNvSpPr txBox="1"/>
          <p:nvPr/>
        </p:nvSpPr>
        <p:spPr>
          <a:xfrm>
            <a:off x="5394960" y="11887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화면마다 도는 API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4846320" y="1700784"/>
            <a:ext cx="365760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846320" y="197510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06</a:t>
            </a:r>
            <a:endParaRPr lang="en-US" sz="2000" dirty="0"/>
          </a:p>
        </p:txBody>
      </p:sp>
      <p:sp>
        <p:nvSpPr>
          <p:cNvPr id="37" name="Text 35"/>
          <p:cNvSpPr txBox="1"/>
          <p:nvPr/>
        </p:nvSpPr>
        <p:spPr>
          <a:xfrm>
            <a:off x="5394960" y="197510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데이터를 나눈 방법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4846320" y="2487168"/>
            <a:ext cx="365760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846320" y="276148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07</a:t>
            </a:r>
            <a:endParaRPr lang="en-US" sz="2000" dirty="0"/>
          </a:p>
        </p:txBody>
      </p:sp>
      <p:sp>
        <p:nvSpPr>
          <p:cNvPr id="40" name="Text 38"/>
          <p:cNvSpPr txBox="1"/>
          <p:nvPr/>
        </p:nvSpPr>
        <p:spPr>
          <a:xfrm>
            <a:off x="5394960" y="276148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API 24개와 막는 규칙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4846320" y="3273552"/>
            <a:ext cx="365760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4846320" y="354787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08</a:t>
            </a:r>
            <a:endParaRPr lang="en-US" sz="2000" dirty="0"/>
          </a:p>
        </p:txBody>
      </p:sp>
      <p:sp>
        <p:nvSpPr>
          <p:cNvPr id="43" name="Text 41"/>
          <p:cNvSpPr txBox="1"/>
          <p:nvPr/>
        </p:nvSpPr>
        <p:spPr>
          <a:xfrm>
            <a:off x="5394960" y="354787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고민한 것, 못 한 것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4846320" y="4059936"/>
            <a:ext cx="365760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6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  무엇을 만들었나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알아야 할 단어</a:t>
            </a:r>
            <a:endParaRPr lang="en-US" sz="25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1042416"/>
            <a:ext cx="1280160" cy="673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-30" kern="0" dirty="0">
                <a:solidFill>
                  <a:srgbClr val="C24A31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듀티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1920240" y="1042416"/>
            <a:ext cx="6675120" cy="673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33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하루를 셋으로 나눈 근무. 데이(D), 이브닝(E), 나이트(N).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548640" y="1716329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48640" y="1716329"/>
            <a:ext cx="1280160" cy="673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-30" kern="0" dirty="0">
                <a:solidFill>
                  <a:srgbClr val="C24A31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차지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1920240" y="1716329"/>
            <a:ext cx="6675120" cy="673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33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근무조의 책임 간호사. 팀마다 한 명. 인계를 쓰고 받는 사람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548640" y="239024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2390242"/>
            <a:ext cx="1280160" cy="673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-30" kern="0" dirty="0">
                <a:solidFill>
                  <a:srgbClr val="C24A31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액팅</a:t>
            </a:r>
            <a:endParaRPr lang="en-US" sz="1500" dirty="0"/>
          </a:p>
        </p:txBody>
      </p:sp>
      <p:sp>
        <p:nvSpPr>
          <p:cNvPr id="45" name="Text 43"/>
          <p:cNvSpPr txBox="1"/>
          <p:nvPr/>
        </p:nvSpPr>
        <p:spPr>
          <a:xfrm>
            <a:off x="1920240" y="2390242"/>
            <a:ext cx="6675120" cy="673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33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같이 일하는 간호사. 인계를 옆에서 같이 듣지만 공식 작성자는 아니다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548640" y="3064154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48640" y="3064154"/>
            <a:ext cx="1280160" cy="673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-30" kern="0" dirty="0">
                <a:solidFill>
                  <a:srgbClr val="C24A31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인계</a:t>
            </a:r>
            <a:endParaRPr lang="en-US" sz="1500" dirty="0"/>
          </a:p>
        </p:txBody>
      </p:sp>
      <p:sp>
        <p:nvSpPr>
          <p:cNvPr id="48" name="Text 46"/>
          <p:cNvSpPr txBox="1"/>
          <p:nvPr/>
        </p:nvSpPr>
        <p:spPr>
          <a:xfrm>
            <a:off x="1920240" y="3064154"/>
            <a:ext cx="6675120" cy="673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33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교대할 때 다음 근무자에게 넘기는 환자 상태와 주의사항. 이 서비스의 주인공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548640" y="3738067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548640" y="3738067"/>
            <a:ext cx="1280160" cy="673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-30" kern="0" dirty="0">
                <a:solidFill>
                  <a:srgbClr val="C24A31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결원</a:t>
            </a:r>
            <a:endParaRPr lang="en-US" sz="1500" dirty="0"/>
          </a:p>
        </p:txBody>
      </p:sp>
      <p:sp>
        <p:nvSpPr>
          <p:cNvPr id="51" name="Text 49"/>
          <p:cNvSpPr txBox="1"/>
          <p:nvPr/>
        </p:nvSpPr>
        <p:spPr>
          <a:xfrm>
            <a:off x="1920240" y="3738067"/>
            <a:ext cx="6675120" cy="6739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33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근무하기로 한 사람이 못 나오는 것. 누가 대신 설지, 인계는 누가 받을지 다시 정해야 한다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병동 기준. 병원마다, 병동마다 다르다는 것도 같은 인터뷰에서 들었다 [C]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7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  무엇을 만들었나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비슷한 서비스는 없었나</a:t>
            </a:r>
            <a:endParaRPr lang="en-US" sz="2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24128"/>
          <a:ext cx="80467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572000"/>
                <a:gridCol w="164592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찾아본 것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결과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근거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국내 비슷한 서비스 13건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(국내 12, 일본 1)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근무 확정부터 그날 역할, 인계 작성, 결원 재배정까지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하나로 이어 놓은 서비스는 찾지 못했다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[B] 제품 공식 페이지, 앱스토어 설명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해외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Epic "Art": 미국 병원 전산에 내장, 국내 병동은 선택 불가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ShiftSBAR: 개인이 혼자 쓰는 도구, 병동 단위 배정과 확인이 없다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[B] Epic 공식 포스트, 제품 페이지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법으로 막혀 있나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아니다. 건강정보는 민감정보라 조건이 붙지만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동의와 법령 근거가 있으면 다룰 수 있다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[A] 개인정보보호법 제23조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국내 병원 전산에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인계 전용 화면이 있나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C24A31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확인하지 못했다. "없다"는 뜻이 아니다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[D] 미검증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9" name="Shape 36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비어 있는 이유는 법이 아니라 비용(동의 설계, 접근 통제, 병원 승인)이라고 본다. 개인 해석이라 등급을 안 붙였다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8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  무엇을 만들었나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2331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이 설계의 범위</a:t>
            </a:r>
            <a:endParaRPr lang="en-US" sz="22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1554480"/>
            <a:ext cx="2331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병동 한 곳, 간호사 한 분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3200400" y="365760"/>
            <a:ext cx="457200" cy="10801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</a:t>
            </a:r>
            <a:endParaRPr lang="en-US" sz="2400" dirty="0"/>
          </a:p>
        </p:txBody>
      </p:sp>
      <p:sp>
        <p:nvSpPr>
          <p:cNvPr id="40" name="Text 38"/>
          <p:cNvSpPr txBox="1"/>
          <p:nvPr/>
        </p:nvSpPr>
        <p:spPr>
          <a:xfrm>
            <a:off x="3703320" y="365760"/>
            <a:ext cx="4892040" cy="10801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병동 한 곳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국내 종합병원 병동 한 곳의 운영 방식이 기준 [C]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200400" y="1445895"/>
            <a:ext cx="53949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3200400" y="1445895"/>
            <a:ext cx="457200" cy="10801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</a:t>
            </a:r>
            <a:endParaRPr lang="en-US" sz="2400" dirty="0"/>
          </a:p>
        </p:txBody>
      </p:sp>
      <p:sp>
        <p:nvSpPr>
          <p:cNvPr id="43" name="Text 41"/>
          <p:cNvSpPr txBox="1"/>
          <p:nvPr/>
        </p:nvSpPr>
        <p:spPr>
          <a:xfrm>
            <a:off x="3703320" y="1445895"/>
            <a:ext cx="4892040" cy="10801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현직 간호사 한 분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"간호사들이 다 그렇다"가 아니라 한 분께 확인한 내용 [C]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200400" y="2526030"/>
            <a:ext cx="53949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3200400" y="2526030"/>
            <a:ext cx="457200" cy="10801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24A3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</a:t>
            </a:r>
            <a:endParaRPr lang="en-US" sz="2400" dirty="0"/>
          </a:p>
        </p:txBody>
      </p:sp>
      <p:sp>
        <p:nvSpPr>
          <p:cNvPr id="46" name="Text 44"/>
          <p:cNvSpPr txBox="1"/>
          <p:nvPr/>
        </p:nvSpPr>
        <p:spPr>
          <a:xfrm>
            <a:off x="3703320" y="2526030"/>
            <a:ext cx="4892040" cy="10801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병동마다 다르다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차지만 하는 간호사를 따로 두는 병원도 있다고 한다. 그 차이는 이번 범위 밖 [C]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3200400" y="3606165"/>
            <a:ext cx="53949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3200400" y="3606165"/>
            <a:ext cx="457200" cy="10801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4</a:t>
            </a:r>
            <a:endParaRPr lang="en-US" sz="2400" dirty="0"/>
          </a:p>
        </p:txBody>
      </p:sp>
      <p:sp>
        <p:nvSpPr>
          <p:cNvPr id="49" name="Text 47"/>
          <p:cNvSpPr txBox="1"/>
          <p:nvPr/>
        </p:nvSpPr>
        <p:spPr>
          <a:xfrm>
            <a:off x="3703320" y="3606165"/>
            <a:ext cx="4892040" cy="10801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주장마다 출처 등급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[A] 원문 확인, [B] 2차 출처, [C] 인터뷰로 확인, [D] 아직 검증 못 함. 등급이 없으면 내 판단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9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  무엇이 불편했고 어떻게 풀었나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불편했던 것, 푼 방법</a:t>
            </a:r>
            <a:endParaRPr lang="en-US" sz="2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24128"/>
          <a:ext cx="804672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3703320"/>
                <a:gridCol w="2926080"/>
                <a:gridCol w="64008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누가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불편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이 서비스에서는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기능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간호사</a:t>
                      </a:r>
                      <a:endParaRPr lang="en-US" sz="11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(차지)</a:t>
                      </a:r>
                      <a:endParaRPr lang="en-US" sz="11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인계를 넘기긴 하는데 받은 사람이 제대로 들었는지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남는 기록이 없다 [C]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내용은 전산에 남는다. 없는 건 "받았다"는 기록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들은 말: "그날 차지가 듣는 게 당연한 구조"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받은 사람이 핵심을 자기 말로 다시 적어야 확인 처리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눈으로 읽은 것만으로는 확인이 아니다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누가 언제 받았는지 남는다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C24A31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F-04</a:t>
                      </a:r>
                      <a:endParaRPr lang="en-US" sz="11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수간호사</a:t>
                      </a:r>
                      <a:endParaRPr lang="en-US" sz="11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누가 못 나오면 바뀐 내용을 여기저기 다시 알려야 하고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지금 배정이 뭔지, 왜 바뀌었는지도 안 남는다 [C]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엑셀을 고치고 메신저로 다시 공지한다 [D]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화면에서 바로 다시 배정하면 당사자 화면에 그대로 뜬다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다시 공지할 필요가 없다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바꾼 이유가 같이 남는다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C24A31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F-05</a:t>
                      </a:r>
                      <a:endParaRPr lang="en-US" sz="11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10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  무엇이 불편했고 어떻게 풀었나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인터뷰 뒤에 뺀 것 네 가지</a:t>
            </a:r>
            <a:endParaRPr lang="en-US" sz="25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24128"/>
          <a:ext cx="804672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3108960"/>
                <a:gridCol w="237744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처음에 적었던 것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실제로는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그래서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C24A3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"출근해서야 자기 역할을 안다"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월말 전에 팀장이 미리 정하고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그 뒤에 간호사끼리 서로 바꾼다 [C]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불편 항목에서 뺌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관련 기능은 기반 기능으로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C24A3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"인계 내용이 기록되지 않는다"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내용은 남는다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안 남는 건 "받았다"는 기록 [C]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해결 대상을 '받은 기록'으로 좁힘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C24A3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"역할마다 인계 항목이 달라야 한다"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아니다. 인계는 차지가 받고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액팅은 옆에서 같은 인계를 듣는다 [C]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항목을 병동 공통 한 벌로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C24A3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"전산 기록 하나가 인계와 공식 기록을 겸한다"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우리가 잘못 옮긴 말이었다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인계장과 공식 기록은 따로 [C]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"우리가 이중 입력을 만든다"는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전제가 사라짐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11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  누가 쓰고, 어디까지 보나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누가 쓰나</a:t>
            </a:r>
            <a:endParaRPr lang="en-US" sz="25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두 사람. 다른 병동 사람은 못 들어온다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80467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651760"/>
                <a:gridCol w="402336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쓰는 사람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볼 수 있는 것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하는 일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수간호사</a:t>
                      </a:r>
                      <a:endParaRPr lang="en-US" sz="11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자기가 맡은 병동 전체 [C]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근무표 등록, 그날 역할과 인계 담당 정하기, 인계 항목 정하기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결원 생기면 다시 배정, 바뀐 내역 보기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간호사</a:t>
                      </a:r>
                      <a:endParaRPr lang="en-US" sz="11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근무와 역할, 우리 팀 환자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내가 맡은 인계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근무 확인. 차지면 인계 쓰기, 받고 확인하기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액팅이면 우리 팀 인계 읽기. 내가 주고받은 인계 보기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8C9199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다른 병동 사람</a:t>
                      </a:r>
                      <a:endParaRPr lang="en-US" sz="11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아무것도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막는다. "없는 것처럼"이 아니라 "권한이 없다"고 답한다(403)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12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  누가 쓰고, 어디까지 보나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볼 수 있는 범위</a:t>
            </a:r>
            <a:endParaRPr lang="en-US" sz="25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세 갈래. 권한이 자기 일을 막지 않게</a:t>
            </a:r>
            <a:endParaRPr lang="en-US" sz="1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804672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3108960"/>
                <a:gridCol w="448056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볼 수 있는 것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판단 기준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B333C"/>
                          </a:solidFill>
                          <a:latin typeface="Pretendard Light" pitchFamily="34" charset="0"/>
                          <a:ea typeface="Pretendard Light" pitchFamily="34" charset="-122"/>
                          <a:cs typeface="Pretendard Light" pitchFamily="34" charset="-120"/>
                        </a:rPr>
                        <a:t>1</a:t>
                      </a:r>
                      <a:endParaRPr lang="en-US" sz="1800" dirty="0">
                        <a:latin typeface="Pretendard Light" charset="0"/>
                        <a:ea typeface="Pretendard Light" charset="0"/>
                        <a:cs typeface="Pretendard Light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수간호사는 병동 전체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소속 병동이면 전부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B333C"/>
                          </a:solidFill>
                          <a:latin typeface="Pretendard Light" pitchFamily="34" charset="0"/>
                          <a:ea typeface="Pretendard Light" pitchFamily="34" charset="-122"/>
                          <a:cs typeface="Pretendard Light" pitchFamily="34" charset="-120"/>
                        </a:rPr>
                        <a:t>2</a:t>
                      </a:r>
                      <a:endParaRPr lang="en-US" sz="1800" dirty="0">
                        <a:latin typeface="Pretendard Light" charset="0"/>
                        <a:ea typeface="Pretendard Light" charset="0"/>
                        <a:cs typeface="Pretendard Light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내가 인계를 맡은 환자와 그 인계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그 근무에서 나에게 배정된 입원 건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B333C"/>
                          </a:solidFill>
                          <a:latin typeface="Pretendard Light" pitchFamily="34" charset="0"/>
                          <a:ea typeface="Pretendard Light" pitchFamily="34" charset="-122"/>
                          <a:cs typeface="Pretendard Light" pitchFamily="34" charset="-120"/>
                        </a:rPr>
                        <a:t>3</a:t>
                      </a:r>
                      <a:endParaRPr lang="en-US" sz="1800" dirty="0">
                        <a:latin typeface="Pretendard Light" charset="0"/>
                        <a:ea typeface="Pretendard Light" charset="0"/>
                        <a:cs typeface="Pretendard Light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같은 팀, 같은 시간에 일하는 사람의 인계</a:t>
                      </a:r>
                      <a:endParaRPr lang="en-US" sz="11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같은 병동·같은 날·같은 근무조, 같은 팀, 이미 넘어간 인계만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작성 중인 것은 쓴 사람만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0" name="Shape 37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쓰는 건 더 좁다. 인계를 쓰는 건 맡은 사람만, 확인은 받을 사람만. 결원으로 등록된 사람은 받을 수 없다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13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  누가 쓰고, 어디까지 보나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기능</a:t>
            </a:r>
            <a:endParaRPr lang="en-US" sz="25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24128"/>
          <a:ext cx="804672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3017520"/>
                <a:gridCol w="2103120"/>
                <a:gridCol w="777240"/>
                <a:gridCol w="155448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ID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하는 일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누가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화면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막힐 때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97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F-01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확정된 근무표 등록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수간호사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권한 없음 403, 같은 사람 중복 409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97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F-02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그날 역할과 인계 담당 정하기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수간호사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403, 409, 입력 모자람 422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97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F-03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근무·역할·바뀐 내용 확인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간호사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남의 배정 조회는 403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97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24A31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F-04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인계 쓰기, 받은 사람이 요약해 확인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차지가 쓰고, 다음 차지가 확인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액팅은 읽기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9, 10, 11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당사자 아님 403, 필수·요약 미입력 422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재확인·퇴원 409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97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24A31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F-05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결원 등록, 다시 배정, 완료 확인과 이력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수간호사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6, 7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대체자 없이 완료 422, 재확인 409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97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F-06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병동 인계 항목 정하기 (F-04 가 쓰는 양식)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수간호사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간호사가 고치려 하면 403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9" name="Shape 36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F-04 가 첫 번째 불편, F-05 가 두 번째 불편. 나머지 넷은 그 둘이 서려면 있어야 하는 기반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14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화면 흐름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화면 흐름</a:t>
            </a:r>
            <a:endParaRPr lang="en-US" sz="25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로그인에서 두 갈래. 실선은 화면 이동, 점선은 데이터가 넘어가는 길</a:t>
            </a:r>
            <a:endParaRPr lang="en-US" sz="1200" dirty="0"/>
          </a:p>
        </p:txBody>
      </p:sp>
      <p:pic>
        <p:nvPicPr>
          <p:cNvPr id="39" name="Image 0" descr="/Users/hwangjaewon/skala-workspace/skala-webservice-mini/assets/ui_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6713" y="1152144"/>
            <a:ext cx="4810575" cy="3314700"/>
          </a:xfrm>
          <a:prstGeom prst="rect">
            <a:avLst/>
          </a:prstGeom>
        </p:spPr>
      </p:pic>
      <p:sp>
        <p:nvSpPr>
          <p:cNvPr id="40" name="Shape 37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11개가 전부 이 그림 안에 있다. 점선 네 개가 수간호사와 간호사를 잇는다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15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화면 흐름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수간호사 쪽</a:t>
            </a:r>
            <a:endParaRPr lang="en-US" sz="25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근무표 등록 → 역할·담당 정하기 → 결원 재배정 → 바뀐 내역</a:t>
            </a:r>
            <a:endParaRPr lang="en-US" sz="1200" dirty="0"/>
          </a:p>
        </p:txBody>
      </p:sp>
      <p:pic>
        <p:nvPicPr>
          <p:cNvPr id="39" name="Image 0" descr="/Users/hwangjaewon/skala-workspace/skala-webservice-mini/assets/ui_flow_1_mana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48957" y="1152144"/>
            <a:ext cx="4246087" cy="3314700"/>
          </a:xfrm>
          <a:prstGeom prst="rect">
            <a:avLst/>
          </a:prstGeom>
        </p:spPr>
      </p:pic>
      <p:sp>
        <p:nvSpPr>
          <p:cNvPr id="40" name="Shape 37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배정은 누르는 즉시 반영된다. 따로 게시하거나 승인받는 단계가 없다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16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화면 흐름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간호사 쪽</a:t>
            </a:r>
            <a:endParaRPr lang="en-US" sz="25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내 근무 → 인계 쓰기 → 인계 받고 요약해서 확인</a:t>
            </a:r>
            <a:endParaRPr lang="en-US" sz="1200" dirty="0"/>
          </a:p>
        </p:txBody>
      </p:sp>
      <p:pic>
        <p:nvPicPr>
          <p:cNvPr id="39" name="Image 0" descr="/Users/hwangjaewon/skala-workspace/skala-webservice-mini/assets/ui_flow_2_nur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7037" y="1152144"/>
            <a:ext cx="4949925" cy="3314700"/>
          </a:xfrm>
          <a:prstGeom prst="rect">
            <a:avLst/>
          </a:prstGeom>
        </p:spPr>
      </p:pic>
      <p:sp>
        <p:nvSpPr>
          <p:cNvPr id="40" name="Shape 37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인계는 앞 근무 차지에서 다음 근무 차지로 흐른다. 같은 팀 액팅은 읽기만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17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  화면마다 도는 API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화면들을 읽는 법</a:t>
            </a:r>
            <a:endParaRPr lang="en-US" sz="2500" dirty="0"/>
          </a:p>
        </p:txBody>
      </p:sp>
      <p:sp>
        <p:nvSpPr>
          <p:cNvPr id="38" name="Shape 36"/>
          <p:cNvSpPr/>
          <p:nvPr/>
        </p:nvSpPr>
        <p:spPr>
          <a:xfrm>
            <a:off x="640080" y="1490472"/>
            <a:ext cx="274320" cy="274320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1133856" y="1188720"/>
            <a:ext cx="10058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24A31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빨간 원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2194560" y="1188720"/>
            <a:ext cx="63093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33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API 가 호출되는 곳. 어떤 주소로 무엇을 하는지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548640" y="2103120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40080" y="2404872"/>
            <a:ext cx="274320" cy="274320"/>
          </a:xfrm>
          <a:prstGeom prst="ellipse">
            <a:avLst/>
          </a:prstGeom>
          <a:solidFill>
            <a:srgbClr val="2B333C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1133856" y="2103120"/>
            <a:ext cx="10058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검은 원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194560" y="2103120"/>
            <a:ext cx="63093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33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화면이 이동하는 곳. 이 버튼을 누르면 어디로 가는지</a:t>
            </a:r>
            <a:endParaRPr lang="en-US" sz="1250" dirty="0"/>
          </a:p>
        </p:txBody>
      </p:sp>
      <p:sp>
        <p:nvSpPr>
          <p:cNvPr id="45" name="Shape 43"/>
          <p:cNvSpPr/>
          <p:nvPr/>
        </p:nvSpPr>
        <p:spPr>
          <a:xfrm>
            <a:off x="548640" y="3017520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40080" y="3319272"/>
            <a:ext cx="274320" cy="2743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24A3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133856" y="3017520"/>
            <a:ext cx="10058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24A31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빨간 테두리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2194560" y="3017520"/>
            <a:ext cx="63093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333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막히는 곳. 오류와 예외. 왜 막는지가 이 설계의 핵심</a:t>
            </a:r>
            <a:endParaRPr lang="en-US" sz="1250" dirty="0"/>
          </a:p>
        </p:txBody>
      </p:sp>
      <p:sp>
        <p:nvSpPr>
          <p:cNvPr id="49" name="Shape 47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캡처는 전부 실제로 도는 데모에서 찍었다. 가상 데이터이고, 화면에 보이는 주소가 그대로 API 명세의 주소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18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  화면마다 도는 API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간호사 첫 화면</a:t>
            </a:r>
            <a:endParaRPr lang="en-US" sz="25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내 근무, 우리 팀 환자, 받은 인계와 보낼 인계</a:t>
            </a:r>
            <a:endParaRPr lang="en-US" sz="1200" dirty="0"/>
          </a:p>
        </p:txBody>
      </p:sp>
      <p:pic>
        <p:nvPicPr>
          <p:cNvPr id="39" name="Image 0" descr="/Users/hwangjaewon/skala-workspace/skala-webservice-mini/assets/8_myshift_nur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52144"/>
            <a:ext cx="4828032" cy="3017520"/>
          </a:xfrm>
          <a:prstGeom prst="rect">
            <a:avLst/>
          </a:prstGeom>
        </p:spPr>
      </p:pic>
      <p:sp>
        <p:nvSpPr>
          <p:cNvPr id="40" name="Shape 37"/>
          <p:cNvSpPr/>
          <p:nvPr/>
        </p:nvSpPr>
        <p:spPr>
          <a:xfrm>
            <a:off x="548640" y="1152144"/>
            <a:ext cx="4828032" cy="301752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2823058" y="1522171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2823058" y="1522171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3064459" y="1854098"/>
            <a:ext cx="192024" cy="192024"/>
          </a:xfrm>
          <a:prstGeom prst="ellipse">
            <a:avLst/>
          </a:prstGeom>
          <a:solidFill>
            <a:srgbClr val="2B33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3064459" y="1854098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3597554" y="1854098"/>
            <a:ext cx="192024" cy="192024"/>
          </a:xfrm>
          <a:prstGeom prst="ellipse">
            <a:avLst/>
          </a:prstGeom>
          <a:solidFill>
            <a:srgbClr val="2B33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3597554" y="1854098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4616806" y="2326843"/>
            <a:ext cx="192024" cy="192024"/>
          </a:xfrm>
          <a:prstGeom prst="ellipse">
            <a:avLst/>
          </a:prstGeom>
          <a:solidFill>
            <a:srgbClr val="2B33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4616806" y="2326843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900" dirty="0"/>
          </a:p>
        </p:txBody>
      </p:sp>
      <p:sp>
        <p:nvSpPr>
          <p:cNvPr id="49" name="Shape 46"/>
          <p:cNvSpPr/>
          <p:nvPr/>
        </p:nvSpPr>
        <p:spPr>
          <a:xfrm>
            <a:off x="5577840" y="1243584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5577840" y="124358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850" dirty="0"/>
          </a:p>
        </p:txBody>
      </p:sp>
      <p:sp>
        <p:nvSpPr>
          <p:cNvPr id="51" name="Text 48"/>
          <p:cNvSpPr txBox="1"/>
          <p:nvPr/>
        </p:nvSpPr>
        <p:spPr>
          <a:xfrm>
            <a:off x="5870448" y="118872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GET /me/shifts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내 근무와 역할, 우리 팀 환자를 한 번에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인계 담당이 없어도 근무와 역할은 보인다</a:t>
            </a:r>
            <a:endParaRPr lang="en-US" sz="850" dirty="0"/>
          </a:p>
        </p:txBody>
      </p:sp>
      <p:sp>
        <p:nvSpPr>
          <p:cNvPr id="52" name="Shape 49"/>
          <p:cNvSpPr/>
          <p:nvPr/>
        </p:nvSpPr>
        <p:spPr>
          <a:xfrm>
            <a:off x="5577840" y="1980819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5577840" y="2072259"/>
            <a:ext cx="192024" cy="192024"/>
          </a:xfrm>
          <a:prstGeom prst="ellipse">
            <a:avLst/>
          </a:prstGeom>
          <a:solidFill>
            <a:srgbClr val="2B333C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5577840" y="207225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850" dirty="0"/>
          </a:p>
        </p:txBody>
      </p:sp>
      <p:sp>
        <p:nvSpPr>
          <p:cNvPr id="55" name="Text 52"/>
          <p:cNvSpPr txBox="1"/>
          <p:nvPr/>
        </p:nvSpPr>
        <p:spPr>
          <a:xfrm>
            <a:off x="5870448" y="201739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왼쪽은 앞 근무에서 나에게 온 인계</a:t>
            </a:r>
            <a:pPr indent="0" marL="0">
              <a:lnSpc>
                <a:spcPct val="110000"/>
              </a:lnSpc>
              <a:buNone/>
            </a:pP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'확인' 버튼은 내가 받을 사람일 때만</a:t>
            </a:r>
            <a:endParaRPr lang="en-US" sz="950" dirty="0"/>
          </a:p>
        </p:txBody>
      </p:sp>
      <p:sp>
        <p:nvSpPr>
          <p:cNvPr id="56" name="Shape 53"/>
          <p:cNvSpPr/>
          <p:nvPr/>
        </p:nvSpPr>
        <p:spPr>
          <a:xfrm>
            <a:off x="5577840" y="2809494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5577840" y="2900934"/>
            <a:ext cx="192024" cy="192024"/>
          </a:xfrm>
          <a:prstGeom prst="ellipse">
            <a:avLst/>
          </a:prstGeom>
          <a:solidFill>
            <a:srgbClr val="2B333C"/>
          </a:solidFill>
          <a:ln/>
        </p:spPr>
      </p:sp>
      <p:sp>
        <p:nvSpPr>
          <p:cNvPr id="58" name="Text 55"/>
          <p:cNvSpPr txBox="1"/>
          <p:nvPr/>
        </p:nvSpPr>
        <p:spPr>
          <a:xfrm>
            <a:off x="5577840" y="290093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850" dirty="0"/>
          </a:p>
        </p:txBody>
      </p:sp>
      <p:sp>
        <p:nvSpPr>
          <p:cNvPr id="59" name="Text 56"/>
          <p:cNvSpPr txBox="1"/>
          <p:nvPr/>
        </p:nvSpPr>
        <p:spPr>
          <a:xfrm>
            <a:off x="5870448" y="284607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오른쪽은 내가 다음 근무로 넘길 인계</a:t>
            </a:r>
            <a:pPr indent="0" marL="0">
              <a:lnSpc>
                <a:spcPct val="110000"/>
              </a:lnSpc>
              <a:buNone/>
            </a:pP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방향이 한 화면에</a:t>
            </a:r>
            <a:endParaRPr lang="en-US" sz="950" dirty="0"/>
          </a:p>
        </p:txBody>
      </p:sp>
      <p:sp>
        <p:nvSpPr>
          <p:cNvPr id="60" name="Shape 57"/>
          <p:cNvSpPr/>
          <p:nvPr/>
        </p:nvSpPr>
        <p:spPr>
          <a:xfrm>
            <a:off x="5577840" y="3638169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5577840" y="3729609"/>
            <a:ext cx="192024" cy="192024"/>
          </a:xfrm>
          <a:prstGeom prst="ellipse">
            <a:avLst/>
          </a:prstGeom>
          <a:solidFill>
            <a:srgbClr val="2B333C"/>
          </a:solidFill>
          <a:ln/>
        </p:spPr>
      </p:sp>
      <p:sp>
        <p:nvSpPr>
          <p:cNvPr id="62" name="Text 59"/>
          <p:cNvSpPr txBox="1"/>
          <p:nvPr/>
        </p:nvSpPr>
        <p:spPr>
          <a:xfrm>
            <a:off x="5577840" y="372960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850" dirty="0"/>
          </a:p>
        </p:txBody>
      </p:sp>
      <p:sp>
        <p:nvSpPr>
          <p:cNvPr id="63" name="Text 60"/>
          <p:cNvSpPr txBox="1"/>
          <p:nvPr/>
        </p:nvSpPr>
        <p:spPr>
          <a:xfrm>
            <a:off x="5870448" y="367474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인계 작성 화면으로</a:t>
            </a:r>
            <a:pPr indent="0" marL="0">
              <a:lnSpc>
                <a:spcPct val="110000"/>
              </a:lnSpc>
              <a:buNone/>
            </a:pP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액팅에게는 이 버튼이 없다. 읽기만</a:t>
            </a:r>
            <a:endParaRPr lang="en-US" sz="950" dirty="0"/>
          </a:p>
        </p:txBody>
      </p:sp>
      <p:sp>
        <p:nvSpPr>
          <p:cNvPr id="64" name="Shape 61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팀, 같은 시간에 일하면 인계를 읽을 수 있다. '확인'은 그 환자를 맡은 차지만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19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  화면마다 도는 API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인계 쓰기</a:t>
            </a:r>
            <a:endParaRPr lang="en-US" sz="25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필수 항목이 비면 넘길 수 없다</a:t>
            </a:r>
            <a:endParaRPr lang="en-US" sz="1200" dirty="0"/>
          </a:p>
        </p:txBody>
      </p:sp>
      <p:pic>
        <p:nvPicPr>
          <p:cNvPr id="39" name="Image 0" descr="/Users/hwangjaewon/skala-workspace/skala-webservice-mini/assets/9_handover_write_nur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4357" y="1152144"/>
            <a:ext cx="3416599" cy="3314700"/>
          </a:xfrm>
          <a:prstGeom prst="rect">
            <a:avLst/>
          </a:prstGeom>
        </p:spPr>
      </p:pic>
      <p:sp>
        <p:nvSpPr>
          <p:cNvPr id="40" name="Shape 37"/>
          <p:cNvSpPr/>
          <p:nvPr/>
        </p:nvSpPr>
        <p:spPr>
          <a:xfrm>
            <a:off x="1254357" y="1152144"/>
            <a:ext cx="3416599" cy="331470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2110197" y="1955562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2110197" y="195556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1820086" y="1531031"/>
            <a:ext cx="192024" cy="1920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24A31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1820086" y="1531031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24A3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3335377" y="4188547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3335377" y="4188547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1880026" y="2025118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1880026" y="2025118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900" dirty="0"/>
          </a:p>
        </p:txBody>
      </p:sp>
      <p:sp>
        <p:nvSpPr>
          <p:cNvPr id="49" name="Shape 46"/>
          <p:cNvSpPr/>
          <p:nvPr/>
        </p:nvSpPr>
        <p:spPr>
          <a:xfrm>
            <a:off x="5577840" y="1243584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5577840" y="124358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850" dirty="0"/>
          </a:p>
        </p:txBody>
      </p:sp>
      <p:sp>
        <p:nvSpPr>
          <p:cNvPr id="51" name="Text 48"/>
          <p:cNvSpPr txBox="1"/>
          <p:nvPr/>
        </p:nvSpPr>
        <p:spPr>
          <a:xfrm>
            <a:off x="5870448" y="118872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/handovers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작성을 시작하면 병동 양식을 그대로 복사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나중에 양식이 바뀌어도 이미 쓴 인계는 안 바뀐다</a:t>
            </a:r>
            <a:endParaRPr lang="en-US" sz="850" dirty="0"/>
          </a:p>
        </p:txBody>
      </p:sp>
      <p:sp>
        <p:nvSpPr>
          <p:cNvPr id="52" name="Shape 49"/>
          <p:cNvSpPr/>
          <p:nvPr/>
        </p:nvSpPr>
        <p:spPr>
          <a:xfrm>
            <a:off x="5577840" y="1980819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5577840" y="2072259"/>
            <a:ext cx="192024" cy="1920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24A31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5577840" y="207225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24A3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850" dirty="0"/>
          </a:p>
        </p:txBody>
      </p:sp>
      <p:sp>
        <p:nvSpPr>
          <p:cNvPr id="55" name="Text 52"/>
          <p:cNvSpPr txBox="1"/>
          <p:nvPr/>
        </p:nvSpPr>
        <p:spPr>
          <a:xfrm>
            <a:off x="5870448" y="201739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422 보낸 내용이 모자람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필수 항목이 비어 있으면 넘길 수 없다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항목이 비었는지 이름까지 알려준다</a:t>
            </a:r>
            <a:endParaRPr lang="en-US" sz="850" dirty="0"/>
          </a:p>
        </p:txBody>
      </p:sp>
      <p:sp>
        <p:nvSpPr>
          <p:cNvPr id="56" name="Shape 53"/>
          <p:cNvSpPr/>
          <p:nvPr/>
        </p:nvSpPr>
        <p:spPr>
          <a:xfrm>
            <a:off x="5577840" y="2809494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5577840" y="2900934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58" name="Text 55"/>
          <p:cNvSpPr txBox="1"/>
          <p:nvPr/>
        </p:nvSpPr>
        <p:spPr>
          <a:xfrm>
            <a:off x="5577840" y="290093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850" dirty="0"/>
          </a:p>
        </p:txBody>
      </p:sp>
      <p:sp>
        <p:nvSpPr>
          <p:cNvPr id="59" name="Text 56"/>
          <p:cNvSpPr txBox="1"/>
          <p:nvPr/>
        </p:nvSpPr>
        <p:spPr>
          <a:xfrm>
            <a:off x="5870448" y="284607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/handovers/{id}/send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넘기면 '작성 중'에서 '전달됨'으로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받을 사람은 서버가 고른다. 같은 환자의 다음 근무 담당</a:t>
            </a:r>
            <a:endParaRPr lang="en-US" sz="850" dirty="0"/>
          </a:p>
        </p:txBody>
      </p:sp>
      <p:sp>
        <p:nvSpPr>
          <p:cNvPr id="60" name="Shape 57"/>
          <p:cNvSpPr/>
          <p:nvPr/>
        </p:nvSpPr>
        <p:spPr>
          <a:xfrm>
            <a:off x="5577840" y="3638169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5577840" y="3729609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62" name="Text 59"/>
          <p:cNvSpPr txBox="1"/>
          <p:nvPr/>
        </p:nvSpPr>
        <p:spPr>
          <a:xfrm>
            <a:off x="5577840" y="372960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850" dirty="0"/>
          </a:p>
        </p:txBody>
      </p:sp>
      <p:sp>
        <p:nvSpPr>
          <p:cNvPr id="63" name="Text 60"/>
          <p:cNvSpPr txBox="1"/>
          <p:nvPr/>
        </p:nvSpPr>
        <p:spPr>
          <a:xfrm>
            <a:off x="5870448" y="367474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PATCH /handovers/{id}/items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입력한 내용은 임시저장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번 넘긴 뒤에는 못 고친다(409)</a:t>
            </a:r>
            <a:endParaRPr lang="en-US" sz="850" dirty="0"/>
          </a:p>
        </p:txBody>
      </p:sp>
      <p:sp>
        <p:nvSpPr>
          <p:cNvPr id="64" name="Shape 61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받을 사람을 요청에서 안 받는 이유: 받으면 아무 근무로나 인계를 보낼 수 있게 된다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20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  화면마다 도는 API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인계 받기</a:t>
            </a:r>
            <a:endParaRPr lang="en-US" sz="25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요약을 써야 확인이 된다</a:t>
            </a:r>
            <a:endParaRPr lang="en-US" sz="1200" dirty="0"/>
          </a:p>
        </p:txBody>
      </p:sp>
      <p:pic>
        <p:nvPicPr>
          <p:cNvPr id="39" name="Image 0" descr="/Users/hwangjaewon/skala-workspace/skala-webservice-mini/assets/10_handover_receive_nur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6881" y="1152144"/>
            <a:ext cx="3451551" cy="3314700"/>
          </a:xfrm>
          <a:prstGeom prst="rect">
            <a:avLst/>
          </a:prstGeom>
        </p:spPr>
      </p:pic>
      <p:sp>
        <p:nvSpPr>
          <p:cNvPr id="40" name="Shape 37"/>
          <p:cNvSpPr/>
          <p:nvPr/>
        </p:nvSpPr>
        <p:spPr>
          <a:xfrm>
            <a:off x="1236881" y="1152144"/>
            <a:ext cx="3451551" cy="331470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3214221" y="1591621"/>
            <a:ext cx="192024" cy="192024"/>
          </a:xfrm>
          <a:prstGeom prst="ellipse">
            <a:avLst/>
          </a:prstGeom>
          <a:solidFill>
            <a:srgbClr val="2B33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3214221" y="1591621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1869933" y="3670577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1869933" y="3670577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3369238" y="4176990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3369238" y="4176990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1809379" y="4012224"/>
            <a:ext cx="192024" cy="1920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24A31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1809379" y="401222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24A3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900" dirty="0"/>
          </a:p>
        </p:txBody>
      </p:sp>
      <p:sp>
        <p:nvSpPr>
          <p:cNvPr id="49" name="Shape 46"/>
          <p:cNvSpPr/>
          <p:nvPr/>
        </p:nvSpPr>
        <p:spPr>
          <a:xfrm>
            <a:off x="5577840" y="1243584"/>
            <a:ext cx="192024" cy="192024"/>
          </a:xfrm>
          <a:prstGeom prst="ellipse">
            <a:avLst/>
          </a:prstGeom>
          <a:solidFill>
            <a:srgbClr val="2B333C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5577840" y="124358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850" dirty="0"/>
          </a:p>
        </p:txBody>
      </p:sp>
      <p:sp>
        <p:nvSpPr>
          <p:cNvPr id="51" name="Text 48"/>
          <p:cNvSpPr txBox="1"/>
          <p:nvPr/>
        </p:nvSpPr>
        <p:spPr>
          <a:xfrm>
            <a:off x="5870448" y="118872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지금 상태는 '확인 대기'</a:t>
            </a:r>
            <a:pPr indent="0" marL="0">
              <a:lnSpc>
                <a:spcPct val="110000"/>
              </a:lnSpc>
              <a:buNone/>
            </a:pP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작성 중, 전달됨, 확인됨 순서로만 간다</a:t>
            </a:r>
            <a:endParaRPr lang="en-US" sz="950" dirty="0"/>
          </a:p>
        </p:txBody>
      </p:sp>
      <p:sp>
        <p:nvSpPr>
          <p:cNvPr id="52" name="Shape 49"/>
          <p:cNvSpPr/>
          <p:nvPr/>
        </p:nvSpPr>
        <p:spPr>
          <a:xfrm>
            <a:off x="5577840" y="1980819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5577840" y="2072259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5577840" y="207225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850" dirty="0"/>
          </a:p>
        </p:txBody>
      </p:sp>
      <p:sp>
        <p:nvSpPr>
          <p:cNvPr id="55" name="Text 52"/>
          <p:cNvSpPr txBox="1"/>
          <p:nvPr/>
        </p:nvSpPr>
        <p:spPr>
          <a:xfrm>
            <a:off x="5870448" y="201739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PATCH /handovers/{id}/receipt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받은 사람이 자기 말로 쓴 요약이 여기 저장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칸이 이 서비스의 핵심</a:t>
            </a:r>
            <a:endParaRPr lang="en-US" sz="850" dirty="0"/>
          </a:p>
        </p:txBody>
      </p:sp>
      <p:sp>
        <p:nvSpPr>
          <p:cNvPr id="56" name="Shape 53"/>
          <p:cNvSpPr/>
          <p:nvPr/>
        </p:nvSpPr>
        <p:spPr>
          <a:xfrm>
            <a:off x="5577840" y="2809494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5577840" y="2900934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58" name="Text 55"/>
          <p:cNvSpPr txBox="1"/>
          <p:nvPr/>
        </p:nvSpPr>
        <p:spPr>
          <a:xfrm>
            <a:off x="5577840" y="290093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850" dirty="0"/>
          </a:p>
        </p:txBody>
      </p:sp>
      <p:sp>
        <p:nvSpPr>
          <p:cNvPr id="59" name="Text 56"/>
          <p:cNvSpPr txBox="1"/>
          <p:nvPr/>
        </p:nvSpPr>
        <p:spPr>
          <a:xfrm>
            <a:off x="5870448" y="284607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/…/receipt/confirmation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확인 처리. 이때 '확인됨'이 된다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보낸 사람 화면에 이 요약이 되돌아간다</a:t>
            </a:r>
            <a:endParaRPr lang="en-US" sz="850" dirty="0"/>
          </a:p>
        </p:txBody>
      </p:sp>
      <p:sp>
        <p:nvSpPr>
          <p:cNvPr id="60" name="Shape 57"/>
          <p:cNvSpPr/>
          <p:nvPr/>
        </p:nvSpPr>
        <p:spPr>
          <a:xfrm>
            <a:off x="5577840" y="3638169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5577840" y="3729609"/>
            <a:ext cx="192024" cy="1920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24A31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5577840" y="372960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24A3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850" dirty="0"/>
          </a:p>
        </p:txBody>
      </p:sp>
      <p:sp>
        <p:nvSpPr>
          <p:cNvPr id="63" name="Text 60"/>
          <p:cNvSpPr txBox="1"/>
          <p:nvPr/>
        </p:nvSpPr>
        <p:spPr>
          <a:xfrm>
            <a:off x="5870448" y="367474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422 · 403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요약이 없으면 확인되지 않는다(422)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환자를 맡은 사람이 아니면 403</a:t>
            </a:r>
            <a:endParaRPr lang="en-US" sz="850" dirty="0"/>
          </a:p>
        </p:txBody>
      </p:sp>
      <p:sp>
        <p:nvSpPr>
          <p:cNvPr id="64" name="Shape 61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화면에 들어오는 순간 '열어봤다'는 시각이 따로 남는다. 조회와 분리했다. 수간호사가 봐도 수신 기록이 되면 안 되니까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21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  화면마다 도는 API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결원 재배정</a:t>
            </a:r>
            <a:endParaRPr lang="en-US" sz="25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사람이 판단하는 자리와 시스템이 막는 자리를 나눴다</a:t>
            </a:r>
            <a:endParaRPr lang="en-US" sz="1200" dirty="0"/>
          </a:p>
        </p:txBody>
      </p:sp>
      <p:pic>
        <p:nvPicPr>
          <p:cNvPr id="39" name="Image 0" descr="/Users/hwangjaewon/skala-workspace/skala-webservice-mini/assets/6_reassign_mana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6178" y="1152144"/>
            <a:ext cx="3572956" cy="3314700"/>
          </a:xfrm>
          <a:prstGeom prst="rect">
            <a:avLst/>
          </a:prstGeom>
        </p:spPr>
      </p:pic>
      <p:sp>
        <p:nvSpPr>
          <p:cNvPr id="40" name="Shape 37"/>
          <p:cNvSpPr/>
          <p:nvPr/>
        </p:nvSpPr>
        <p:spPr>
          <a:xfrm>
            <a:off x="1176178" y="1152144"/>
            <a:ext cx="3572956" cy="331470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1772191" y="1718069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1772191" y="171806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2489290" y="1718069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489290" y="171806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3203881" y="1718069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3203881" y="171806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3968619" y="2249625"/>
            <a:ext cx="192024" cy="1920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24A31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3968619" y="2249625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24A3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900" dirty="0"/>
          </a:p>
        </p:txBody>
      </p:sp>
      <p:sp>
        <p:nvSpPr>
          <p:cNvPr id="49" name="Shape 46"/>
          <p:cNvSpPr/>
          <p:nvPr/>
        </p:nvSpPr>
        <p:spPr>
          <a:xfrm>
            <a:off x="5577840" y="1243584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5577840" y="124358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850" dirty="0"/>
          </a:p>
        </p:txBody>
      </p:sp>
      <p:sp>
        <p:nvSpPr>
          <p:cNvPr id="51" name="Text 48"/>
          <p:cNvSpPr txBox="1"/>
          <p:nvPr/>
        </p:nvSpPr>
        <p:spPr>
          <a:xfrm>
            <a:off x="5870448" y="118872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/…/absence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결원 등록. 사유를 사람이 쓰는 유일한 자리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나머지 세 기록은 이 사유를 그대로 복사</a:t>
            </a:r>
            <a:endParaRPr lang="en-US" sz="850" dirty="0"/>
          </a:p>
        </p:txBody>
      </p:sp>
      <p:sp>
        <p:nvSpPr>
          <p:cNvPr id="52" name="Shape 49"/>
          <p:cNvSpPr/>
          <p:nvPr/>
        </p:nvSpPr>
        <p:spPr>
          <a:xfrm>
            <a:off x="5577840" y="1980819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5577840" y="2072259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5577840" y="207225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850" dirty="0"/>
          </a:p>
        </p:txBody>
      </p:sp>
      <p:sp>
        <p:nvSpPr>
          <p:cNvPr id="55" name="Text 52"/>
          <p:cNvSpPr txBox="1"/>
          <p:nvPr/>
        </p:nvSpPr>
        <p:spPr>
          <a:xfrm>
            <a:off x="5870448" y="201739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/…/substitute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누가 대신 설지 정한다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체크해 두면 결원자의 역할(차지)도 같이 넘어간다</a:t>
            </a:r>
            <a:endParaRPr lang="en-US" sz="850" dirty="0"/>
          </a:p>
        </p:txBody>
      </p:sp>
      <p:sp>
        <p:nvSpPr>
          <p:cNvPr id="56" name="Shape 53"/>
          <p:cNvSpPr/>
          <p:nvPr/>
        </p:nvSpPr>
        <p:spPr>
          <a:xfrm>
            <a:off x="5577840" y="2809494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5577840" y="2900934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58" name="Text 55"/>
          <p:cNvSpPr txBox="1"/>
          <p:nvPr/>
        </p:nvSpPr>
        <p:spPr>
          <a:xfrm>
            <a:off x="5577840" y="290093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850" dirty="0"/>
          </a:p>
        </p:txBody>
      </p:sp>
      <p:sp>
        <p:nvSpPr>
          <p:cNvPr id="59" name="Text 56"/>
          <p:cNvSpPr txBox="1"/>
          <p:nvPr/>
        </p:nvSpPr>
        <p:spPr>
          <a:xfrm>
            <a:off x="5870448" y="284607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/…/handover-transfer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맡고 있던 인계를 넘긴다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원래 인계는 안 지운다. '대체됨'으로 두고 새 인계를 발행</a:t>
            </a:r>
            <a:endParaRPr lang="en-US" sz="850" dirty="0"/>
          </a:p>
        </p:txBody>
      </p:sp>
      <p:sp>
        <p:nvSpPr>
          <p:cNvPr id="60" name="Shape 57"/>
          <p:cNvSpPr/>
          <p:nvPr/>
        </p:nvSpPr>
        <p:spPr>
          <a:xfrm>
            <a:off x="5577840" y="3638169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5577840" y="3729609"/>
            <a:ext cx="192024" cy="1920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24A31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5577840" y="372960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24A3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850" dirty="0"/>
          </a:p>
        </p:txBody>
      </p:sp>
      <p:sp>
        <p:nvSpPr>
          <p:cNvPr id="63" name="Text 60"/>
          <p:cNvSpPr txBox="1"/>
          <p:nvPr/>
        </p:nvSpPr>
        <p:spPr>
          <a:xfrm>
            <a:off x="5870448" y="367474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422 보낸 내용이 모자람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대체자 없이 '완료'라고 적을 수 없다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완료는 자동 판정이 아니라 사람의 확인 기록</a:t>
            </a:r>
            <a:endParaRPr lang="en-US" sz="850" dirty="0"/>
          </a:p>
        </p:txBody>
      </p:sp>
      <p:sp>
        <p:nvSpPr>
          <p:cNvPr id="64" name="Shape 61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아래 목록은 "이 사람 이름으로 남은 인계 N건". 시스템이 막지 않기로 한 것을 화면이 대신 보여준다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22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  화면마다 도는 API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수간호사 첫 화면</a:t>
            </a:r>
            <a:endParaRPr lang="en-US" sz="25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숫자를 누르면 그 숫자의 근거로 내려간다</a:t>
            </a:r>
            <a:endParaRPr lang="en-US" sz="1200" dirty="0"/>
          </a:p>
        </p:txBody>
      </p:sp>
      <p:pic>
        <p:nvPicPr>
          <p:cNvPr id="39" name="Image 0" descr="/Users/hwangjaewon/skala-workspace/skala-webservice-mini/assets/2_dashboard_mana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1551" y="1152144"/>
            <a:ext cx="4522209" cy="3314700"/>
          </a:xfrm>
          <a:prstGeom prst="rect">
            <a:avLst/>
          </a:prstGeom>
        </p:spPr>
      </p:pic>
      <p:sp>
        <p:nvSpPr>
          <p:cNvPr id="40" name="Shape 37"/>
          <p:cNvSpPr/>
          <p:nvPr/>
        </p:nvSpPr>
        <p:spPr>
          <a:xfrm>
            <a:off x="701551" y="1152144"/>
            <a:ext cx="4522209" cy="331470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1481420" y="1608582"/>
            <a:ext cx="192024" cy="192024"/>
          </a:xfrm>
          <a:prstGeom prst="ellipse">
            <a:avLst/>
          </a:prstGeom>
          <a:solidFill>
            <a:srgbClr val="2B33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1481420" y="160858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2389035" y="1608582"/>
            <a:ext cx="192024" cy="192024"/>
          </a:xfrm>
          <a:prstGeom prst="ellipse">
            <a:avLst/>
          </a:prstGeom>
          <a:solidFill>
            <a:srgbClr val="2B33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389035" y="160858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3293477" y="1605407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3293477" y="1605407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4201092" y="1608582"/>
            <a:ext cx="192024" cy="1920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24A31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4201092" y="160858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24A3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900" dirty="0"/>
          </a:p>
        </p:txBody>
      </p:sp>
      <p:sp>
        <p:nvSpPr>
          <p:cNvPr id="49" name="Shape 46"/>
          <p:cNvSpPr/>
          <p:nvPr/>
        </p:nvSpPr>
        <p:spPr>
          <a:xfrm>
            <a:off x="5577840" y="1243584"/>
            <a:ext cx="192024" cy="192024"/>
          </a:xfrm>
          <a:prstGeom prst="ellipse">
            <a:avLst/>
          </a:prstGeom>
          <a:solidFill>
            <a:srgbClr val="2B333C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5577840" y="124358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850" dirty="0"/>
          </a:p>
        </p:txBody>
      </p:sp>
      <p:sp>
        <p:nvSpPr>
          <p:cNvPr id="51" name="Text 48"/>
          <p:cNvSpPr txBox="1"/>
          <p:nvPr/>
        </p:nvSpPr>
        <p:spPr>
          <a:xfrm>
            <a:off x="5870448" y="118872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2B333C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GET /wards/{id}/shift-assignments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오늘 누가 나오는지. 누르면 명단이 펼쳐진다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근무 등록 화면과 같은 API 를 다시 쓴다</a:t>
            </a:r>
            <a:endParaRPr lang="en-US" sz="850" dirty="0"/>
          </a:p>
        </p:txBody>
      </p:sp>
      <p:sp>
        <p:nvSpPr>
          <p:cNvPr id="52" name="Shape 49"/>
          <p:cNvSpPr/>
          <p:nvPr/>
        </p:nvSpPr>
        <p:spPr>
          <a:xfrm>
            <a:off x="5577840" y="1980819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5577840" y="2072259"/>
            <a:ext cx="192024" cy="192024"/>
          </a:xfrm>
          <a:prstGeom prst="ellipse">
            <a:avLst/>
          </a:prstGeom>
          <a:solidFill>
            <a:srgbClr val="2B333C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5577840" y="207225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850" dirty="0"/>
          </a:p>
        </p:txBody>
      </p:sp>
      <p:sp>
        <p:nvSpPr>
          <p:cNvPr id="55" name="Text 52"/>
          <p:cNvSpPr txBox="1"/>
          <p:nvPr/>
        </p:nvSpPr>
        <p:spPr>
          <a:xfrm>
            <a:off x="5870448" y="201739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2B333C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같은 응답을 역할별로 묶음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누가 무엇을 맡았는지, 역할별로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이걸 위해 새 API 를 만들지 않았다</a:t>
            </a:r>
            <a:endParaRPr lang="en-US" sz="850" dirty="0"/>
          </a:p>
        </p:txBody>
      </p:sp>
      <p:sp>
        <p:nvSpPr>
          <p:cNvPr id="56" name="Shape 53"/>
          <p:cNvSpPr/>
          <p:nvPr/>
        </p:nvSpPr>
        <p:spPr>
          <a:xfrm>
            <a:off x="5577840" y="2809494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5577840" y="2900934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58" name="Text 55"/>
          <p:cNvSpPr txBox="1"/>
          <p:nvPr/>
        </p:nvSpPr>
        <p:spPr>
          <a:xfrm>
            <a:off x="5577840" y="290093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850" dirty="0"/>
          </a:p>
        </p:txBody>
      </p:sp>
      <p:sp>
        <p:nvSpPr>
          <p:cNvPr id="59" name="Text 56"/>
          <p:cNvSpPr txBox="1"/>
          <p:nvPr/>
        </p:nvSpPr>
        <p:spPr>
          <a:xfrm>
            <a:off x="5870448" y="284607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GET /wards/{id}/handovers?status=SENT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아직 확인 안 된 인계. 누르면 어느 건인지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숫자와 목록이 같은 조건</a:t>
            </a:r>
            <a:endParaRPr lang="en-US" sz="850" dirty="0"/>
          </a:p>
        </p:txBody>
      </p:sp>
      <p:sp>
        <p:nvSpPr>
          <p:cNvPr id="60" name="Shape 57"/>
          <p:cNvSpPr/>
          <p:nvPr/>
        </p:nvSpPr>
        <p:spPr>
          <a:xfrm>
            <a:off x="5577840" y="3638169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5577840" y="3729609"/>
            <a:ext cx="192024" cy="1920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24A31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5577840" y="372960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24A3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850" dirty="0"/>
          </a:p>
        </p:txBody>
      </p:sp>
      <p:sp>
        <p:nvSpPr>
          <p:cNvPr id="63" name="Text 60"/>
          <p:cNvSpPr txBox="1"/>
          <p:nvPr/>
        </p:nvSpPr>
        <p:spPr>
          <a:xfrm>
            <a:off x="5870448" y="367474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결원 목록은 접지 않고 항상 보인다</a:t>
            </a:r>
            <a:pPr indent="0" marL="0">
              <a:lnSpc>
                <a:spcPct val="110000"/>
              </a:lnSpc>
              <a:buNone/>
            </a:pP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접히면 '재배정 필요'를 놓친다. 타일을 누르면 그 자리로 내려간다</a:t>
            </a:r>
            <a:endParaRPr lang="en-US" sz="950" dirty="0"/>
          </a:p>
        </p:txBody>
      </p:sp>
      <p:sp>
        <p:nvSpPr>
          <p:cNvPr id="64" name="Shape 61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"인계 미작성 N건"은 안 넣었다. 병원 전산과 연결이 없어서 "썼어야 했는데 안 쓴 건"을 셀 방법이 없다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23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  화면마다 도는 API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역할과 인계 담당 정하기</a:t>
            </a:r>
            <a:endParaRPr lang="en-US" sz="25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환자는 팀이 같이 본다. 여기서 정하는 건 인계를 맡을 사람</a:t>
            </a:r>
            <a:endParaRPr lang="en-US" sz="1200" dirty="0"/>
          </a:p>
        </p:txBody>
      </p:sp>
      <p:pic>
        <p:nvPicPr>
          <p:cNvPr id="39" name="Image 0" descr="/Users/hwangjaewon/skala-workspace/skala-webservice-mini/assets/4_assignment_board_mana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52144"/>
            <a:ext cx="4828032" cy="3017520"/>
          </a:xfrm>
          <a:prstGeom prst="rect">
            <a:avLst/>
          </a:prstGeom>
        </p:spPr>
      </p:pic>
      <p:sp>
        <p:nvSpPr>
          <p:cNvPr id="40" name="Shape 37"/>
          <p:cNvSpPr/>
          <p:nvPr/>
        </p:nvSpPr>
        <p:spPr>
          <a:xfrm>
            <a:off x="548640" y="1152144"/>
            <a:ext cx="4828032" cy="301752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1378001" y="1733398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1378001" y="1733398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2896819" y="2132381"/>
            <a:ext cx="192024" cy="192024"/>
          </a:xfrm>
          <a:prstGeom prst="ellipse">
            <a:avLst/>
          </a:prstGeom>
          <a:solidFill>
            <a:srgbClr val="C2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896819" y="2132381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3735019" y="2129028"/>
            <a:ext cx="192024" cy="192024"/>
          </a:xfrm>
          <a:prstGeom prst="ellipse">
            <a:avLst/>
          </a:prstGeom>
          <a:solidFill>
            <a:srgbClr val="2B333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3735019" y="2129028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5577840" y="1243584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5577840" y="124358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850" dirty="0"/>
          </a:p>
        </p:txBody>
      </p:sp>
      <p:sp>
        <p:nvSpPr>
          <p:cNvPr id="49" name="Text 46"/>
          <p:cNvSpPr txBox="1"/>
          <p:nvPr/>
        </p:nvSpPr>
        <p:spPr>
          <a:xfrm>
            <a:off x="5870448" y="1188720"/>
            <a:ext cx="2706624" cy="1031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PATCH /shift-assignments/{id}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역할은 고르는 즉시 저장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저장 버튼이 따로 없다</a:t>
            </a:r>
            <a:endParaRPr lang="en-US" sz="850" dirty="0"/>
          </a:p>
        </p:txBody>
      </p:sp>
      <p:sp>
        <p:nvSpPr>
          <p:cNvPr id="50" name="Shape 47"/>
          <p:cNvSpPr/>
          <p:nvPr/>
        </p:nvSpPr>
        <p:spPr>
          <a:xfrm>
            <a:off x="5577840" y="2257044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577840" y="2348484"/>
            <a:ext cx="192024" cy="192024"/>
          </a:xfrm>
          <a:prstGeom prst="ellipse">
            <a:avLst/>
          </a:prstGeom>
          <a:solidFill>
            <a:srgbClr val="C24A31"/>
          </a:solidFill>
          <a:ln/>
        </p:spPr>
      </p:sp>
      <p:sp>
        <p:nvSpPr>
          <p:cNvPr id="52" name="Text 49"/>
          <p:cNvSpPr txBox="1"/>
          <p:nvPr/>
        </p:nvSpPr>
        <p:spPr>
          <a:xfrm>
            <a:off x="5577840" y="234848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850" dirty="0"/>
          </a:p>
        </p:txBody>
      </p:sp>
      <p:sp>
        <p:nvSpPr>
          <p:cNvPr id="53" name="Text 50"/>
          <p:cNvSpPr txBox="1"/>
          <p:nvPr/>
        </p:nvSpPr>
        <p:spPr>
          <a:xfrm>
            <a:off x="5870448" y="2293620"/>
            <a:ext cx="2706624" cy="1031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C24A3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/…/handover-assignments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이 근무에서 누가 어느 입원 건의 인계를 맡을지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기본값은 그 팀의 차지</a:t>
            </a:r>
            <a:endParaRPr lang="en-US" sz="850" dirty="0"/>
          </a:p>
        </p:txBody>
      </p:sp>
      <p:sp>
        <p:nvSpPr>
          <p:cNvPr id="54" name="Shape 51"/>
          <p:cNvSpPr/>
          <p:nvPr/>
        </p:nvSpPr>
        <p:spPr>
          <a:xfrm>
            <a:off x="5577840" y="3361944"/>
            <a:ext cx="30175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5577840" y="3453384"/>
            <a:ext cx="192024" cy="192024"/>
          </a:xfrm>
          <a:prstGeom prst="ellipse">
            <a:avLst/>
          </a:prstGeom>
          <a:solidFill>
            <a:srgbClr val="2B333C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5577840" y="345338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850" dirty="0"/>
          </a:p>
        </p:txBody>
      </p:sp>
      <p:sp>
        <p:nvSpPr>
          <p:cNvPr id="57" name="Text 54"/>
          <p:cNvSpPr txBox="1"/>
          <p:nvPr/>
        </p:nvSpPr>
        <p:spPr>
          <a:xfrm>
            <a:off x="5870448" y="3398520"/>
            <a:ext cx="2706624" cy="1031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B333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담당을 더한다</a:t>
            </a:r>
            <a:pPr indent="0" marL="0">
              <a:lnSpc>
                <a:spcPct val="110000"/>
              </a:lnSpc>
              <a:buNone/>
            </a:pP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역할로 강제하지 않는다. 차지가 빠지면 누가 올라가는지 확인 못 해서</a:t>
            </a:r>
            <a:endParaRPr lang="en-US" sz="950" dirty="0"/>
          </a:p>
        </p:txBody>
      </p:sp>
      <p:sp>
        <p:nvSpPr>
          <p:cNvPr id="58" name="Shape 55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'담당 환자 배정'이 아니라 '인계 담당 지정'. 환자는 팀이 같이 본다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24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  화면마다 도는 API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나머지 화면 1</a:t>
            </a:r>
            <a:endParaRPr lang="en-US" sz="2500" dirty="0"/>
          </a:p>
        </p:txBody>
      </p:sp>
      <p:pic>
        <p:nvPicPr>
          <p:cNvPr id="38" name="Image 0" descr="/Users/hwangjaewon/skala-workspace/skala-webservice-mini/assets/1_login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60398"/>
            <a:ext cx="2535936" cy="1584960"/>
          </a:xfrm>
          <a:prstGeom prst="rect">
            <a:avLst/>
          </a:prstGeom>
        </p:spPr>
      </p:pic>
      <p:sp>
        <p:nvSpPr>
          <p:cNvPr id="39" name="Shape 36"/>
          <p:cNvSpPr/>
          <p:nvPr/>
        </p:nvSpPr>
        <p:spPr>
          <a:xfrm>
            <a:off x="548640" y="1660398"/>
            <a:ext cx="2535936" cy="158496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548640" y="3973068"/>
            <a:ext cx="25359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로그인
</a:t>
            </a:r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누구로 들어갈지 고르는 데모용 화면. 실제 인증은 병원 시스템 몫</a:t>
            </a:r>
            <a:endParaRPr lang="en-US" sz="1050" dirty="0"/>
          </a:p>
        </p:txBody>
      </p:sp>
      <p:pic>
        <p:nvPicPr>
          <p:cNvPr id="41" name="Image 1" descr="/Users/hwangjaewon/skala-workspace/skala-webservice-mini/assets/3_shift_register_manag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4032" y="1660398"/>
            <a:ext cx="2535936" cy="1584960"/>
          </a:xfrm>
          <a:prstGeom prst="rect">
            <a:avLst/>
          </a:prstGeom>
        </p:spPr>
      </p:pic>
      <p:sp>
        <p:nvSpPr>
          <p:cNvPr id="42" name="Shape 38"/>
          <p:cNvSpPr/>
          <p:nvPr/>
        </p:nvSpPr>
        <p:spPr>
          <a:xfrm>
            <a:off x="3304032" y="1660398"/>
            <a:ext cx="2535936" cy="158496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3304032" y="3973068"/>
            <a:ext cx="25359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근무표 등록
</a:t>
            </a:r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역할은 여기서 안 정한다. 다른 병동 지원 근무도 등록된다</a:t>
            </a:r>
            <a:endParaRPr lang="en-US" sz="1050" dirty="0"/>
          </a:p>
        </p:txBody>
      </p:sp>
      <p:pic>
        <p:nvPicPr>
          <p:cNvPr id="44" name="Image 2" descr="/Users/hwangjaewon/skala-workspace/skala-webservice-mini/assets/5_handover_template_manag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9424" y="1636040"/>
            <a:ext cx="2535936" cy="1633677"/>
          </a:xfrm>
          <a:prstGeom prst="rect">
            <a:avLst/>
          </a:prstGeom>
        </p:spPr>
      </p:pic>
      <p:sp>
        <p:nvSpPr>
          <p:cNvPr id="45" name="Shape 40"/>
          <p:cNvSpPr/>
          <p:nvPr/>
        </p:nvSpPr>
        <p:spPr>
          <a:xfrm>
            <a:off x="6059424" y="1636040"/>
            <a:ext cx="2535936" cy="1633677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46" name="Text 41"/>
          <p:cNvSpPr txBox="1"/>
          <p:nvPr/>
        </p:nvSpPr>
        <p:spPr>
          <a:xfrm>
            <a:off x="6059424" y="3973068"/>
            <a:ext cx="25359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인계 항목 정하기
</a:t>
            </a:r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역할 선택이 없다. 고쳐도 이미 쓴 인계는 안 바뀐다</a:t>
            </a:r>
            <a:endParaRPr lang="en-US" sz="1050" dirty="0"/>
          </a:p>
        </p:txBody>
      </p:sp>
      <p:sp>
        <p:nvSpPr>
          <p:cNvPr id="47" name="Shape 42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8" name="Text 43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인계 항목을 병동 하나로 통일한 건 인터뷰 결과. 받는 사람이 늘 차지라서 역할별로 나눌 이유가 없었다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25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  화면마다 도는 API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나머지 화면 2</a:t>
            </a:r>
            <a:endParaRPr lang="en-US" sz="2500" dirty="0"/>
          </a:p>
        </p:txBody>
      </p:sp>
      <p:pic>
        <p:nvPicPr>
          <p:cNvPr id="38" name="Image 0" descr="/Users/hwangjaewon/skala-workspace/skala-webservice-mini/assets/7_change_history_mana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62562"/>
            <a:ext cx="2535936" cy="2780632"/>
          </a:xfrm>
          <a:prstGeom prst="rect">
            <a:avLst/>
          </a:prstGeom>
        </p:spPr>
      </p:pic>
      <p:sp>
        <p:nvSpPr>
          <p:cNvPr id="39" name="Shape 36"/>
          <p:cNvSpPr/>
          <p:nvPr/>
        </p:nvSpPr>
        <p:spPr>
          <a:xfrm>
            <a:off x="548640" y="1062562"/>
            <a:ext cx="2535936" cy="2780632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548640" y="3973068"/>
            <a:ext cx="25359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바뀐 내역
</a:t>
            </a:r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사유는 한 번만 쓰고 나머지는 서버가 복사한다</a:t>
            </a:r>
            <a:endParaRPr lang="en-US" sz="1050" dirty="0"/>
          </a:p>
        </p:txBody>
      </p:sp>
      <p:pic>
        <p:nvPicPr>
          <p:cNvPr id="41" name="Image 1" descr="/Users/hwangjaewon/skala-workspace/skala-webservice-mini/assets/11_handover_history_nur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4032" y="1660398"/>
            <a:ext cx="2535936" cy="1584960"/>
          </a:xfrm>
          <a:prstGeom prst="rect">
            <a:avLst/>
          </a:prstGeom>
        </p:spPr>
      </p:pic>
      <p:sp>
        <p:nvSpPr>
          <p:cNvPr id="42" name="Shape 38"/>
          <p:cNvSpPr/>
          <p:nvPr/>
        </p:nvSpPr>
        <p:spPr>
          <a:xfrm>
            <a:off x="3304032" y="1660398"/>
            <a:ext cx="2535936" cy="158496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3304032" y="3973068"/>
            <a:ext cx="25359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내 인계 이력
</a:t>
            </a:r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'대체됨'은 읽기 전용, 미확인 수에서 빠진다</a:t>
            </a:r>
            <a:endParaRPr lang="en-US" sz="1050" dirty="0"/>
          </a:p>
        </p:txBody>
      </p:sp>
      <p:pic>
        <p:nvPicPr>
          <p:cNvPr id="44" name="Image 2" descr="/Users/hwangjaewon/skala-workspace/skala-webservice-mini/assets/8_myshift_nurse_stat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9424" y="1572864"/>
            <a:ext cx="2535936" cy="1760029"/>
          </a:xfrm>
          <a:prstGeom prst="rect">
            <a:avLst/>
          </a:prstGeom>
        </p:spPr>
      </p:pic>
      <p:sp>
        <p:nvSpPr>
          <p:cNvPr id="45" name="Shape 40"/>
          <p:cNvSpPr/>
          <p:nvPr/>
        </p:nvSpPr>
        <p:spPr>
          <a:xfrm>
            <a:off x="6059424" y="1572864"/>
            <a:ext cx="2535936" cy="1760029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46" name="Text 41"/>
          <p:cNvSpPr txBox="1"/>
          <p:nvPr/>
        </p:nvSpPr>
        <p:spPr>
          <a:xfrm>
            <a:off x="6059424" y="3973068"/>
            <a:ext cx="25359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비어 있을 때
</a:t>
            </a:r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빈 화면 대신 다음에 할 일을 적는다</a:t>
            </a:r>
            <a:endParaRPr lang="en-US" sz="1050" dirty="0"/>
          </a:p>
        </p:txBody>
      </p:sp>
      <p:sp>
        <p:nvSpPr>
          <p:cNvPr id="47" name="Shape 42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8" name="Text 43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빈 화면을 설계했다는 것 자체가 권한을 세 갈래로 나눈 이유다. 인계 담당이 없어도 근무는 보여야 한다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26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  데이터를 나눈 방법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핵심 데이터</a:t>
            </a:r>
            <a:endParaRPr lang="en-US" sz="25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인계 한 건이 만들어져 확인되기까지 거치는 표</a:t>
            </a:r>
            <a:endParaRPr lang="en-US" sz="1200" dirty="0"/>
          </a:p>
        </p:txBody>
      </p:sp>
      <p:pic>
        <p:nvPicPr>
          <p:cNvPr id="39" name="Image 0" descr="/Users/hwangjaewon/skala-workspace/skala-webservice-mini/assets/erd_co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52144"/>
            <a:ext cx="2789190" cy="3534156"/>
          </a:xfrm>
          <a:prstGeom prst="rect">
            <a:avLst/>
          </a:prstGeom>
        </p:spPr>
      </p:pic>
      <p:sp>
        <p:nvSpPr>
          <p:cNvPr id="40" name="Text 37"/>
          <p:cNvSpPr txBox="1"/>
          <p:nvPr/>
        </p:nvSpPr>
        <p:spPr>
          <a:xfrm>
            <a:off x="3630438" y="1188720"/>
            <a:ext cx="4964922" cy="8103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근무, 담당, 인계
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"그 근무에서 이 환자의 인계를 맡는다"를 한 줄로. 사람이 아니라 근무에 붙는다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3630438" y="2035683"/>
            <a:ext cx="4964922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3630438" y="2072259"/>
            <a:ext cx="4964922" cy="8103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받았다는 기록을 따로
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열어본 시각, 자기 말로 쓴 요약, 확인한 시각. 이 셋이 첫 번째 불편의 답</a:t>
            </a:r>
            <a:endParaRPr lang="en-US" sz="1150" dirty="0"/>
          </a:p>
        </p:txBody>
      </p:sp>
      <p:sp>
        <p:nvSpPr>
          <p:cNvPr id="43" name="Shape 40"/>
          <p:cNvSpPr/>
          <p:nvPr/>
        </p:nvSpPr>
        <p:spPr>
          <a:xfrm>
            <a:off x="3630438" y="2919222"/>
            <a:ext cx="4964922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3630438" y="2955798"/>
            <a:ext cx="4964922" cy="8103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항목은 복사본
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병동 양식을 고쳐도 이미 쓴 인계는 그대로. 지난 기록이 나중에 바뀌면 안 된다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3630438" y="3802761"/>
            <a:ext cx="4964922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3630438" y="3839337"/>
            <a:ext cx="4964922" cy="8103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지우지 않는다
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담당이 바뀌면 옛 줄을 '이관됨'으로 남기고 새 줄을 만든다. 누가 언제 맡았는지가 기록</a:t>
            </a:r>
            <a:endParaRPr lang="en-US" sz="1150" dirty="0"/>
          </a:p>
        </p:txBody>
      </p:sp>
      <p:sp>
        <p:nvSpPr>
          <p:cNvPr id="47" name="Shape 44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PK·FK 와 관계(1:N, 1:1)는 그림에, 속성 타입·unique·not null 같은 제약조건은 DBML 에. 수신 기록은 인계당 1건(unique)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27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  데이터를 나눈 방법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전체 12개</a:t>
            </a:r>
            <a:endParaRPr lang="en-US" sz="25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자세히 읽는 그림이 아니라 얼마나 나뉘어 있는지 보는 지도</a:t>
            </a:r>
            <a:endParaRPr lang="en-US" sz="1200" dirty="0"/>
          </a:p>
        </p:txBody>
      </p:sp>
      <p:pic>
        <p:nvPicPr>
          <p:cNvPr id="39" name="Image 0" descr="/Users/hwangjaewon/skala-workspace/skala-webservice-mini/assets/erd_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94277"/>
            <a:ext cx="8046720" cy="1830433"/>
          </a:xfrm>
          <a:prstGeom prst="rect">
            <a:avLst/>
          </a:prstGeom>
        </p:spPr>
      </p:pic>
      <p:sp>
        <p:nvSpPr>
          <p:cNvPr id="40" name="Shape 37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테이블, 7 Enum, 외래키 23. 여러 대 여러로 얽히는 관계는 '인계 담당' 하나로 풀었다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28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  데이터를 나눈 방법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2331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표 이름을 바꾼 이야기</a:t>
            </a:r>
            <a:endParaRPr lang="en-US" sz="22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1554480"/>
            <a:ext cx="2331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"환자의 담당 간호사"라는 표가 있었다. 지금은 없다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3200400" y="365760"/>
            <a:ext cx="45720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8C919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</a:t>
            </a:r>
            <a:endParaRPr lang="en-US" sz="2400" dirty="0"/>
          </a:p>
        </p:txBody>
      </p:sp>
      <p:sp>
        <p:nvSpPr>
          <p:cNvPr id="40" name="Text 38"/>
          <p:cNvSpPr txBox="1"/>
          <p:nvPr/>
        </p:nvSpPr>
        <p:spPr>
          <a:xfrm>
            <a:off x="3703320" y="365760"/>
            <a:ext cx="489204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처음엔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환자 한 명에 담당 간호사 한 명을 붙이는 표를 만들었다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200400" y="1178662"/>
            <a:ext cx="53949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3200400" y="1178662"/>
            <a:ext cx="45720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24A3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</a:t>
            </a:r>
            <a:endParaRPr lang="en-US" sz="2400" dirty="0"/>
          </a:p>
        </p:txBody>
      </p:sp>
      <p:sp>
        <p:nvSpPr>
          <p:cNvPr id="43" name="Text 41"/>
          <p:cNvSpPr txBox="1"/>
          <p:nvPr/>
        </p:nvSpPr>
        <p:spPr>
          <a:xfrm>
            <a:off x="3703320" y="1178662"/>
            <a:ext cx="489204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인터뷰에서 뒤집혔다 [C]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환자는 팀이 같이 본다. "이 환자는 이 간호사 담당"이라고 정하는 행위 자체가 현장에 없었다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200400" y="1991563"/>
            <a:ext cx="53949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3200400" y="1991563"/>
            <a:ext cx="45720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</a:t>
            </a:r>
            <a:endParaRPr lang="en-US" sz="2400" dirty="0"/>
          </a:p>
        </p:txBody>
      </p:sp>
      <p:sp>
        <p:nvSpPr>
          <p:cNvPr id="46" name="Text 44"/>
          <p:cNvSpPr txBox="1"/>
          <p:nvPr/>
        </p:nvSpPr>
        <p:spPr>
          <a:xfrm>
            <a:off x="3703320" y="1991563"/>
            <a:ext cx="489204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뜻을 바꿨다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이 표는 "그 근무에서 이 입원 건의 인계를 맡을 사람". 줄 수가 (팀 인원 × 환자 수)에서 (환자 수)로 줄었다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3200400" y="2804465"/>
            <a:ext cx="53949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3200400" y="2804465"/>
            <a:ext cx="45720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4</a:t>
            </a:r>
            <a:endParaRPr lang="en-US" sz="2400" dirty="0"/>
          </a:p>
        </p:txBody>
      </p:sp>
      <p:sp>
        <p:nvSpPr>
          <p:cNvPr id="49" name="Text 47"/>
          <p:cNvSpPr txBox="1"/>
          <p:nvPr/>
        </p:nvSpPr>
        <p:spPr>
          <a:xfrm>
            <a:off x="3703320" y="2804465"/>
            <a:ext cx="489204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팀이 보는 환자 범위는 다른 곳에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입원 건에 팀을 붙였다. 그래야 옆에서 같이 듣는 액팅도 우리 팀 인계를 읽을 수 있다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3200400" y="3617366"/>
            <a:ext cx="53949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3200400" y="3617366"/>
            <a:ext cx="45720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</a:t>
            </a:r>
            <a:endParaRPr lang="en-US" sz="2400" dirty="0"/>
          </a:p>
        </p:txBody>
      </p:sp>
      <p:sp>
        <p:nvSpPr>
          <p:cNvPr id="52" name="Text 50"/>
          <p:cNvSpPr txBox="1"/>
          <p:nvPr/>
        </p:nvSpPr>
        <p:spPr>
          <a:xfrm>
            <a:off x="3703320" y="3617366"/>
            <a:ext cx="489204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역할로 강제하지 않았다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차지가 빠지면 누가 올라가는지 확인 못 했다. 확인 못 한 운영 방식을 DB 가 금지하면 안 된다고 봤다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이름만 바꾼 게 아니다. 데이터 모델, 기능표, 화면 문구, API 응답 필드 일곱 곳이 같이 움직였다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29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  데이터를 나눈 방법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2331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지우지 않고 남긴다</a:t>
            </a:r>
            <a:endParaRPr lang="en-US" sz="2200" dirty="0"/>
          </a:p>
        </p:txBody>
      </p:sp>
      <p:sp>
        <p:nvSpPr>
          <p:cNvPr id="38" name="Text 36"/>
          <p:cNvSpPr txBox="1"/>
          <p:nvPr/>
        </p:nvSpPr>
        <p:spPr>
          <a:xfrm>
            <a:off x="3200400" y="365760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</a:t>
            </a:r>
            <a:endParaRPr lang="en-US" sz="2400" dirty="0"/>
          </a:p>
        </p:txBody>
      </p:sp>
      <p:sp>
        <p:nvSpPr>
          <p:cNvPr id="39" name="Text 37"/>
          <p:cNvSpPr txBox="1"/>
          <p:nvPr/>
        </p:nvSpPr>
        <p:spPr>
          <a:xfrm>
            <a:off x="3703320" y="365760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담당이 바뀌어도 옛 줄을 안 지운다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'이관됨'으로 표시하고 새 줄을 만든다. 그날 누가 맡았는지가 기록이라서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200400" y="1229868"/>
            <a:ext cx="53949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3200400" y="1229868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</a:t>
            </a:r>
            <a:endParaRPr lang="en-US" sz="2400" dirty="0"/>
          </a:p>
        </p:txBody>
      </p:sp>
      <p:sp>
        <p:nvSpPr>
          <p:cNvPr id="42" name="Text 40"/>
          <p:cNvSpPr txBox="1"/>
          <p:nvPr/>
        </p:nvSpPr>
        <p:spPr>
          <a:xfrm>
            <a:off x="3703320" y="1229868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인계 항목은 복사본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수간호사가 병동 양식을 고쳐도 이미 쓴 인계의 항목은 그대로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3200400" y="2093976"/>
            <a:ext cx="53949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3200400" y="2093976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24A3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</a:t>
            </a:r>
            <a:endParaRPr lang="en-US" sz="2400" dirty="0"/>
          </a:p>
        </p:txBody>
      </p:sp>
      <p:sp>
        <p:nvSpPr>
          <p:cNvPr id="45" name="Text 43"/>
          <p:cNvSpPr txBox="1"/>
          <p:nvPr/>
        </p:nvSpPr>
        <p:spPr>
          <a:xfrm>
            <a:off x="3703320" y="2093976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받을 사람이 못 나오게 되면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인계를 '대체됨'으로 두고 새 담당에게 후속 인계를 같은 순간에 발행. 후속이 안 만들어지면 아예 실패시킨다. 인계가 끊긴 채 끝나면 안 된다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3200400" y="2958084"/>
            <a:ext cx="53949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3200400" y="2958084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4</a:t>
            </a:r>
            <a:endParaRPr lang="en-US" sz="2400" dirty="0"/>
          </a:p>
        </p:txBody>
      </p:sp>
      <p:sp>
        <p:nvSpPr>
          <p:cNvPr id="48" name="Text 46"/>
          <p:cNvSpPr txBox="1"/>
          <p:nvPr/>
        </p:nvSpPr>
        <p:spPr>
          <a:xfrm>
            <a:off x="3703320" y="2958084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확인까지 끝난 인계는 안 건드린다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확인된 인계를 뒤늦게 '대체됨'으로 바꾸려 하면 막는다(409). 그 뒤의 담당 변경은 사고가 아니라 정상 교대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200400" y="3822192"/>
            <a:ext cx="53949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3200400" y="3822192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</a:t>
            </a:r>
            <a:endParaRPr lang="en-US" sz="2400" dirty="0"/>
          </a:p>
        </p:txBody>
      </p:sp>
      <p:sp>
        <p:nvSpPr>
          <p:cNvPr id="51" name="Text 49"/>
          <p:cNvSpPr txBox="1"/>
          <p:nvPr/>
        </p:nvSpPr>
        <p:spPr>
          <a:xfrm>
            <a:off x="3703320" y="3822192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대가도 같이 적었다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남긴 줄도 여전히 유효한 번호라서, 읽을 때·쓸 때·고를 때 "이게 지금 것인가"를 매번 확인해야 한다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30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  데이터를 나눈 방법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결원 기록은 두 층</a:t>
            </a:r>
            <a:endParaRPr lang="en-US" sz="25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근무 자리가 빈 것과, 맡고 있던 인계가 넘어간 것은 다른 일</a:t>
            </a:r>
            <a:endParaRPr lang="en-US" sz="12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80467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777240"/>
                <a:gridCol w="822960"/>
                <a:gridCol w="777240"/>
                <a:gridCol w="777240"/>
                <a:gridCol w="352044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기록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빠진 사람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대신 선 사람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넘긴 인계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받은 인계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언제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2351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결원 등록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필수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못 나온다고 등록할 때. 사유를 쓰는 유일한 자리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2351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대체자 배정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필수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필수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누가 대신 설지 정할 때 (사유는 서버가 복사)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2351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인계 담당 이관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필수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필수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필수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필수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맡고 있던 인계를 넘길 때. 입원 건마다 한 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2351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대체 완료 확인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필수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수간호사가 "메워졌다"고 확인할 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0" name="Shape 37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액팅이 빠지면 넘길 인계가 없다(환자는 팀이 같이 보니까). 세 줄만 남는다. 기록 종류 하나가 나머지 네 칸의 유효 조합을 정한다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31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  API 24개와 막는 규칙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API 명세</a:t>
            </a:r>
            <a:endParaRPr lang="en-US" sz="25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24개 전부. 주소 21개, 명세 오류 0</a:t>
            </a:r>
            <a:endParaRPr lang="en-US" sz="1200" dirty="0"/>
          </a:p>
        </p:txBody>
      </p:sp>
      <p:pic>
        <p:nvPicPr>
          <p:cNvPr id="39" name="Image 0" descr="/Users/hwangjaewon/skala-workspace/skala-webservice-mini/assets/swagger_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75295" y="1152144"/>
            <a:ext cx="5393410" cy="3314700"/>
          </a:xfrm>
          <a:prstGeom prst="rect">
            <a:avLst/>
          </a:prstGeom>
        </p:spPr>
      </p:pic>
      <p:sp>
        <p:nvSpPr>
          <p:cNvPr id="40" name="Shape 37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공통 응답 봉투·오류 형식·스키마 24개를 components 에 두고 $ref 로 164회 재사용했다. 로그인·인증은 병원 시스템 몫이라 명세에 없다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32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  API 24개와 막는 규칙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API 24개</a:t>
            </a:r>
            <a:endParaRPr lang="en-US" sz="25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화면에서 보이던 주소가 그대로 명세의 주소</a:t>
            </a:r>
            <a:endParaRPr lang="en-US" sz="12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70432"/>
          <a:ext cx="3913632" cy="914400"/>
        </p:xfrm>
        <a:graphic>
          <a:graphicData uri="http://schemas.openxmlformats.org/drawingml/2006/table">
            <a:tbl>
              <a:tblPr/>
              <a:tblGrid>
                <a:gridCol w="384048"/>
                <a:gridCol w="2478024"/>
                <a:gridCol w="1051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화면</a:t>
                      </a:r>
                      <a:endParaRPr lang="en-US" sz="8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메서드와 주소</a:t>
                      </a:r>
                      <a:endParaRPr lang="en-US" sz="8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무엇을</a:t>
                      </a:r>
                      <a:endParaRPr lang="en-US" sz="8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3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/wards/{id}/shift-assignments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근무 목록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3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/wards/{id}/shift-assignments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근무 등록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4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/wards/{id}/assignment-board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배정 보드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4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PATCH /shift-assignments/{id}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역할 지정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4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/…/handover-assignments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인계 담당 지정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5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/wards/{id}/handover-template-items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 조회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5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PUT  /wards/{id}/handover-template-items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 교체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6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/…/reassignment-context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재배정 진입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6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/…/absence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결원 등록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6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/…/substitute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대체자 배정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6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/…/handover-transfer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인계 담당 이관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6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/…/coverage-confirmation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대체 완료 확인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81728" y="1170432"/>
          <a:ext cx="3913632" cy="914400"/>
        </p:xfrm>
        <a:graphic>
          <a:graphicData uri="http://schemas.openxmlformats.org/drawingml/2006/table">
            <a:tbl>
              <a:tblPr/>
              <a:tblGrid>
                <a:gridCol w="384048"/>
                <a:gridCol w="2478024"/>
                <a:gridCol w="1051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화면</a:t>
                      </a:r>
                      <a:endParaRPr lang="en-US" sz="8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메서드와 주소</a:t>
                      </a:r>
                      <a:endParaRPr lang="en-US" sz="8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무엇을</a:t>
                      </a:r>
                      <a:endParaRPr lang="en-US" sz="8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7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/wards/{id}/reassignment-logs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바뀐 내역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8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/me/shifts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근무, 우리 팀 환자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11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/me/handovers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인계 이력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9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/handovers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인계 작성 시작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9·10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/handovers/{id}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인계 상세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9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PATCH /handovers/{id}/items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임시저장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9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/handovers/{id}/send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인계 넘기기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10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/handovers/{id}/receipt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열람 기록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10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PATCH /handovers/{id}/receipt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요약 저장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10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POST /…/receipt/confirmation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확인 처리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2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/wards/{id}/handovers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미확인 목록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9199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2</a:t>
                      </a:r>
                      <a:endParaRPr lang="en-US" sz="8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B333C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GET  /wards/{id}/dashboard</a:t>
                      </a:r>
                      <a:endParaRPr lang="en-US" sz="8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대시보드 집계</a:t>
                      </a:r>
                      <a:endParaRPr lang="en-US" sz="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1" name="Shape 37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11개의 동작 25가지를 먼저 세고, 겹치는 것(역할 지정은 배정 화면과 재배정 화면이 같이 쓴다)을 빼서 24개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33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  API 24개와 막는 규칙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일부러 요청에서 안 받는 값</a:t>
            </a:r>
            <a:endParaRPr lang="en-US" sz="25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Path·Query·Body 중, 화면이 정하게 두면 깨지는 것들</a:t>
            </a:r>
            <a:endParaRPr lang="en-US" sz="12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70432"/>
          <a:ext cx="50292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65760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값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왜 서버가 정하나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인계를 받을 사람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화면이 정하게 두면 아무 근무로나 인계를 보낼 수 있다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같은 환자의 다음 근무 담당을 서버가 고른다. 없으면 막는다(422)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결원 사유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사람이 쓰는 자리는 결원 등록 하나뿐. 나머지 기록은 복사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사유가 서로 달라지면 한 사건의 이력을 이어서 읽을 수 없다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화면 버튼 판정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쓰기, 확인, 읽기 중 무엇을 보여줄지를 서버가 정해서 내려준다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화면마다 따로 판단하면 규칙이 흩어진다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40" name="Image 0" descr="/Users/hwangjaewon/skala-workspace/skala-webservice-mini/assets/swagger_hand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0" y="1170432"/>
            <a:ext cx="2743200" cy="2651760"/>
          </a:xfrm>
          <a:prstGeom prst="rect">
            <a:avLst/>
          </a:prstGeom>
        </p:spPr>
      </p:pic>
      <p:sp>
        <p:nvSpPr>
          <p:cNvPr id="41" name="Shape 37"/>
          <p:cNvSpPr/>
          <p:nvPr/>
        </p:nvSpPr>
        <p:spPr>
          <a:xfrm>
            <a:off x="5852160" y="1170432"/>
            <a:ext cx="2743200" cy="2651760"/>
          </a:xfrm>
          <a:prstGeom prst="rect">
            <a:avLst/>
          </a:prstGeom>
          <a:ln w="9525">
            <a:solidFill>
              <a:srgbClr val="E4E2DB"/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852160" y="389534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인계 작성 요청. 받을 사람 칸이 없다</a:t>
            </a:r>
            <a:endParaRPr lang="en-US" sz="950" dirty="0"/>
          </a:p>
        </p:txBody>
      </p:sp>
      <p:sp>
        <p:nvSpPr>
          <p:cNvPr id="43" name="Shape 39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화면이 요청에 넣는 번호는 반드시 어떤 조회 API 가 돌려준 값이어야 한다. 이 규칙이 없어 생긴 구멍을 검증 단계에서 찾았다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34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  API 24개와 막는 규칙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막을 때 주는 답</a:t>
            </a:r>
            <a:endParaRPr lang="en-US" sz="25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막는 이유가 다르면 답도 달라야 한다</a:t>
            </a:r>
            <a:endParaRPr lang="en-US" sz="12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80467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286000"/>
                <a:gridCol w="502920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답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뜻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이 서비스에서는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88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B333C"/>
                          </a:solidFill>
                          <a:latin typeface="Pretendard Light" pitchFamily="34" charset="0"/>
                          <a:ea typeface="Pretendard Light" pitchFamily="34" charset="-122"/>
                          <a:cs typeface="Pretendard Light" pitchFamily="34" charset="-120"/>
                        </a:rPr>
                        <a:t>401</a:t>
                      </a:r>
                      <a:endParaRPr lang="en-US" sz="1800" dirty="0">
                        <a:latin typeface="Pretendard Light" charset="0"/>
                        <a:ea typeface="Pretendard Light" charset="0"/>
                        <a:cs typeface="Pretendard Light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로그인 안 됨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모든 요청의 기본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88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B333C"/>
                          </a:solidFill>
                          <a:latin typeface="Pretendard Light" pitchFamily="34" charset="0"/>
                          <a:ea typeface="Pretendard Light" pitchFamily="34" charset="-122"/>
                          <a:cs typeface="Pretendard Light" pitchFamily="34" charset="-120"/>
                        </a:rPr>
                        <a:t>403</a:t>
                      </a:r>
                      <a:endParaRPr lang="en-US" sz="1800" dirty="0">
                        <a:latin typeface="Pretendard Light" charset="0"/>
                        <a:ea typeface="Pretendard Light" charset="0"/>
                        <a:cs typeface="Pretendard Light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있긴 한데 당신은 못 본다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다른 병동, 내 인계가 아님, 액팅이 쓰려고 할 때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결원으로 등록된 사람이 받으려 할 때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88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B333C"/>
                          </a:solidFill>
                          <a:latin typeface="Pretendard Light" pitchFamily="34" charset="0"/>
                          <a:ea typeface="Pretendard Light" pitchFamily="34" charset="-122"/>
                          <a:cs typeface="Pretendard Light" pitchFamily="34" charset="-120"/>
                        </a:rPr>
                        <a:t>404</a:t>
                      </a:r>
                      <a:endParaRPr lang="en-US" sz="1800" dirty="0">
                        <a:latin typeface="Pretendard Light" charset="0"/>
                        <a:ea typeface="Pretendard Light" charset="0"/>
                        <a:cs typeface="Pretendard Light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그런 건 없다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없는 번호. 다른 병동을 404 로 숨기지 않았다. 둘을 섞지 않는다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88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C24A31"/>
                          </a:solidFill>
                          <a:latin typeface="Pretendard Light" pitchFamily="34" charset="0"/>
                          <a:ea typeface="Pretendard Light" pitchFamily="34" charset="-122"/>
                          <a:cs typeface="Pretendard Light" pitchFamily="34" charset="-120"/>
                        </a:rPr>
                        <a:t>409</a:t>
                      </a:r>
                      <a:endParaRPr lang="en-US" sz="1800" dirty="0">
                        <a:latin typeface="Pretendard Light" charset="0"/>
                        <a:ea typeface="Pretendard Light" charset="0"/>
                        <a:cs typeface="Pretendard Light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지금 상태에서는 그 일을 할 수 없다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이미 확인된 인계를 또 확인, 대체된 인계를 고치기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퇴원한 환자에게 새 인계, 같은 사람을 같은 근무에 두 번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88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C24A31"/>
                          </a:solidFill>
                          <a:latin typeface="Pretendard Light" pitchFamily="34" charset="0"/>
                          <a:ea typeface="Pretendard Light" pitchFamily="34" charset="-122"/>
                          <a:cs typeface="Pretendard Light" pitchFamily="34" charset="-120"/>
                        </a:rPr>
                        <a:t>422</a:t>
                      </a:r>
                      <a:endParaRPr lang="en-US" sz="1800" dirty="0">
                        <a:latin typeface="Pretendard Light" charset="0"/>
                        <a:ea typeface="Pretendard Light" charset="0"/>
                        <a:cs typeface="Pretendard Light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보낸 내용이 모자라다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필수 항목이 비었음, 요약을 안 썼음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대체자 없이 완료 확인, 다음 근무 담당이 아직 없음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0" name="Shape 37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형식이 깨진 요청(400)은 프레임워크 기본 처리이고, 명세는 뜻이 모자란 요청을 422 로 통일했다. 인계 상태는 작성 중, 전달됨, 확인됨 순서로만 간다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35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  고민한 것, 못 한 것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2331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고민했던 것</a:t>
            </a:r>
            <a:endParaRPr lang="en-US" sz="2200" dirty="0"/>
          </a:p>
        </p:txBody>
      </p:sp>
      <p:sp>
        <p:nvSpPr>
          <p:cNvPr id="38" name="Text 36"/>
          <p:cNvSpPr txBox="1"/>
          <p:nvPr/>
        </p:nvSpPr>
        <p:spPr>
          <a:xfrm>
            <a:off x="3200400" y="365760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</a:t>
            </a:r>
            <a:endParaRPr lang="en-US" sz="2400" dirty="0"/>
          </a:p>
        </p:txBody>
      </p:sp>
      <p:sp>
        <p:nvSpPr>
          <p:cNvPr id="39" name="Text 37"/>
          <p:cNvSpPr txBox="1"/>
          <p:nvPr/>
        </p:nvSpPr>
        <p:spPr>
          <a:xfrm>
            <a:off x="3703320" y="365760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대시보드만 화면 전용 API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군데 데이터를 합친다. 나누면 화면이 네 번 요청하고, 세는 규칙이 화면 쪽으로 흩어진다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200400" y="1229868"/>
            <a:ext cx="53949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3200400" y="1229868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</a:t>
            </a:r>
            <a:endParaRPr lang="en-US" sz="2400" dirty="0"/>
          </a:p>
        </p:txBody>
      </p:sp>
      <p:sp>
        <p:nvSpPr>
          <p:cNvPr id="42" name="Text 40"/>
          <p:cNvSpPr txBox="1"/>
          <p:nvPr/>
        </p:nvSpPr>
        <p:spPr>
          <a:xfrm>
            <a:off x="3703320" y="1229868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펼쳐 보는 목록은 기존 API 를 다시 쓴다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명단은 근무 조회가 이미 돌려주는 값. 또 만들면 같은 데이터가 두 곳에 정의된다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3200400" y="2093976"/>
            <a:ext cx="53949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3200400" y="2093976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</a:t>
            </a:r>
            <a:endParaRPr lang="en-US" sz="2400" dirty="0"/>
          </a:p>
        </p:txBody>
      </p:sp>
      <p:sp>
        <p:nvSpPr>
          <p:cNvPr id="45" name="Text 43"/>
          <p:cNvSpPr txBox="1"/>
          <p:nvPr/>
        </p:nvSpPr>
        <p:spPr>
          <a:xfrm>
            <a:off x="3703320" y="2093976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열어본 기록은 조회와 따로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조회에 붙이면 수간호사나 액팅이 봐도 '받았다'가 된다. 그러면 확인의 뜻이 깨진다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3200400" y="2958084"/>
            <a:ext cx="53949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3200400" y="2958084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24A3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4</a:t>
            </a:r>
            <a:endParaRPr lang="en-US" sz="2400" dirty="0"/>
          </a:p>
        </p:txBody>
      </p:sp>
      <p:sp>
        <p:nvSpPr>
          <p:cNvPr id="48" name="Text 46"/>
          <p:cNvSpPr txBox="1"/>
          <p:nvPr/>
        </p:nvSpPr>
        <p:spPr>
          <a:xfrm>
            <a:off x="3703320" y="2958084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남은 인계는 시스템이 막지 않는다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넘기는 게 정상인 경우가 있다(그 사이 퇴원 등). 대신 화면이 "남은 N건"을 보여주고 사람이 판단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200400" y="3822192"/>
            <a:ext cx="53949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3200400" y="3822192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24A3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</a:t>
            </a:r>
            <a:endParaRPr lang="en-US" sz="2400" dirty="0"/>
          </a:p>
        </p:txBody>
      </p:sp>
      <p:sp>
        <p:nvSpPr>
          <p:cNvPr id="51" name="Text 49"/>
          <p:cNvSpPr txBox="1"/>
          <p:nvPr/>
        </p:nvSpPr>
        <p:spPr>
          <a:xfrm>
            <a:off x="3703320" y="3822192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다른 병동은 403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404 로 숨기는 게 더 방어적이지만, 권한 경계를 분명히 드러내는 쪽을 골랐다</a:t>
            </a:r>
            <a:endParaRPr lang="en-US" sz="1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36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  고민한 것, 못 한 것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2331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못 한 것</a:t>
            </a:r>
            <a:endParaRPr lang="en-US" sz="2200" dirty="0"/>
          </a:p>
        </p:txBody>
      </p:sp>
      <p:sp>
        <p:nvSpPr>
          <p:cNvPr id="38" name="Text 36"/>
          <p:cNvSpPr txBox="1"/>
          <p:nvPr/>
        </p:nvSpPr>
        <p:spPr>
          <a:xfrm>
            <a:off x="3200400" y="365760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</a:t>
            </a:r>
            <a:endParaRPr lang="en-US" sz="2400" dirty="0"/>
          </a:p>
        </p:txBody>
      </p:sp>
      <p:sp>
        <p:nvSpPr>
          <p:cNvPr id="39" name="Text 37"/>
          <p:cNvSpPr txBox="1"/>
          <p:nvPr/>
        </p:nvSpPr>
        <p:spPr>
          <a:xfrm>
            <a:off x="3703320" y="365760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병원 전산(EMR)과 연결이 없다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공식 의무기록은 병원 전산이 맡고, 이 설계는 인계 메모만. 카덱스를 대체하는지는 "통합적으로 작용한다면"이 조건인 긍정 [C]. 통합이 안 되면 병행이고 두 번 입력하게 된다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200400" y="1229868"/>
            <a:ext cx="53949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3200400" y="1229868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</a:t>
            </a:r>
            <a:endParaRPr lang="en-US" sz="2400" dirty="0"/>
          </a:p>
        </p:txBody>
      </p:sp>
      <p:sp>
        <p:nvSpPr>
          <p:cNvPr id="42" name="Text 40"/>
          <p:cNvSpPr txBox="1"/>
          <p:nvPr/>
        </p:nvSpPr>
        <p:spPr>
          <a:xfrm>
            <a:off x="3703320" y="1229868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요약을 성의 있게 썼는지는 못 본다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칸이 비었는지만 검사. 한 글자만 적어도 '확인됨'이 된다. 남기는 건 "누가 언제 자기 말로 적었는가"까지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3200400" y="2093976"/>
            <a:ext cx="53949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3200400" y="2093976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</a:t>
            </a:r>
            <a:endParaRPr lang="en-US" sz="2400" dirty="0"/>
          </a:p>
        </p:txBody>
      </p:sp>
      <p:sp>
        <p:nvSpPr>
          <p:cNvPr id="45" name="Text 43"/>
          <p:cNvSpPr txBox="1"/>
          <p:nvPr/>
        </p:nvSpPr>
        <p:spPr>
          <a:xfrm>
            <a:off x="3703320" y="2093976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차지가 인계를 안 써도 못 막는다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액팅이 "이건 적어 주세요"라고 한 걸 반영했는지 이력으로 남기는 건 범위 밖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3200400" y="2958084"/>
            <a:ext cx="53949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3200400" y="2958084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B333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4</a:t>
            </a:r>
            <a:endParaRPr lang="en-US" sz="2400" dirty="0"/>
          </a:p>
        </p:txBody>
      </p:sp>
      <p:sp>
        <p:nvSpPr>
          <p:cNvPr id="48" name="Text 46"/>
          <p:cNvSpPr txBox="1"/>
          <p:nvPr/>
        </p:nvSpPr>
        <p:spPr>
          <a:xfrm>
            <a:off x="3703320" y="2958084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확인해 준 분이 한 명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간호사 화면은 한 분께 확인받았고, 수간호사 화면은 아직 가설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200400" y="3822192"/>
            <a:ext cx="53949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3200400" y="3822192"/>
            <a:ext cx="45720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8C919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</a:t>
            </a:r>
            <a:endParaRPr lang="en-US" sz="2400" dirty="0"/>
          </a:p>
        </p:txBody>
      </p:sp>
      <p:sp>
        <p:nvSpPr>
          <p:cNvPr id="51" name="Text 49"/>
          <p:cNvSpPr txBox="1"/>
          <p:nvPr/>
        </p:nvSpPr>
        <p:spPr>
          <a:xfrm>
            <a:off x="3703320" y="3822192"/>
            <a:ext cx="4892040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앞으로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질문과 답변(참여자가 가장 먼저 요청한 것), 접근 기록, 팀원 명단, 역할 교환 이력. 누가 뭘 열어봤는지 남기는 기록이 없고, 같은 근무 팀원이 "오늘 우리 팀 차지가 누구인지" 보는 화면도 없다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37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  고민한 것, 못 한 것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써 본 사람의 말</a:t>
            </a:r>
            <a:endParaRPr lang="en-US" sz="25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말한 그대로 옮겼다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 rot="-90000">
            <a:off x="548640" y="1207008"/>
            <a:ext cx="4754880" cy="2743200"/>
          </a:xfrm>
          <a:prstGeom prst="rect">
            <a:avLst/>
          </a:prstGeom>
          <a:solidFill>
            <a:srgbClr val="FFF3B3"/>
          </a:solidFill>
          <a:ln/>
        </p:spPr>
      </p:sp>
      <p:sp>
        <p:nvSpPr>
          <p:cNvPr id="40" name="Text 38"/>
          <p:cNvSpPr txBox="1"/>
          <p:nvPr/>
        </p:nvSpPr>
        <p:spPr>
          <a:xfrm rot="-90000">
            <a:off x="777240" y="1344168"/>
            <a:ext cx="42976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50" dirty="0">
                <a:solidFill>
                  <a:srgbClr val="2B333C"/>
                </a:solidFill>
                <a:latin typeface="Nanum Pen" pitchFamily="34" charset="0"/>
                <a:ea typeface="Nanum Pen" pitchFamily="34" charset="-122"/>
                <a:cs typeface="Nanum Pen" pitchFamily="34" charset="-120"/>
              </a:rPr>
              <a:t>UI는 불편함 없이 오히려 한눈에 인계를 확인할 수 있어서 좋았다. 다만 꼭 있으면 좋겠는 기능이 있다. 인계 해준 사람한테 질문을 할 수 있는 기능을 추가해달라. 수간호사한테 결원 배정을 쉽게 할 수 있는 기능도 너무 도움이 될 것 같아. 옆에서 지켜봤을 때, 근무표 만드는 것도 힘들어 보이긴 했지만 그것보다 심사과에서 심사하러 올 때 잘보여야 되는데 처방 누락건이 종종 있어서 이거에 대하여 누락건 잡아내는 시스템이 있으면 너무 좋겠다.</a:t>
            </a:r>
            <a:endParaRPr lang="en-US" sz="1850" dirty="0"/>
          </a:p>
        </p:txBody>
      </p:sp>
      <p:sp>
        <p:nvSpPr>
          <p:cNvPr id="41" name="Text 39"/>
          <p:cNvSpPr txBox="1"/>
          <p:nvPr/>
        </p:nvSpPr>
        <p:spPr>
          <a:xfrm>
            <a:off x="5669280" y="120700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인계 기록에 대해 더 들은 것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5669280" y="1554480"/>
            <a:ext cx="292608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669280" y="1591056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실제로 인계 기록은 같은 병동이면 열람 자체는 권한이 필요 없다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669280" y="2011680"/>
            <a:ext cx="292608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669280" y="2048256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다만 당연히 차지가 써야 하고, 액팅은 암묵적으로 건드리지 않는다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5669280" y="2468880"/>
            <a:ext cx="292608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669280" y="2505456"/>
            <a:ext cx="2926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번 차지가 카덱스에서 "이거는 굳이 필요 없겠는데" 싶어 혼자 임의로 지운 기록이 나중에 알고 보니 진짜 중요한 기록이어서 문제가 된 적이 있었다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5669280" y="3218688"/>
            <a:ext cx="292608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5669280" y="3255264"/>
            <a:ext cx="292608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그래서 인계 기록은 수간호사도 수정 없이, 오직 본인이 작성한 인계 기록만 수정 권한이 있으면 좋겠다. 시점상 인계를 넘기기 직전까지만 수정 가능하고, 넘기고 확인 후에는 본인도 수정·삭제 불가능한 게 올바르다고 동의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[C] 현직 간호사 1명 · 데모를 써 본 뒤 대면으로 · 편의표본 · 말한 그대로, 해석은 뒤 두 장에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38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  고민한 것, 못 한 것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요청 목록, 정리한 그대로</a:t>
            </a:r>
            <a:endParaRPr lang="en-US" sz="25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시연 끝나고 옆에서 받아 적은 것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548640" y="122529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수간호사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548640" y="1554480"/>
            <a:ext cx="146304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48640" y="1581912"/>
            <a:ext cx="1463040" cy="273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심사과 -&gt; 처방 누락건 잡아내는 시스템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48640" y="1874012"/>
            <a:ext cx="146304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8640" y="1901444"/>
            <a:ext cx="1463040" cy="273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근무표 자동 생성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2286000" y="122529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간호사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2286000" y="1554480"/>
            <a:ext cx="35661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2286000" y="1581912"/>
            <a:ext cx="3566160" cy="273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인계해준 간호사에게 질문 -&gt; 앱으로 알림이 오고 답변까지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286000" y="1874012"/>
            <a:ext cx="35661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2286000" y="1901444"/>
            <a:ext cx="3566160" cy="273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인계 내용 작성 권한을 작성한 본인만 수정 가능(실제로 간호기록도 이렇게 진행) -&gt; 수간호사도 예외 없음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2286000" y="2193544"/>
            <a:ext cx="35661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286000" y="2220976"/>
            <a:ext cx="3566160" cy="273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EMR -&gt; 카덱스에 또 적는건 중복 작성이지만 당연히 해야되는 것으로 인식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2286000" y="2513076"/>
            <a:ext cx="35661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2286000" y="2540508"/>
            <a:ext cx="3566160" cy="273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받아오면 환자가 (60일치를 받아오면) 소진 날짜 계산 기능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2286000" y="2832608"/>
            <a:ext cx="35661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2286000" y="2860040"/>
            <a:ext cx="3566160" cy="273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안약 연고를 받아오면 유효기간 날짜 계산 기능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2286000" y="3152140"/>
            <a:ext cx="35661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2286000" y="3179572"/>
            <a:ext cx="3566160" cy="273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처치해야 할 일(주사 등) 시스템에 등록하면 알람 기능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2286000" y="3471672"/>
            <a:ext cx="35661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2286000" y="3499104"/>
            <a:ext cx="3566160" cy="273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환자가 호출벨을 3회 이상 누르면 응급 상황이라고 알람 뜨는 기능(연동이 필요한데 알아봐야할듯)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2286000" y="3791204"/>
            <a:ext cx="35661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2286000" y="3818636"/>
            <a:ext cx="3566160" cy="273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모든 환자들의 혈압 체온 등을 관제하는 시스템(디바이스가 필요할듯)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2286000" y="4110736"/>
            <a:ext cx="35661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2286000" y="4138168"/>
            <a:ext cx="3566160" cy="273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주치의한테 보고할때 SBAR를 양식으로 만들어서 템플릿화</a:t>
            </a:r>
            <a:endParaRPr lang="en-US" sz="900" dirty="0"/>
          </a:p>
        </p:txBody>
      </p:sp>
      <p:sp>
        <p:nvSpPr>
          <p:cNvPr id="63" name="Text 61"/>
          <p:cNvSpPr txBox="1"/>
          <p:nvPr/>
        </p:nvSpPr>
        <p:spPr>
          <a:xfrm>
            <a:off x="6126480" y="1225296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원무과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6126480" y="1554480"/>
            <a:ext cx="246888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6126480" y="1581912"/>
            <a:ext cx="246888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입원올때 ADL을 주보호자가 작성할 수 있는 시스템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126480" y="2066544"/>
            <a:ext cx="246888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6126480" y="2093976"/>
            <a:ext cx="246888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AI를 활용해서 신환 정보를 리포트 형식으로 자동 작성해주는 시스템 -&gt; 간호병동에서 열람 가능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6126480" y="2578608"/>
            <a:ext cx="246888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6126480" y="2606040"/>
            <a:ext cx="246888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퇴원 환자의 설문조사 -&gt; 불만, 칭찬 적고 병원 시스템 개선에 기여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6126480" y="3090672"/>
            <a:ext cx="246888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6126480" y="3118104"/>
            <a:ext cx="246888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입원 환자 식이 신청 자동연동 시스템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14건 중 이번 범위에 넣은 것은 없다. 다음 장에서 우리 데이터 기준으로 나눈다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39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  고민한 것, 못 한 것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그 다음에 할 수 있는 것</a:t>
            </a:r>
            <a:endParaRPr lang="en-US" sz="25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요청 14건을 우리 데이터 기준으로 나누면</a:t>
            </a:r>
            <a:endParaRPr lang="en-US" sz="12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80467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023360"/>
                <a:gridCol w="219456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묶음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요청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333C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왜 이 묶음인가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2B333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2351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C24A31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지금 데이터에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C24A31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바로 붙는다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질문과 답변 (인계 1건에 스레드로)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의사 보고 양식 SBAR (인계 항목과 같은 구조, 양식 한 벌 더)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테이블 한두 개 추가로 끝난다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2351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병원 전산(EMR)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연동이 먼저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처방 누락 잡기 · 처치(주사 등) 알람 · 약 소진일과 연고 유효기간 계산 · 식이 신청 연동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처방과 투약 데이터가 우리에게 없다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2351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333C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장비 연동이 먼저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호출벨 3회 이상이면 응급 알림 · 활력징후 관제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디바이스가 있어야 한다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2351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C9199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다른 문제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근무표 자동 생성(처음부터 범위 밖) · 원무과 ADL 입력 · AI 신환 리포트 · 퇴원 설문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A60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우리가 푼 문제(인계와 결원)와 다른 문제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4E2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0" name="Shape 37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바로 붙는 건 2건, 나머지는 연동이 먼저. 작성자만 수정·넘긴 뒤 불변·지우지 않음은 우리 403·409·DELETE 없음과 같았다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40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  고민한 것, 못 한 것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" y="64008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152" y="111556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" y="159105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" y="2066544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3152" y="2542032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3152" y="3017520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solidFill>
            <a:srgbClr val="ECEAE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3152" y="3493008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9199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52" y="3968496"/>
            <a:ext cx="182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어떻게 확인했나</a:t>
            </a:r>
            <a:endParaRPr lang="en-US" sz="2500" dirty="0"/>
          </a:p>
        </p:txBody>
      </p:sp>
      <p:sp>
        <p:nvSpPr>
          <p:cNvPr id="38" name="Shape 36"/>
          <p:cNvSpPr/>
          <p:nvPr/>
        </p:nvSpPr>
        <p:spPr>
          <a:xfrm>
            <a:off x="548640" y="1042416"/>
            <a:ext cx="24993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8640" y="1097280"/>
            <a:ext cx="249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C24A3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1명</a:t>
            </a:r>
            <a:endParaRPr lang="en-US" sz="3400" dirty="0"/>
          </a:p>
        </p:txBody>
      </p:sp>
      <p:sp>
        <p:nvSpPr>
          <p:cNvPr id="40" name="Text 38"/>
          <p:cNvSpPr txBox="1"/>
          <p:nvPr/>
        </p:nvSpPr>
        <p:spPr>
          <a:xfrm>
            <a:off x="548640" y="1627632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인터뷰 1회 + 대면 세션 1회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548640" y="1883664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국내 종합병원 병동 한 곳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데모를 직접 써 보게 했다 [C]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322320" y="1042416"/>
            <a:ext cx="24993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3322320" y="1097280"/>
            <a:ext cx="249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C24A3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31</a:t>
            </a:r>
            <a:endParaRPr lang="en-US" sz="3400" dirty="0"/>
          </a:p>
        </p:txBody>
      </p:sp>
      <p:sp>
        <p:nvSpPr>
          <p:cNvPr id="44" name="Text 42"/>
          <p:cNvSpPr txBox="1"/>
          <p:nvPr/>
        </p:nvSpPr>
        <p:spPr>
          <a:xfrm>
            <a:off x="3322320" y="1627632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리뷰 라운드</a:t>
            </a:r>
            <a:endParaRPr lang="en-US" sz="1150" dirty="0"/>
          </a:p>
        </p:txBody>
      </p:sp>
      <p:sp>
        <p:nvSpPr>
          <p:cNvPr id="45" name="Text 43"/>
          <p:cNvSpPr txBox="1"/>
          <p:nvPr/>
        </p:nvSpPr>
        <p:spPr>
          <a:xfrm>
            <a:off x="3322320" y="1883664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외부 AI 리뷰와 자체 점검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사실이 아닌 걸로 밝혀진 가정 네 개를 기록으로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6096000" y="1042416"/>
            <a:ext cx="249936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096000" y="1097280"/>
            <a:ext cx="249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C24A3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50/50</a:t>
            </a:r>
            <a:endParaRPr lang="en-US" sz="3400" dirty="0"/>
          </a:p>
        </p:txBody>
      </p:sp>
      <p:sp>
        <p:nvSpPr>
          <p:cNvPr id="48" name="Text 46"/>
          <p:cNvSpPr txBox="1"/>
          <p:nvPr/>
        </p:nvSpPr>
        <p:spPr>
          <a:xfrm>
            <a:off x="6096000" y="1627632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실제로 돌려봄</a:t>
            </a:r>
            <a:endParaRPr lang="en-US" sz="1150" dirty="0"/>
          </a:p>
        </p:txBody>
      </p:sp>
      <p:sp>
        <p:nvSpPr>
          <p:cNvPr id="49" name="Text 47"/>
          <p:cNvSpPr txBox="1"/>
          <p:nvPr/>
        </p:nvSpPr>
        <p:spPr>
          <a:xfrm>
            <a:off x="6096000" y="1883664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가상 데이터 데모로 규칙을 전부 실행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화면이 받는 값과 명세가 어긋나는 곳 0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548640" y="2697480"/>
            <a:ext cx="45720" cy="1188720"/>
          </a:xfrm>
          <a:prstGeom prst="rect">
            <a:avLst/>
          </a:prstGeom>
          <a:solidFill>
            <a:srgbClr val="C24A31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768096" y="26974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333C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국내 종합병원 병동 한 곳의 운영 방식을 기준으로 설계했습니다. 현직 간호사 한 분께 확인했고, 병동마다 운영이 다르다는 것도 같은 분께 들었습니다.</a:t>
            </a:r>
            <a:endParaRPr lang="en-US" sz="1150" dirty="0"/>
          </a:p>
        </p:txBody>
      </p:sp>
      <p:sp>
        <p:nvSpPr>
          <p:cNvPr id="52" name="Text 50"/>
          <p:cNvSpPr txBox="1"/>
          <p:nvPr/>
        </p:nvSpPr>
        <p:spPr>
          <a:xfrm>
            <a:off x="768096" y="3282696"/>
            <a:ext cx="7772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A60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공식 의무기록은 병원 전산이 맡습니다. 인계 메모는 그와 따로 관리됩니다. 이 서비스는 그 인계 메모를 맡아서, 누가 썼고 누가 받아 확인했고 무엇이 바뀌었는지를 남깁니다.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4E2DB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1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근무표가 끝나는 지점에서 시작한다. 누가 인계를 맡았고, 누가 받아 확인했는지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9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51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08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737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65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94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423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3108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337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5661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947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0233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2519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480560"/>
            <a:ext cx="8046720" cy="0"/>
          </a:xfrm>
          <a:prstGeom prst="line">
            <a:avLst/>
          </a:prstGeom>
          <a:noFill/>
          <a:ln w="6350">
            <a:solidFill>
              <a:srgbClr val="EFEDE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1737360"/>
            <a:ext cx="640080" cy="640080"/>
          </a:xfrm>
          <a:prstGeom prst="ellipse">
            <a:avLst/>
          </a:prstGeom>
          <a:ln w="31750">
            <a:solidFill>
              <a:srgbClr val="2B333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17474" y="1737360"/>
            <a:ext cx="640080" cy="640080"/>
          </a:xfrm>
          <a:prstGeom prst="ellipse">
            <a:avLst/>
          </a:prstGeom>
          <a:ln w="31750">
            <a:solidFill>
              <a:srgbClr val="C24A3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256032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spc="-100" kern="0" dirty="0">
                <a:solidFill>
                  <a:srgbClr val="2B333C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감사합니다</a:t>
            </a:r>
            <a:endParaRPr lang="en-US" sz="34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33832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069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근무표가 끝나는 지점에서 시작한다.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SKALA 10반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너와 나의 인계고리 — 프로젝트 기술서</dc:title>
  <dc:subject>PptxGenJS Presentation</dc:subject>
  <dc:creator>황재원</dc:creator>
  <cp:lastModifiedBy>황재원</cp:lastModifiedBy>
  <cp:revision>1</cp:revision>
  <dcterms:created xsi:type="dcterms:W3CDTF">2026-09-17T00:57:22Z</dcterms:created>
  <dcterms:modified xsi:type="dcterms:W3CDTF">2026-09-17T00:57:22Z</dcterms:modified>
</cp:coreProperties>
</file>